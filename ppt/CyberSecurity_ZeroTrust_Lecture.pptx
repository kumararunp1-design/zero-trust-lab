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Title Slide</a:t>
            </a:r>
          </a:p>
          <a:p/>
          <a:p>
            <a:r>
              <a:t>Welcome &amp; Introduction (2 minutes):</a:t>
            </a:r>
          </a:p>
          <a:p>
            <a:r>
              <a:t>- Welcome faculty members to the Industry Connect session on Cybersecurity &amp; Zero Trust Architecture.</a:t>
            </a:r>
          </a:p>
          <a:p>
            <a:r>
              <a:t>- This session bridges academia and industry by covering cutting-edge security paradigms used in Fortune 500 companies today.</a:t>
            </a:r>
          </a:p>
          <a:p>
            <a:r>
              <a:t>- Mention: "In 2024-2025, we've seen a fundamental shift in how enterprises approach security. Traditional perimeter-based security is dead. Zero Trust is now mandated by executive orders and adopted by 76% of organizations globally (Gartner 2025)."</a:t>
            </a:r>
          </a:p>
          <a:p/>
          <a:p>
            <a:r>
              <a:t>Industry Context:</a:t>
            </a:r>
          </a:p>
          <a:p>
            <a:r>
              <a:t>- NIST SP 800-207 (Zero Trust Architecture) is now the baseline for US federal agencies</a:t>
            </a:r>
          </a:p>
          <a:p>
            <a:r>
              <a:t>- Google's BeyondCorp, Microsoft's Zero Trust framework, and Zscaler's cloud-native approach are production-proven</a:t>
            </a:r>
          </a:p>
          <a:p>
            <a:r>
              <a:t>- Average cost of a data breach in 2025: $4.88M (IBM Cost of a Data Breach Report)</a:t>
            </a:r>
          </a:p>
          <a:p>
            <a:r>
              <a:t>- 83% of organizations experienced more than one breach in the past year</a:t>
            </a:r>
          </a:p>
          <a:p/>
          <a:p>
            <a:r>
              <a:t>Session Structure:</a:t>
            </a:r>
          </a:p>
          <a:p>
            <a:r>
              <a:t>- 1 hour lecture covering theory, architecture, and real-world case studies</a:t>
            </a:r>
          </a:p>
          <a:p>
            <a:r>
              <a:t>- 2 hour hands-on lab where you'll build a Zero Trust environment from scratch</a:t>
            </a:r>
          </a:p>
          <a:p>
            <a:r>
              <a:t>- We'll cover the very latest: post-quantum cryptography (NIST PQC standards finalized 2024), AI-driven SOC operations, and modern micro-segmentation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Agenda Slide</a:t>
            </a:r>
          </a:p>
          <a:p/>
          <a:p>
            <a:r>
              <a:t>Agenda Walkthrough (2 minutes):</a:t>
            </a:r>
          </a:p>
          <a:p>
            <a:r>
              <a:t>- Walk through both columns. Emphasize that the lecture provides the theoretical foundation, and the lab gives hands-on experience.</a:t>
            </a:r>
          </a:p>
          <a:p/>
          <a:p>
            <a:r>
              <a:t>Lecture Highlights:</a:t>
            </a:r>
          </a:p>
          <a:p>
            <a:r>
              <a:t>- We start with WHY Zero Trust matters - real breach case studies (SolarWinds, Colonial Pipeline, MOVEit)</a:t>
            </a:r>
          </a:p>
          <a:p>
            <a:r>
              <a:t>- Deep dive into NIST 800-207 architecture components</a:t>
            </a:r>
          </a:p>
          <a:p>
            <a:r>
              <a:t>- Modern IAM goes beyond passwords - we'll cover FIDO2/WebAuthn, passwordless auth, and decentralized identity</a:t>
            </a:r>
          </a:p>
          <a:p>
            <a:r>
              <a:t>- Micro-segmentation is how Netflix, Google, and financial institutions isolate their workloads</a:t>
            </a:r>
          </a:p>
          <a:p>
            <a:r>
              <a:t>- SOC operations covers how modern Security Operations Centers use AI/ML for threat detection</a:t>
            </a:r>
          </a:p>
          <a:p>
            <a:r>
              <a:t>- Post-quantum crypto is the NEWEST topic - NIST finalized ML-KEM (Kyber) and ML-DSA (Dilithium) standards in 2024</a:t>
            </a:r>
          </a:p>
          <a:p>
            <a:r>
              <a:t>- Red/Blue team shows how enterprises test their defenses</a:t>
            </a:r>
          </a:p>
          <a:p/>
          <a:p>
            <a:r>
              <a:t>Lab Highlights:</a:t>
            </a:r>
          </a:p>
          <a:p>
            <a:r>
              <a:t>- Fully containerized environment - works on any laptop with Docker</a:t>
            </a:r>
          </a:p>
          <a:p>
            <a:r>
              <a:t>- Build a real Zero Trust stack: Identity Provider + Policy Engine + Micro-segmentation + SIEM</a:t>
            </a:r>
          </a:p>
          <a:p>
            <a:r>
              <a:t>- The red/blue team exercise is the capstone - attack and defend a simulated environment</a:t>
            </a:r>
          </a:p>
          <a:p/>
          <a:p>
            <a:r>
              <a:t>Industry Relevance:</a:t>
            </a:r>
          </a:p>
          <a:p>
            <a:r>
              <a:t>- These exact tools (OPA, Keycloak, Wazuh, Cilium) are used in production by major enterprises</a:t>
            </a:r>
          </a:p>
          <a:p>
            <a:r>
              <a:t>- Skills gained here directly map to industry certifications (CISSP, CompTIA Security+, 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Why Zero Trust?</a:t>
            </a:r>
          </a:p>
          <a:p/>
          <a:p>
            <a:r>
              <a:t>Key Teaching Points (10 minutes total for this section):</a:t>
            </a:r>
          </a:p>
          <a:p/>
          <a:p>
            <a:r>
              <a:t>1. The Perimeter Is Gone:</a:t>
            </a:r>
          </a:p>
          <a:p>
            <a:r>
              <a:t>- "In 2024-2025, the average enterprise has 75% of workloads in the cloud, employees working from 3+ locations, and 10,000+ SaaS applications. There IS no perimeter anymore."</a:t>
            </a:r>
          </a:p>
          <a:p>
            <a:r>
              <a:t>- Remote work permanently dissolved the corporate perimeter</a:t>
            </a:r>
          </a:p>
          <a:p>
            <a:r>
              <a:t>- Cloud-native applications span multiple providers and regions</a:t>
            </a:r>
          </a:p>
          <a:p/>
          <a:p>
            <a:r>
              <a:t>2. Real-World Breach Examples:</a:t>
            </a:r>
          </a:p>
          <a:p>
            <a:r>
              <a:t>- SolarWinds (2020): Attackers bypassed perimeter, moved laterally for 9 months undetected across 18,000+ organizations. Cost: $100M+ for SolarWinds alone</a:t>
            </a:r>
          </a:p>
          <a:p>
            <a:r>
              <a:t>- Colonial Pipeline (2021): Single compromised VPN credential led to $4.4M ransom, fuel shortages across US East Coast</a:t>
            </a:r>
          </a:p>
          <a:p>
            <a:r>
              <a:t>- MOVEit (2023): Zero-day in file transfer software compromised 2,500+ organizations, 64M+ individuals affected</a:t>
            </a:r>
          </a:p>
          <a:p>
            <a:r>
              <a:t>- Microsoft Exchange/Outlook (2023-2024): Chinese state actors (Storm-0558) forged authentication tokens, accessed US government emails</a:t>
            </a:r>
          </a:p>
          <a:p>
            <a:r>
              <a:t>- Change Healthcare (2024): Lack of MFA on Citrix remote access portal led to $22B healthcare processor being compromised, affecting 100M Americans</a:t>
            </a:r>
          </a:p>
          <a:p/>
          <a:p>
            <a:r>
              <a:t>3. Industry Statistics to Cite:</a:t>
            </a:r>
          </a:p>
          <a:p>
            <a:r>
              <a:t>- IBM 2025: Average breach cost $4.88M, 277 days average detection time</a:t>
            </a:r>
          </a:p>
          <a:p>
            <a:r>
              <a:t>- Gartner: 76% of organizations adopting Zero Trust by 2025 (up from 10% in 2020)</a:t>
            </a:r>
          </a:p>
          <a:p>
            <a:r>
              <a:t>- Forrester (who coined Zero Trust in 2010): "Zero Trust is no longer optional - it's the baseline"</a:t>
            </a:r>
          </a:p>
          <a:p>
            <a:r>
              <a:t>- US Executive Order 14028 mandates Zero Trust for all federal agencies by 2024-2025</a:t>
            </a:r>
          </a:p>
          <a:p/>
          <a:p>
            <a:r>
              <a:t>4. Teaching Tip: Ask faculty "How many of you use VPN to access your college resources? That VPN is a single point of failure - if one credential is compromised, an attacker has the same access as a legitimate user."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Breach Timeline</a:t>
            </a:r>
          </a:p>
          <a:p/>
          <a:p>
            <a:r>
              <a:t>Detailed Breach Analysis (5 minutes):</a:t>
            </a:r>
          </a:p>
          <a:p/>
          <a:p>
            <a:r>
              <a:t>SolarWinds (2020) - Supply Chain Attack:</a:t>
            </a:r>
          </a:p>
          <a:p>
            <a:r>
              <a:t>- Russian state actors (SVR) compromised the SolarWinds Orion build system</a:t>
            </a:r>
          </a:p>
          <a:p>
            <a:r>
              <a:t>- Malicious code injected into legitimate software updates (SUNBURST backdoor)</a:t>
            </a:r>
          </a:p>
          <a:p>
            <a:r>
              <a:t>- 18,000+ organizations downloaded the trojanized update, including US Treasury, Commerce, Homeland Security</a:t>
            </a:r>
          </a:p>
          <a:p>
            <a:r>
              <a:t>- Attackers had 9 months of undetected access</a:t>
            </a:r>
          </a:p>
          <a:p>
            <a:r>
              <a:t>- Zero Trust lesson: Even trusted software must be verified. Code signing, SBOM (Software Bill of Materials), and runtime verification are essential.</a:t>
            </a:r>
          </a:p>
          <a:p/>
          <a:p>
            <a:r>
              <a:t>Colonial Pipeline (2021) - Credential Compromise:</a:t>
            </a:r>
          </a:p>
          <a:p>
            <a:r>
              <a:t>- A single compromised VPN password (found on dark web) gave attackers network access</a:t>
            </a:r>
          </a:p>
          <a:p>
            <a:r>
              <a:t>- No MFA on VPN, flat internal network allowed lateral movement to OT systems</a:t>
            </a:r>
          </a:p>
          <a:p>
            <a:r>
              <a:t>- DarkSide ransomware deployed, $4.4M ransom paid, 5-day fuel supply disruption</a:t>
            </a:r>
          </a:p>
          <a:p>
            <a:r>
              <a:t>- Zero Trust lesson: Identity verification + network segmentation would have prevented lateral movement</a:t>
            </a:r>
          </a:p>
          <a:p/>
          <a:p>
            <a:r>
              <a:t>MOVEit (2023) - Zero-Day Exploitation:</a:t>
            </a:r>
          </a:p>
          <a:p>
            <a:r>
              <a:t>- Cl0p ransomware group exploited SQL injection in Progress Software's MOVEit Transfer</a:t>
            </a:r>
          </a:p>
          <a:p>
            <a:r>
              <a:t>- Automated mass exploitation - 2,500+ organizations compromised in days</a:t>
            </a:r>
          </a:p>
          <a:p>
            <a:r>
              <a:t>- BBC, Shell, US Department of Energy, Johns Hopkins among victims</a:t>
            </a:r>
          </a:p>
          <a:p>
            <a:r>
              <a:t>- Zero Trust lesson: Continuous monitoring + least privilege data access would limit blast radius</a:t>
            </a:r>
          </a:p>
          <a:p/>
          <a:p>
            <a:r>
              <a:t>Change Healthcare (2024) - Missing MFA:</a:t>
            </a:r>
          </a:p>
          <a:p>
            <a:r>
              <a:t>- ALPHV/BlackCat ransomware accessed via Citrix portal WITHOUT multi-factor authentication</a:t>
            </a:r>
          </a:p>
          <a:p>
            <a:r>
              <a:t>- UnitedHealth Group paid $22M ransom, 100M Americans' health data exposed</a:t>
            </a:r>
          </a:p>
          <a:p>
            <a:r>
              <a:t>- US healthcare system disrupted for weeks - pharmacies couldn't process prescriptions</a:t>
            </a:r>
          </a:p>
          <a:p>
            <a:r>
              <a:t>- Zero Trust lesson: MFA is table stakes. Conditional access policies should enforce MFA everywhere.</a:t>
            </a:r>
          </a:p>
          <a:p/>
          <a:p>
            <a:r>
              <a:t>Teaching Tip: Ask "Which of these breaches could have been prevented or significantly limited by Zero Trust principles?" (Answer: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Zero Trust Core Principles</a:t>
            </a:r>
          </a:p>
          <a:p/>
          <a:p>
            <a:r>
              <a:t>Detailed Principle Explanation (7 minutes):</a:t>
            </a:r>
          </a:p>
          <a:p/>
          <a:p>
            <a:r>
              <a:t>Principle 1 - Never Trust, Always Verify:</a:t>
            </a:r>
          </a:p>
          <a:p>
            <a:r>
              <a:t>- "In traditional security, if you're inside the corporate network, you're trusted. In Zero Trust, NOBODY is trusted by default."</a:t>
            </a:r>
          </a:p>
          <a:p>
            <a:r>
              <a:t>- Every request must present: Valid identity (who), Device health (what), Context (where, when, how)</a:t>
            </a:r>
          </a:p>
          <a:p>
            <a:r>
              <a:t>- Industry Example: Google's BeyondCorp - every Google employee accesses internal apps the same way whether they're in the office or at a coffee shop. No VPN needed, but every request is verified.</a:t>
            </a:r>
          </a:p>
          <a:p>
            <a:r>
              <a:t>- Microsoft 365: Every API call validates OAuth2 tokens with continuous access evaluation (CAE)</a:t>
            </a:r>
          </a:p>
          <a:p/>
          <a:p>
            <a:r>
              <a:t>Principle 2 - Least Privilege Access:</a:t>
            </a:r>
          </a:p>
          <a:p>
            <a:r>
              <a:t>- "A database administrator doesn't need access to the HR system. A developer doesn't need production database write access."</a:t>
            </a:r>
          </a:p>
          <a:p>
            <a:r>
              <a:t>- Just-In-Time (JIT) access: Permissions granted only when needed, automatically revoked after</a:t>
            </a:r>
          </a:p>
          <a:p>
            <a:r>
              <a:t>- Just-Enough-Access (JEA): Minimum permissions for the specific task</a:t>
            </a:r>
          </a:p>
          <a:p>
            <a:r>
              <a:t>- Industry Example: AWS IAM policies, Azure PIM (Privileged Identity Management), HashiCorp Vault for secrets management</a:t>
            </a:r>
          </a:p>
          <a:p>
            <a:r>
              <a:t>- CyberArk's PAM (Privileged Access Management) - used by 60% of Fortune 500</a:t>
            </a:r>
          </a:p>
          <a:p/>
          <a:p>
            <a:r>
              <a:t>Principle 3 - Assume Breach:</a:t>
            </a:r>
          </a:p>
          <a:p>
            <a:r>
              <a:t>- "Design your systems as if the attacker is already inside your network."</a:t>
            </a:r>
          </a:p>
          <a:p>
            <a:r>
              <a:t>- This principle drives: micro-segmentation, encryption everywhere, minimal blast radius, comprehensive logging</a:t>
            </a:r>
          </a:p>
          <a:p>
            <a:r>
              <a:t>- Industry Example: Netflix's Chaos Monkey philosophy extended to security - assume components will be compromised</a:t>
            </a:r>
          </a:p>
          <a:p>
            <a:r>
              <a:t>- After SolarWinds, Microsoft rewrote their identity infrastructure assuming it was compromised</a:t>
            </a:r>
          </a:p>
          <a:p/>
          <a:p>
            <a:r>
              <a:t>Principle 4 - Continuous Verification:</a:t>
            </a:r>
          </a:p>
          <a:p>
            <a:r>
              <a:t>- Not a one-time check at login - continuous, real-time verification throughout the session</a:t>
            </a:r>
          </a:p>
          <a:p>
            <a:r>
              <a:t>- Risk scoring: Device health + user behavior + network context + data sensitivity = risk score</a:t>
            </a:r>
          </a:p>
          <a:p>
            <a:r>
              <a:t>- If risk increases mid-session, access is restricted or revoked</a:t>
            </a:r>
          </a:p>
          <a:p>
            <a:r>
              <a:t>- Industry Example: Zscaler's continuous monitoring, CrowdStrike's continuous endpoint assessment</a:t>
            </a:r>
          </a:p>
          <a:p/>
          <a:p>
            <a:r>
              <a:t>NIST SP 800-207:</a:t>
            </a:r>
          </a:p>
          <a:p>
            <a:r>
              <a:t>- Published February 2020, updated 2023</a:t>
            </a:r>
          </a:p>
          <a:p>
            <a:r>
              <a:t>- THE authoritative reference for Zero Trust Architecture</a:t>
            </a:r>
          </a:p>
          <a:p>
            <a:r>
              <a:t>- Mandated by US Executive Order 14028 for all federal agencies</a:t>
            </a:r>
          </a:p>
          <a:p>
            <a:r>
              <a:t>- Teaching Tip: Direct faculty to NIST SP 800-207 as required reading for cybersecurity courses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ZTA Component Model</a:t>
            </a:r>
          </a:p>
          <a:p/>
          <a:p>
            <a:r>
              <a:t>Architecture Deep Dive (5 minutes):</a:t>
            </a:r>
          </a:p>
          <a:p/>
          <a:p>
            <a:r>
              <a:t>NIST 800-207 Reference Architecture:</a:t>
            </a:r>
          </a:p>
          <a:p>
            <a:r>
              <a:t>This slide shows the core components defined by NIST. Every Zero Trust implementation follows this pattern.</a:t>
            </a:r>
          </a:p>
          <a:p/>
          <a:p>
            <a:r>
              <a:t>Policy Engine (PE):</a:t>
            </a:r>
          </a:p>
          <a:p>
            <a:r>
              <a:t>- The "brain" of Zero Trust - makes all access decisions</a:t>
            </a:r>
          </a:p>
          <a:p>
            <a:r>
              <a:t>- Inputs: User identity, device health, network context, data sensitivity, threat intelligence</a:t>
            </a:r>
          </a:p>
          <a:p>
            <a:r>
              <a:t>- Outputs: Allow/Deny/Step-up authentication decisions</a:t>
            </a:r>
          </a:p>
          <a:p>
            <a:r>
              <a:t>- Industry Examples: </a:t>
            </a:r>
          </a:p>
          <a:p>
            <a:r>
              <a:t>  - Open Policy Agent (OPA) by CNCF - used by Netflix, Goldman Sachs, and Intuit</a:t>
            </a:r>
          </a:p>
          <a:p>
            <a:r>
              <a:t>  - Azure Conditional Access - Microsoft's policy engine</a:t>
            </a:r>
          </a:p>
          <a:p>
            <a:r>
              <a:t>  - Google's Access Context Manager - evaluates device trust levels</a:t>
            </a:r>
          </a:p>
          <a:p/>
          <a:p>
            <a:r>
              <a:t>Policy Administrator (PA):</a:t>
            </a:r>
          </a:p>
          <a:p>
            <a:r>
              <a:t>- Executes the PE's decisions</a:t>
            </a:r>
          </a:p>
          <a:p>
            <a:r>
              <a:t>- Creates/destroys communication paths (session tokens, network tunnels)</a:t>
            </a:r>
          </a:p>
          <a:p>
            <a:r>
              <a:t>- Industry Examples:</a:t>
            </a:r>
          </a:p>
          <a:p>
            <a:r>
              <a:t>  - Istio service mesh - enforces mTLS and authorization policies</a:t>
            </a:r>
          </a:p>
          <a:p>
            <a:r>
              <a:t>  - Envoy proxy - data plane enforcement</a:t>
            </a:r>
          </a:p>
          <a:p>
            <a:r>
              <a:t>  - AWS IAM - enforces permission policies</a:t>
            </a:r>
          </a:p>
          <a:p/>
          <a:p>
            <a:r>
              <a:t>Data Sources (Left Side):</a:t>
            </a:r>
          </a:p>
          <a:p>
            <a:r>
              <a:t>1. Identity Provider (IdP): Okta, Azure AD, Keycloak (open-source)</a:t>
            </a:r>
          </a:p>
          <a:p>
            <a:r>
              <a:t>   - Issues and validates identity tokens (OIDC/SAML)</a:t>
            </a:r>
          </a:p>
          <a:p>
            <a:r>
              <a:t>2. Device Health (EDR/MDM): CrowdStrike, Microsoft Intune, Jamf</a:t>
            </a:r>
          </a:p>
          <a:p>
            <a:r>
              <a:t>   - Reports device compliance, patch status, encryption status</a:t>
            </a:r>
          </a:p>
          <a:p>
            <a:r>
              <a:t>3. Threat Intelligence: MITRE ATT&amp;CK, AlienVault OTX, recorded future</a:t>
            </a:r>
          </a:p>
          <a:p>
            <a:r>
              <a:t>   - Real-time threat indicators (IOCs, TTPs)</a:t>
            </a:r>
          </a:p>
          <a:p/>
          <a:p>
            <a:r>
              <a:t>Enterprise Resources (Right Side):</a:t>
            </a:r>
          </a:p>
          <a:p>
            <a:r>
              <a:t>- Applications, databases, cloud services</a:t>
            </a:r>
          </a:p>
          <a:p>
            <a:r>
              <a:t>- Each resource has its own access policy</a:t>
            </a:r>
          </a:p>
          <a:p>
            <a:r>
              <a:t>- No implicit trust between resources (micro-segmentation)</a:t>
            </a:r>
          </a:p>
          <a:p/>
          <a:p>
            <a:r>
              <a:t>Industry Implementation Example - Microsoft's Zero Trust:</a:t>
            </a:r>
          </a:p>
          <a:p>
            <a:r>
              <a:t>"At Microsoft, when an employee tries to access SharePoint:</a:t>
            </a:r>
          </a:p>
          <a:p>
            <a:r>
              <a:t>1. Azure AD (IdP) validates their identity</a:t>
            </a:r>
          </a:p>
          <a:p>
            <a:r>
              <a:t>2. Microsoft Intune checks their device health</a:t>
            </a:r>
          </a:p>
          <a:p>
            <a:r>
              <a:t>3. Conditional Access (PE) evaluates risk: Is the device compliant? Is the user location normal? What's the sensitivity of the data?</a:t>
            </a:r>
          </a:p>
          <a:p>
            <a:r>
              <a:t>4. If approved, a short-lived session token is issued with minimum required permissions</a:t>
            </a:r>
          </a:p>
          <a:p>
            <a:r>
              <a:t>5. Continuous monitoring checks for anomalies throughout the session"</a:t>
            </a:r>
          </a:p>
          <a:p/>
          <a:p>
            <a:r>
              <a:t>Teaching Tip: Draw this on a whiteboard as you explain it. The visual flow helps faculty understand how components interact.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CISA Zero Trust Maturity Model</a:t>
            </a:r>
          </a:p>
          <a:p/>
          <a:p>
            <a:r>
              <a:t>Maturity Model Discussion (5 minutes):</a:t>
            </a:r>
          </a:p>
          <a:p/>
          <a:p>
            <a:r>
              <a:t>CISA Zero Trust Maturity Model (Updated 2023):</a:t>
            </a:r>
          </a:p>
          <a:p>
            <a:r>
              <a:t>- Published by US Cybersecurity and Infrastructure Security Agency</a:t>
            </a:r>
          </a:p>
          <a:p>
            <a:r>
              <a:t>- Provides a roadmap for organizations to progressively adopt Zero Trust</a:t>
            </a:r>
          </a:p>
          <a:p>
            <a:r>
              <a:t>- Most relevant framework for measuring ZT progress</a:t>
            </a:r>
          </a:p>
          <a:p/>
          <a:p>
            <a:r>
              <a:t>Maturity Levels Explained:</a:t>
            </a:r>
          </a:p>
          <a:p>
            <a:r>
              <a:t>1. Traditional: Where most colleges/universities are today</a:t>
            </a:r>
          </a:p>
          <a:p>
            <a:r>
              <a:t>   - Static firewall rules, VPN-based remote access</a:t>
            </a:r>
          </a:p>
          <a:p>
            <a:r>
              <a:t>   - Limited identity verification (username/password)</a:t>
            </a:r>
          </a:p>
          <a:p>
            <a:r>
              <a:t>   - Flat internal networks, minimal segmentation</a:t>
            </a:r>
          </a:p>
          <a:p>
            <a:r>
              <a:t>   </a:t>
            </a:r>
          </a:p>
          <a:p>
            <a:r>
              <a:t>2. Initial: First steps toward Zero Trust</a:t>
            </a:r>
          </a:p>
          <a:p>
            <a:r>
              <a:t>   - MFA implemented for critical systems</a:t>
            </a:r>
          </a:p>
          <a:p>
            <a:r>
              <a:t>   - Basic network segmentation (VLANs)</a:t>
            </a:r>
          </a:p>
          <a:p>
            <a:r>
              <a:t>   - Some identity-aware access policies</a:t>
            </a:r>
          </a:p>
          <a:p>
            <a:r>
              <a:t>   - Industry Example: Many financial institutions are here</a:t>
            </a:r>
          </a:p>
          <a:p/>
          <a:p>
            <a:r>
              <a:t>3. Advanced: Significant ZT adoption</a:t>
            </a:r>
          </a:p>
          <a:p>
            <a:r>
              <a:t>   - Centralized identity management (SSO + MFA everywhere)</a:t>
            </a:r>
          </a:p>
          <a:p>
            <a:r>
              <a:t>   - Automated access policies based on risk</a:t>
            </a:r>
          </a:p>
          <a:p>
            <a:r>
              <a:t>   - Micro-segmentation implemented</a:t>
            </a:r>
          </a:p>
          <a:p>
            <a:r>
              <a:t>   - Industry Example: Major tech companies (Google, Microsoft, Netflix)</a:t>
            </a:r>
          </a:p>
          <a:p/>
          <a:p>
            <a:r>
              <a:t>4. Optimal: Full Zero Trust</a:t>
            </a:r>
          </a:p>
          <a:p>
            <a:r>
              <a:t>   - AI/ML-driven continuous verification</a:t>
            </a:r>
          </a:p>
          <a:p>
            <a:r>
              <a:t>   - Real-time adaptive policies</a:t>
            </a:r>
          </a:p>
          <a:p>
            <a:r>
              <a:t>   - Complete visibility across all pillars</a:t>
            </a:r>
          </a:p>
          <a:p>
            <a:r>
              <a:t>   - Industry Example: Very few organizations - parts of Google, some financial institutions</a:t>
            </a:r>
          </a:p>
          <a:p/>
          <a:p>
            <a:r>
              <a:t>Five Pillars Detail:</a:t>
            </a:r>
          </a:p>
          <a:p>
            <a:r>
              <a:t>1. Identity: Strong authentication, SSO, RBAC/ABAC, privileged access management</a:t>
            </a:r>
          </a:p>
          <a:p>
            <a:r>
              <a:t>2. Devices: EDR, device compliance, certificate-based authentication, mobile device management</a:t>
            </a:r>
          </a:p>
          <a:p>
            <a:r>
              <a:t>3. Networks: Micro-segmentation, encrypted DNS, SD-WAN, software-defined perimeter</a:t>
            </a:r>
          </a:p>
          <a:p>
            <a:r>
              <a:t>4. Applications &amp; Workloads: Secure SDLC, runtime protection, API security, container security</a:t>
            </a:r>
          </a:p>
          <a:p>
            <a:r>
              <a:t>5. Data: Classification, DLP, encryption at rest and in transit, rights management</a:t>
            </a:r>
          </a:p>
          <a:p/>
          <a:p>
            <a:r>
              <a:t>Industry Reality Check:</a:t>
            </a:r>
          </a:p>
          <a:p>
            <a:r>
              <a:t>- Emphasize this is a JOURNEY, not a destination</a:t>
            </a:r>
          </a:p>
          <a:p>
            <a:r>
              <a:t>- Even Google took 8+ years to fully implement BeyondCorp</a:t>
            </a:r>
          </a:p>
          <a:p>
            <a:r>
              <a:t>- Start with Identity (highest ROI) and expand from there</a:t>
            </a:r>
          </a:p>
          <a:p>
            <a:r>
              <a:t>- Teaching Tip: "Ask your students to assess where their college/university falls on this maturity model. It's a great exercise."</a:t>
            </a:r>
          </a:p>
          <a:p/>
          <a:p>
            <a:r>
              <a:t>Real Example - A Large Bank's Journey:</a:t>
            </a:r>
          </a:p>
          <a:p>
            <a:r>
              <a:t>"A major US bank started their Zero Trust journey in 2019. They began with Identity (enforcing MFA for all employees and contractors). Then expanded to Devices (requiring endpoint compliance). By 2023, they had micro-segmented their core banking network. They're now working on data classification. Timeline: 5+ years and still ongoing."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Modern IAM
IAM Deep Dive (10 minutes):
Authentication Evolution:
1. Passwords (The Past):
- Still most common (unfortunately), but fundamentally broken
- 81% of hacking-related breaches involve stolen/weak passwords (Verizon DBIR 2024)
- Password reuse: Average person reuses passwords across 5+ services
- Dark web: 15 billion+ stolen credentials available
2. Multi-Factor Authentication (Current Baseline):
- "Something you know + something you have + something you are"
- SMS MFA blocks 99.9% of automated attacks (Microsoft research)
- BUT: SIM swapping, SS7 vulnerabilities make SMS MFA weaker
- Push notification fatigue attacks (MFA bombing): Uber 2022 breach - attacker spammed push notifications until employee approved
- Industry best practice: Hardware keys or authenticator apps, NOT SMS
3. Passwordless / FIDO2 WebAuthn (Current Best Practice):
- FIDO2 standard: Public key cryptography, no shared secrets
- Hardware security keys (YubiKey, Titan) - phishing-proof
- Platform authenticators (TouchID, Windows Hello, FaceID)
- Google: Zero successful phishing attacks since deploying hardware keys for all 85,000+ employees
- Industry adoption: Apple, Google, Microsoft all support WebAuthn natively
4. Passkeys (2024-2025 - NEWEST):
- Evolution of FIDO2 for consumers
- Sync across devices via cloud (Apple Keychain, Google Password Manager)
- Google: 1 billion+ accounts now support passkeys
- Apple: Passkeys are default for new Apple ID accounts (2024)
- Microsoft: Passkeys for all Microsoft consumer accounts (2024)
- "Passkeys are 4x faster than passwords and completely phishing-proof"
Key IAM Concepts:
- SSO + Federation: "One identity, access everywhere" - Explain OIDC flow with a whiteboard diagram
- RBAC vs ABAC: "RBAC says 'you're an admin, access everything'. ABAC says 'you're an admin, on a managed device, during business hours, from a known location - access approved'"
- PAM: CyberArk's Privileged Access Management - show how JIT privilege elevation works
- Decentralized Identity: W3C DID standard finalized 2024 - "Your university credential becomes a verifiable credential that any employer can validate without calling the university"
Industry Case Study - Okta Breach (2023):
"Even IAM providers aren't immune. Okta was breached when an employee's personal Google account synced their work credentials. This shows why device compliance and separation of personal/work identities matter."
Lab Connection: "In the lab, you'll set up Keycloak as your Identity Provider and implement OIDC-based authentication. This is the same protocol used by Okta, Azure AD, and Google."
NEW - Passkey Lab Extension: "We've added an optional hands-on passkey exercise to the lab. Using Chrome's virtual authenticator (no hardware needed), you'll register a FIDO2 passkey, authenticate with it, and inspect the credential data to see origin-binding and challenge-response in action. You'll also configure Keycloak's WebAuthn flow to add passkeys as a second factor. This makes the password-to-passkey evolution tangible rather than theoretical."
</a:t>
            </a:r>
          </a:p>
          <a:p/>
          <a:p>
            <a:r>
              <a:t/>
            </a:r>
          </a:p>
          <a:p/>
          <a:p>
            <a:r>
              <a:t/>
            </a:r>
          </a:p>
          <a:p>
            <a:r>
              <a:t/>
            </a:r>
          </a:p>
          <a:p>
            <a:r>
              <a:t/>
            </a:r>
          </a:p>
          <a:p>
            <a:r>
              <a:t/>
            </a:r>
          </a:p>
          <a:p>
            <a:r>
              <a:t/>
            </a:r>
          </a:p>
          <a:p>
            <a:r>
              <a:t/>
            </a:r>
          </a:p>
          <a:p/>
          <a:p>
            <a:r>
              <a:t/>
            </a:r>
          </a:p>
          <a:p>
            <a:r>
              <a:t/>
            </a:r>
          </a:p>
          <a:p>
            <a:r>
              <a:t/>
            </a:r>
          </a:p>
          <a:p>
            <a:r>
              <a:t/>
            </a:r>
          </a:p>
          <a:p>
            <a:r>
              <a:t/>
            </a:r>
          </a:p>
          <a:p>
            <a:r>
              <a:t/>
            </a:r>
          </a:p>
          <a:p/>
          <a:p>
            <a:r>
              <a:t/>
            </a:r>
          </a:p>
          <a:p>
            <a:r>
              <a:t/>
            </a:r>
          </a:p>
          <a:p>
            <a:r>
              <a:t/>
            </a:r>
          </a:p>
          <a:p>
            <a:r>
              <a:t/>
            </a:r>
          </a:p>
          <a:p>
            <a:r>
              <a:t/>
            </a:r>
          </a:p>
          <a:p>
            <a:r>
              <a:t/>
            </a:r>
          </a:p>
          <a:p/>
          <a:p>
            <a:r>
              <a:t/>
            </a:r>
          </a:p>
          <a:p>
            <a:r>
              <a:t/>
            </a:r>
          </a:p>
          <a:p>
            <a:r>
              <a:t/>
            </a:r>
          </a:p>
          <a:p>
            <a:r>
              <a:t/>
            </a:r>
          </a:p>
          <a:p>
            <a:r>
              <a:t/>
            </a:r>
          </a:p>
          <a:p>
            <a:r>
              <a:t/>
            </a:r>
          </a:p>
          <a:p>
            <a:r>
              <a:t/>
            </a:r>
          </a:p>
          <a:p/>
          <a:p>
            <a:r>
              <a:t/>
            </a:r>
          </a:p>
          <a:p>
            <a:r>
              <a:t/>
            </a:r>
          </a:p>
          <a:p>
            <a:r>
              <a:t/>
            </a:r>
          </a:p>
          <a:p>
            <a:r>
              <a:t/>
            </a:r>
          </a:p>
          <a:p>
            <a:r>
              <a:t/>
            </a:r>
          </a:p>
          <a:p/>
          <a:p>
            <a:r>
              <a:t/>
            </a:r>
          </a:p>
          <a:p>
            <a:r>
              <a:t/>
            </a:r>
          </a:p>
          <a:p/>
          <a:p>
            <a:r>
              <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OIDC/OAuth2 Flow
Authentication Flow Walkthrough (5 minutes):
This is the most commonly used authentication flow in modern applications. Walk through each step:
Step-by-step explanation:
1. User clicks login - The journey begins at the application
2. PKCE Challenge: The app generates a random code_verifier, hashes it to create code_challenge, sends code_challenge with the redirect
3. User authenticates at the IdP - this is where MFA/passkeys happen. The user never enters credentials at the application.
4. Authorization code returned - short-lived, single-use code sent to the app's callback URL
5. Code exchange - The app sends the authorization code PLUS the original code_verifier (proves it's the same client)
6. Tokens returned - Three tokens:
   - ID Token (JWT): Who the user is (claims: name, email, roles)
   - Access Token: What the user can access (scopes/permissions)
   - Refresh Token: How to get new tokens without re-authentication
7. API calls - Access token sent in Authorization header: "Bearer &lt;token&gt;"
8. Token validation - Resource server validates signature, expiry, audience, issuer
Why OAuth 2.1 (not 2.0)?
- OAuth 2.1 (draft finalized 2024) consolidates best practices:
  - PKCE is MANDATORY (was optional in 2.0)
  - Implicit flow REMOVED (was insecure)
  - Resource Owner Password Grant REMOVED (was insecure)
  - Refresh token rotation REQUIRED
Industry Examples:
- "Every time you click 'Sign in with Google' or 'Sign in with Microsoft', you're using this exact flow"
- GitHub, Slack, Salesforce - all use OIDC for SSO
- Kubernetes uses OIDC for user authentication (kubectl login flows)
PKCE Explanation (Important!):
"PKCE prevents a class of attacks where a malicious app intercepts the authorization code. Think of it like a sealed envelope - only the original sender (who created the code_verifier) can open it."
JWT Structure:
Header.Payload.Signature
- Header: {"alg": "RS256", "typ": "JWT"}
- Payload: {"sub": "user123", "name": "John", "roles": ["admin"], "exp": 1234567890}
- Signature: RS256(header + payload, private_key)
Lab Connection: "In Lab 1, you'll configure Keycloak to issue OIDC tokens and build a simple application that uses this exact flow. You'll see JWTs decoded and understand each claim."
Passkey Extension: "The optional Lab 1 Extension takes authentication one step further. You'll use the WebAuthn API to register and authenticate with passkeys - the technology replacing passwords. The demo page at localhost:3000/passkey lets you see the registration ceremony (navigator.credentials.create), the authentication ceremony (navigator.credentials.get), and inspect the credential data to understand origin-binding. Then you'll switch Keycloak's browser flow to 'browser-with-webauthn' and see passkeys integrated into a real OIDC flow. No hardware keys needed - Chrome's virtual authenticator handles everything."
</a:t>
            </a:r>
          </a:p>
          <a:p/>
          <a:p>
            <a:r>
              <a:t/>
            </a:r>
          </a:p>
          <a:p/>
          <a:p>
            <a:r>
              <a:t/>
            </a:r>
          </a:p>
          <a:p/>
          <a:p>
            <a:r>
              <a:t/>
            </a:r>
          </a:p>
          <a:p>
            <a:r>
              <a:t/>
            </a:r>
          </a:p>
          <a:p>
            <a:r>
              <a:t/>
            </a:r>
          </a:p>
          <a:p>
            <a:r>
              <a:t/>
            </a:r>
          </a:p>
          <a:p>
            <a:r>
              <a:t/>
            </a:r>
          </a:p>
          <a:p>
            <a:r>
              <a:t/>
            </a:r>
          </a:p>
          <a:p>
            <a:r>
              <a:t/>
            </a:r>
          </a:p>
          <a:p>
            <a:r>
              <a:t/>
            </a:r>
          </a:p>
          <a:p>
            <a:r>
              <a:t/>
            </a:r>
          </a:p>
          <a:p>
            <a:r>
              <a:t/>
            </a:r>
          </a:p>
          <a:p>
            <a:r>
              <a:t/>
            </a:r>
          </a:p>
          <a:p>
            <a:r>
              <a:t/>
            </a:r>
          </a:p>
          <a:p/>
          <a:p>
            <a:r>
              <a:t/>
            </a:r>
          </a:p>
          <a:p>
            <a:r>
              <a:t/>
            </a:r>
          </a:p>
          <a:p>
            <a:r>
              <a:t/>
            </a:r>
          </a:p>
          <a:p>
            <a:r>
              <a:t/>
            </a:r>
          </a:p>
          <a:p>
            <a:r>
              <a:t/>
            </a:r>
          </a:p>
          <a:p>
            <a:r>
              <a:t/>
            </a:r>
          </a:p>
          <a:p/>
          <a:p>
            <a:r>
              <a:t/>
            </a:r>
          </a:p>
          <a:p>
            <a:r>
              <a:t/>
            </a:r>
          </a:p>
          <a:p>
            <a:r>
              <a:t/>
            </a:r>
          </a:p>
          <a:p>
            <a:r>
              <a:t/>
            </a:r>
          </a:p>
          <a:p/>
          <a:p>
            <a:r>
              <a:t/>
            </a:r>
          </a:p>
          <a:p>
            <a:r>
              <a:t/>
            </a:r>
          </a:p>
          <a:p/>
          <a:p>
            <a:r>
              <a:t/>
            </a:r>
          </a:p>
          <a:p>
            <a:r>
              <a:t/>
            </a:r>
          </a:p>
          <a:p>
            <a:r>
              <a:t/>
            </a:r>
          </a:p>
          <a:p>
            <a:r>
              <a:t/>
            </a:r>
          </a:p>
          <a:p>
            <a:r>
              <a:t/>
            </a:r>
          </a:p>
          <a:p/>
          <a:p>
            <a:r>
              <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Micro-segmentation</a:t>
            </a:r>
          </a:p>
          <a:p/>
          <a:p>
            <a:r>
              <a:t>Micro-segmentation Deep Dive (8 minutes):</a:t>
            </a:r>
          </a:p>
          <a:p/>
          <a:p>
            <a:r>
              <a:t>The Problem (Flat Networks):</a:t>
            </a:r>
          </a:p>
          <a:p>
            <a:r>
              <a:t>- "In a flat network, if an attacker compromises the web server, they can reach EVERYTHING - the database, admin panel, logging system, cache."</a:t>
            </a:r>
          </a:p>
          <a:p>
            <a:r>
              <a:t>- This is exactly what happened in:</a:t>
            </a:r>
          </a:p>
          <a:p>
            <a:r>
              <a:t>  - Target breach (2013): HVAC contractor credentials used to reach payment systems</a:t>
            </a:r>
          </a:p>
          <a:p>
            <a:r>
              <a:t>  - SolarWinds: Lateral movement across flat networks for months</a:t>
            </a:r>
          </a:p>
          <a:p>
            <a:r>
              <a:t>  - Colonial Pipeline: IT to OT lateral movement</a:t>
            </a:r>
          </a:p>
          <a:p/>
          <a:p>
            <a:r>
              <a:t>The Solution (Micro-segmentation):</a:t>
            </a:r>
          </a:p>
          <a:p>
            <a:r>
              <a:t>- "Every workload is its own security zone. Communication between zones requires explicit policy."</a:t>
            </a:r>
          </a:p>
          <a:p>
            <a:r>
              <a:t>- Default deny: If there's no explicit allow rule, traffic is blocked</a:t>
            </a:r>
          </a:p>
          <a:p>
            <a:r>
              <a:t>- Whitelist model: Only known-good communication paths are allowed</a:t>
            </a:r>
          </a:p>
          <a:p/>
          <a:p>
            <a:r>
              <a:t>Four Implementation Approaches:</a:t>
            </a:r>
          </a:p>
          <a:p/>
          <a:p>
            <a:r>
              <a:t>1. Network-Based:</a:t>
            </a:r>
          </a:p>
          <a:p>
            <a:r>
              <a:t>   - Traditional: VLANs, ACLs on switches/routers</a:t>
            </a:r>
          </a:p>
          <a:p>
            <a:r>
              <a:t>   - Modern: VMware NSX (software-defined networking), Cisco ACI</a:t>
            </a:r>
          </a:p>
          <a:p>
            <a:r>
              <a:t>   - Pros: Works with existing infrastructure</a:t>
            </a:r>
          </a:p>
          <a:p>
            <a:r>
              <a:t>   - Cons: Complex to manage at scale, tied to network topology</a:t>
            </a:r>
          </a:p>
          <a:p>
            <a:r>
              <a:t>   - Industry: Used by large enterprises with existing VMware deployments</a:t>
            </a:r>
          </a:p>
          <a:p/>
          <a:p>
            <a:r>
              <a:t>2. Host-Based:</a:t>
            </a:r>
          </a:p>
          <a:p>
            <a:r>
              <a:t>   - Agents installed on each server/VM</a:t>
            </a:r>
          </a:p>
          <a:p>
            <a:r>
              <a:t>   - Illumio (leader), Akamai Guardicore</a:t>
            </a:r>
          </a:p>
          <a:p>
            <a:r>
              <a:t>   - Pros: Works across any infrastructure (cloud, on-prem, hybrid)</a:t>
            </a:r>
          </a:p>
          <a:p>
            <a:r>
              <a:t>   - Cons: Agent management overhead</a:t>
            </a:r>
          </a:p>
          <a:p>
            <a:r>
              <a:t>   - Industry: Adopted by healthcare, financial services. Illumio used by 400+ enterprises</a:t>
            </a:r>
          </a:p>
          <a:p/>
          <a:p>
            <a:r>
              <a:t>3. Container/Cloud-Native (MOST RELEVANT for modern workloads):</a:t>
            </a:r>
          </a:p>
          <a:p>
            <a:r>
              <a:t>   - Kubernetes NetworkPolicy: Native K8s construct</a:t>
            </a:r>
          </a:p>
          <a:p>
            <a:r>
              <a:t>   - Cilium: eBPF-based networking and security for K8s (now a CNCF graduated project)</a:t>
            </a:r>
          </a:p>
          <a:p>
            <a:r>
              <a:t>   - Calico: Popular K8s network policy implementation</a:t>
            </a:r>
          </a:p>
          <a:p>
            <a:r>
              <a:t>   - Istio: Service mesh with mTLS between services</a:t>
            </a:r>
          </a:p>
          <a:p>
            <a:r>
              <a:t>   - Industry: Netflix, Spotify, Airbnb use Cilium. Google uses Istio internally.</a:t>
            </a:r>
          </a:p>
          <a:p>
            <a:r>
              <a:t>   - "This is what you'll implement in Lab 3"</a:t>
            </a:r>
          </a:p>
          <a:p/>
          <a:p>
            <a:r>
              <a:t>4. Identity-Based (Cutting Edge):</a:t>
            </a:r>
          </a:p>
          <a:p>
            <a:r>
              <a:t>   - SPIFFE/SPIRE: Service identity framework (CNCF project)</a:t>
            </a:r>
          </a:p>
          <a:p>
            <a:r>
              <a:t>   - Each workload gets a cryptographic identity (SVID)</a:t>
            </a:r>
          </a:p>
          <a:p>
            <a:r>
              <a:t>   - mTLS between all services - encrypted + authenticated</a:t>
            </a:r>
          </a:p>
          <a:p>
            <a:r>
              <a:t>   - Industry: Uber, Square, ByteDance use SPIFFE for workload identity</a:t>
            </a:r>
          </a:p>
          <a:p/>
          <a:p>
            <a:r>
              <a:t>Real-World Impact:</a:t>
            </a:r>
          </a:p>
          <a:p>
            <a:r>
              <a:t>- "A major financial institution reduced their attack surface by 95% after implementing micro-segmentation with Illumio"</a:t>
            </a:r>
          </a:p>
          <a:p>
            <a:r>
              <a:t>- "Kubernetes-native segmentation is now table stakes - CKS (Certified Kubernetes Security) certification requires understanding NetworkPolicy"</a:t>
            </a:r>
          </a:p>
          <a:p/>
          <a:p>
            <a:r>
              <a:t>Lab Connection: "In Lab 3, you'll create Kubernetes NetworkPolicies and Docker network segmentation. You'll see how a compromised service is contained to its segment."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SOC Operations</a:t>
            </a:r>
          </a:p>
          <a:p/>
          <a:p>
            <a:r>
              <a:t>SOC Deep Dive (8 minutes):</a:t>
            </a:r>
          </a:p>
          <a:p/>
          <a:p>
            <a:r>
              <a:t>What is a SOC?</a:t>
            </a:r>
          </a:p>
          <a:p>
            <a:r>
              <a:t>"A Security Operations Center is the nerve center of an organization's cybersecurity defense. It's a team of analysts who monitor, detect, investigate, and respond to security incidents 24/7/365."</a:t>
            </a:r>
          </a:p>
          <a:p/>
          <a:p>
            <a:r>
              <a:t>SOC Technology Stack (Bottom to Top):</a:t>
            </a:r>
          </a:p>
          <a:p/>
          <a:p>
            <a:r>
              <a:t>1. Data Sources (Foundation):</a:t>
            </a:r>
          </a:p>
          <a:p>
            <a:r>
              <a:t>- Everything generates logs: firewalls, servers, applications, cloud services, identity providers</a:t>
            </a:r>
          </a:p>
          <a:p>
            <a:r>
              <a:t>- Average enterprise generates 10TB+ of security-relevant logs per day</a:t>
            </a:r>
          </a:p>
          <a:p>
            <a:r>
              <a:t>- Challenge: Signal vs. noise - finding the needle in a haystack</a:t>
            </a:r>
          </a:p>
          <a:p/>
          <a:p>
            <a:r>
              <a:t>2. XDR / EDR (Detection):</a:t>
            </a:r>
          </a:p>
          <a:p>
            <a:r>
              <a:t>- CrowdStrike Falcon: Industry leader, deployed on 20M+ endpoints</a:t>
            </a:r>
          </a:p>
          <a:p>
            <a:r>
              <a:t>- SentinelOne: AI-native endpoint protection, autonomous response</a:t>
            </a:r>
          </a:p>
          <a:p>
            <a:r>
              <a:t>- Microsoft Defender XDR: Integrates endpoint, identity, email, and cloud detections</a:t>
            </a:r>
          </a:p>
          <a:p>
            <a:r>
              <a:t>- Key capability: Behavioral detection - catches zero-day attacks that signature-based tools miss</a:t>
            </a:r>
          </a:p>
          <a:p>
            <a:r>
              <a:t>- Industry fact: CrowdStrike detected SolarWinds SUNBURST before it was publicly known</a:t>
            </a:r>
          </a:p>
          <a:p/>
          <a:p>
            <a:r>
              <a:t>3. SIEM (Correlation &amp; Analysis):</a:t>
            </a:r>
          </a:p>
          <a:p>
            <a:r>
              <a:t>- Collects logs from ALL sources, correlates events, generates alerts</a:t>
            </a:r>
          </a:p>
          <a:p>
            <a:r>
              <a:t>- Splunk: Market leader, $3.5B acquisition by Cisco (2024)</a:t>
            </a:r>
          </a:p>
          <a:p>
            <a:r>
              <a:t>- Elastic SIEM: Open-source based, used by many enterprises</a:t>
            </a:r>
          </a:p>
          <a:p>
            <a:r>
              <a:t>- Wazuh: Open-source SIEM/XDR - this is what you'll use in the lab</a:t>
            </a:r>
          </a:p>
          <a:p>
            <a:r>
              <a:t>- Microsoft Sentinel: Cloud-native SIEM in Azure</a:t>
            </a:r>
          </a:p>
          <a:p>
            <a:r>
              <a:t>- Key capability: Correlation rules - "If failed login from location A AND successful login from location B within 5 minutes = potential credential theft"</a:t>
            </a:r>
          </a:p>
          <a:p/>
          <a:p>
            <a:r>
              <a:t>4. SOAR (Response &amp; Automation):</a:t>
            </a:r>
          </a:p>
          <a:p>
            <a:r>
              <a:t>- Automates repetitive analyst tasks: enrichment, containment, ticketing</a:t>
            </a:r>
          </a:p>
          <a:p>
            <a:r>
              <a:t>- Playbook example: "On phishing detection: extract IOCs, check threat intel, block sender, isolate affected endpoint, create incident ticket"</a:t>
            </a:r>
          </a:p>
          <a:p>
            <a:r>
              <a:t>- Reduces response time from hours to minutes</a:t>
            </a:r>
          </a:p>
          <a:p/>
          <a:p>
            <a:r>
              <a:t>AI in SOC (THE NEWEST TREND):</a:t>
            </a:r>
          </a:p>
          <a:p>
            <a:r>
              <a:t>- Microsoft Copilot for Security (GA April 2024): LLM that summarizes incidents, writes KQL queries, explains alerts in plain English</a:t>
            </a:r>
          </a:p>
          <a:p>
            <a:r>
              <a:t>- Google Gemini in Security Operations (2024): Integrated into Chronicle SIEM</a:t>
            </a:r>
          </a:p>
          <a:p>
            <a:r>
              <a:t>- Impact: "SOC analysts spend 75% of their time on routine alert triage. AI reduces this to 25%, letting analysts focus on complex threats"</a:t>
            </a:r>
          </a:p>
          <a:p>
            <a:r>
              <a:t>- Example: "An AI agent analyzes an alert, checks if the IP is in threat intel feeds, determines the user's normal behavior, and recommends containment actions - all in seconds"</a:t>
            </a:r>
          </a:p>
          <a:p/>
          <a:p>
            <a:r>
              <a:t>Industry SOC Metrics:</a:t>
            </a:r>
          </a:p>
          <a:p>
            <a:r>
              <a:t>- MTTD (Mean Time to Detect): Industry average 277 days (IBM 2025), best-in-class: &lt;24 hours</a:t>
            </a:r>
          </a:p>
          <a:p>
            <a:r>
              <a:t>- MTTR (Mean Time to Respond): Industry average 207 days, best-in-class: &lt;1 hour</a:t>
            </a:r>
          </a:p>
          <a:p>
            <a:r>
              <a:t>- Alert fatigue: Average SOC receives 11,000 alerts/day, analysts can only investigate ~25</a:t>
            </a:r>
          </a:p>
          <a:p>
            <a:r>
              <a:t>- False positive rate: 80%+ in most SOCs</a:t>
            </a:r>
          </a:p>
          <a:p/>
          <a:p>
            <a:r>
              <a:t>Lab Connection: "In Lab 4, you'll set up Wazuh SIEM, generate security events, and create detection rules. In Lab 5, the blue team will use SIEM to detect the red team's attacks."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Threat Intelligence</a:t>
            </a:r>
          </a:p>
          <a:p/>
          <a:p>
            <a:r>
              <a:t>Threat Intelligence Overview (5 minutes):</a:t>
            </a:r>
          </a:p>
          <a:p/>
          <a:p>
            <a:r>
              <a:t>MITRE ATT&amp;CK Framework:</a:t>
            </a:r>
          </a:p>
          <a:p>
            <a:r>
              <a:t>- THE most important framework for understanding cyber adversary behavior</a:t>
            </a:r>
          </a:p>
          <a:p>
            <a:r>
              <a:t>- 14 tactics (the WHY), 200+ techniques (the HOW), 600+ sub-techniques</a:t>
            </a:r>
          </a:p>
          <a:p>
            <a:r>
              <a:t>- Used by every SOC, every threat intel team, every security vendor</a:t>
            </a:r>
          </a:p>
          <a:p>
            <a:r>
              <a:t>- "If you teach ONE security framework, teach MITRE ATT&amp;CK"</a:t>
            </a:r>
          </a:p>
          <a:p/>
          <a:p>
            <a:r>
              <a:t>Walk through the Kill Chain:</a:t>
            </a:r>
          </a:p>
          <a:p>
            <a:r>
              <a:t>1. Reconnaissance: Scanning, OSINT gathering (LinkedIn, DNS records)</a:t>
            </a:r>
          </a:p>
          <a:p>
            <a:r>
              <a:t>2. Resource Development: Setting up infrastructure, buying domains, creating malware</a:t>
            </a:r>
          </a:p>
          <a:p>
            <a:r>
              <a:t>3. Initial Access: Phishing, exploiting public-facing apps, supply chain compromise</a:t>
            </a:r>
          </a:p>
          <a:p>
            <a:r>
              <a:t>4. Execution: Running malicious code (PowerShell, macros)</a:t>
            </a:r>
          </a:p>
          <a:p>
            <a:r>
              <a:t>5. Persistence: Installing backdoors, creating accounts</a:t>
            </a:r>
          </a:p>
          <a:p>
            <a:r>
              <a:t>6. Privilege Escalation: Getting admin/root access</a:t>
            </a:r>
          </a:p>
          <a:p>
            <a:r>
              <a:t>7. Defense Evasion: Disabling AV, obfuscating malware</a:t>
            </a:r>
          </a:p>
          <a:p>
            <a:r>
              <a:t>8. Credential Access: Dumping passwords, keylogging</a:t>
            </a:r>
          </a:p>
          <a:p>
            <a:r>
              <a:t>9. Discovery: Mapping the network, finding valuable targets</a:t>
            </a:r>
          </a:p>
          <a:p>
            <a:r>
              <a:t>10. Lateral Movement: Moving to other systems (Pass-the-Hash, RDP)</a:t>
            </a:r>
          </a:p>
          <a:p>
            <a:r>
              <a:t>11. Collection: Gathering data for exfiltration</a:t>
            </a:r>
          </a:p>
          <a:p>
            <a:r>
              <a:t>12. Command &amp; Control: Communicating with attacker infrastructure</a:t>
            </a:r>
          </a:p>
          <a:p>
            <a:r>
              <a:t>13. Exfiltration: Stealing data</a:t>
            </a:r>
          </a:p>
          <a:p>
            <a:r>
              <a:t>14. Impact: Ransomware, destruction, manipulation</a:t>
            </a:r>
          </a:p>
          <a:p/>
          <a:p>
            <a:r>
              <a:t>Pyramid of Pain (David Bianco, 2013):</a:t>
            </a:r>
          </a:p>
          <a:p>
            <a:r>
              <a:t>- Bottom: Hash values - trivial for attackers to change (recompile malware, new hash)</a:t>
            </a:r>
          </a:p>
          <a:p>
            <a:r>
              <a:t>- Middle: IP addresses, domains - easy to change (rotate infrastructure)</a:t>
            </a:r>
          </a:p>
          <a:p>
            <a:r>
              <a:t>- Top: TTPs - HARDEST to change. If you understand HOW adversaries operate, they must fundamentally change their approach</a:t>
            </a:r>
          </a:p>
          <a:p>
            <a:r>
              <a:t>- "This is why behavioral detection (EDR) is more valuable than signature-based detection (traditional AV)"</a:t>
            </a:r>
          </a:p>
          <a:p/>
          <a:p>
            <a:r>
              <a:t>Industry Examples:</a:t>
            </a:r>
          </a:p>
          <a:p>
            <a:r>
              <a:t>- APT29 (Cozy Bear/Russia): Known TTPs include spear-phishing with OAuth consent phishing, token theft</a:t>
            </a:r>
          </a:p>
          <a:p>
            <a:r>
              <a:t>- Lazarus Group (North Korea): Supply chain attacks, cryptocurrency theft, social engineering of developers</a:t>
            </a:r>
          </a:p>
          <a:p>
            <a:r>
              <a:t>- ALPHV/BlackCat: Ransomware-as-a-Service, data extortion, targeting healthcare</a:t>
            </a:r>
          </a:p>
          <a:p/>
          <a:p>
            <a:r>
              <a:t>Current Trend (2024-2025): AI-Generated Phishing</a:t>
            </a:r>
          </a:p>
          <a:p>
            <a:r>
              <a:t>- LLMs being used to create more convincing phishing emails</a:t>
            </a:r>
          </a:p>
          <a:p>
            <a:r>
              <a:t>- Deepfake voice calls for vishing (voice phishing)</a:t>
            </a:r>
          </a:p>
          <a:p>
            <a:r>
              <a:t>- AI-generated malware that evades signature detection</a:t>
            </a:r>
          </a:p>
          <a:p>
            <a:r>
              <a:t>- The defense: Behavioral analytics, not signatures</a:t>
            </a:r>
          </a:p>
          <a:p/>
          <a:p>
            <a:r>
              <a:t>Lab Connection: In Lab 5 (Red/Blue team), red team will use TTPs from MITRE ATT&amp;CK, and blue team will map detected activities to the framework.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Post-Quantum Cryptography</a:t>
            </a:r>
          </a:p>
          <a:p/>
          <a:p>
            <a:r>
              <a:t>PQC Deep Dive (7 minutes):</a:t>
            </a:r>
          </a:p>
          <a:p/>
          <a:p>
            <a:r>
              <a:t>THIS IS THE NEWEST AND MOST IMPORTANT TOPIC - Faculty should integrate this into their curriculum NOW.</a:t>
            </a:r>
          </a:p>
          <a:p/>
          <a:p>
            <a:r>
              <a:t>The Quantum Threat Explained:</a:t>
            </a:r>
          </a:p>
          <a:p>
            <a:r>
              <a:t>- Current encryption (RSA-2048, AES-256, ECDSA) relies on mathematical problems that are hard for classical computers</a:t>
            </a:r>
          </a:p>
          <a:p>
            <a:r>
              <a:t>- Shor's Algorithm (1994): Quantum algorithm that can factor large numbers and compute discrete logarithms in polynomial time</a:t>
            </a:r>
          </a:p>
          <a:p>
            <a:r>
              <a:t>- What this breaks: RSA (factoring), Diffie-Hellman (discrete log), ECDSA/ECDH (elliptic curve discrete log)</a:t>
            </a:r>
          </a:p>
          <a:p>
            <a:r>
              <a:t>- What this means: ALL current public key cryptography becomes insecure when large-scale quantum computers exist</a:t>
            </a:r>
          </a:p>
          <a:p/>
          <a:p>
            <a:r>
              <a:t>"Harvest Now, Decrypt Later" (HNDL):</a:t>
            </a:r>
          </a:p>
          <a:p>
            <a:r>
              <a:t>- Nation-states are ALREADY intercepting and storing encrypted communications</a:t>
            </a:r>
          </a:p>
          <a:p>
            <a:r>
              <a:t>- When quantum computers arrive, they can decrypt everything retroactively</a:t>
            </a:r>
          </a:p>
          <a:p>
            <a:r>
              <a:t>- "If data has a secrecy requirement of 10+ years, it needs PQC protection TODAY"</a:t>
            </a:r>
          </a:p>
          <a:p>
            <a:r>
              <a:t>- This is why the urgency is NOW, not when quantum computers arrive</a:t>
            </a:r>
          </a:p>
          <a:p>
            <a:r>
              <a:t>- NSA: "The threat is real enough that we need to start migrating now"</a:t>
            </a:r>
          </a:p>
          <a:p/>
          <a:p>
            <a:r>
              <a:t>NIST PQC Standards (THE BIG NEWS OF 2024):</a:t>
            </a:r>
          </a:p>
          <a:p>
            <a:r>
              <a:t>After 8 years of evaluation (2016-2024), NIST finalized:</a:t>
            </a:r>
          </a:p>
          <a:p>
            <a:r>
              <a:t>1. ML-KEM (Kyber) - FIPS 203 (August 2024):</a:t>
            </a:r>
          </a:p>
          <a:p>
            <a:r>
              <a:t>   - Key Encapsulation Mechanism for key exchange</a:t>
            </a:r>
          </a:p>
          <a:p>
            <a:r>
              <a:t>   - Replaces Diffie-Hellman / ECDH in TLS, VPN, etc.</a:t>
            </a:r>
          </a:p>
          <a:p>
            <a:r>
              <a:t>   - Based on Module-Learning With Errors (MLWE) lattice problem</a:t>
            </a:r>
          </a:p>
          <a:p>
            <a:r>
              <a:t>   - Three security levels: ML-KEM-512, ML-KEM-768, ML-KEM-1024</a:t>
            </a:r>
          </a:p>
          <a:p/>
          <a:p>
            <a:r>
              <a:t>2. ML-DSA (Dilithium) - FIPS 204 (August 2024):</a:t>
            </a:r>
          </a:p>
          <a:p>
            <a:r>
              <a:t>   - Digital signature algorithm</a:t>
            </a:r>
          </a:p>
          <a:p>
            <a:r>
              <a:t>   - Replaces RSA / ECDSA for code signing, certificates, JWT</a:t>
            </a:r>
          </a:p>
          <a:p>
            <a:r>
              <a:t>   - Based on Module-LWE and Module-SIS lattice problems</a:t>
            </a:r>
          </a:p>
          <a:p/>
          <a:p>
            <a:r>
              <a:t>3. SLH-DSA (SPHINCS+) - FIPS 205 (August 2024):</a:t>
            </a:r>
          </a:p>
          <a:p>
            <a:r>
              <a:t>   - Stateless hash-based signature</a:t>
            </a:r>
          </a:p>
          <a:p>
            <a:r>
              <a:t>   - Backup algorithm in case lattice problems are broken</a:t>
            </a:r>
          </a:p>
          <a:p>
            <a:r>
              <a:t>   - Based purely on hash functions (most conservative assumption)</a:t>
            </a:r>
          </a:p>
          <a:p/>
          <a:p>
            <a:r>
              <a:t>Industry Adoption (ALREADY HAPPENING):</a:t>
            </a:r>
          </a:p>
          <a:p>
            <a:r>
              <a:t>- Google Chrome (v124+, April 2024): X25519Kyber768 hybrid key exchange for ALL HTTPS connections</a:t>
            </a:r>
          </a:p>
          <a:p>
            <a:r>
              <a:t>- Signal Messenger (September 2023): PQXDH protocol using ML-KEM for post-quantum forward secrecy</a:t>
            </a:r>
          </a:p>
          <a:p>
            <a:r>
              <a:t>- Cloudflare (2024): PQC support for all customers</a:t>
            </a:r>
          </a:p>
          <a:p>
            <a:r>
              <a:t>- Apple iMessage (February 2024): PQ3 protocol using ML-KEM</a:t>
            </a:r>
          </a:p>
          <a:p>
            <a:r>
              <a:t>- AWS Key Management Service (2024): PQC-ready key exchange</a:t>
            </a:r>
          </a:p>
          <a:p>
            <a:r>
              <a:t>- "Your students are ALREADY using post-quantum crypto every time they open Chrome or send a Signal message"</a:t>
            </a:r>
          </a:p>
          <a:p/>
          <a:p>
            <a:r>
              <a:t>Why "Hybrid" Mode:</a:t>
            </a:r>
          </a:p>
          <a:p>
            <a:r>
              <a:t>- Current implementations use HYBRID: classical + PQC algorithms together</a:t>
            </a:r>
          </a:p>
          <a:p>
            <a:r>
              <a:t>- Example: X25519 (ECDH) + ML-KEM-768 in Chrome's TLS handshake</a:t>
            </a:r>
          </a:p>
          <a:p>
            <a:r>
              <a:t>- If PQC algorithm is broken, classical still protects</a:t>
            </a:r>
          </a:p>
          <a:p>
            <a:r>
              <a:t>- If quantum computer breaks classical, PQC still protects</a:t>
            </a:r>
          </a:p>
          <a:p/>
          <a:p>
            <a:r>
              <a:t>Teaching Tip for Faculty:</a:t>
            </a:r>
          </a:p>
          <a:p>
            <a:r>
              <a:t>- "Update your cryptography courses to include PQC as a required topic"</a:t>
            </a:r>
          </a:p>
          <a:p>
            <a:r>
              <a:t>- "Have students implement ML-KEM using liboqs (Open Quantum Safe library)"</a:t>
            </a:r>
          </a:p>
          <a:p>
            <a:r>
              <a:t>- "Discuss the Y2Q problem - it's like Y2K but for cryptography"</a:t>
            </a:r>
          </a:p>
          <a:p>
            <a:r>
              <a:t>- "Reference NIST's migration guidelines for PQC transition planning"</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Red Team / Blue Team</a:t>
            </a:r>
          </a:p>
          <a:p/>
          <a:p>
            <a:r>
              <a:t>Red/Blue Team Overview (5 minutes):</a:t>
            </a:r>
          </a:p>
          <a:p/>
          <a:p>
            <a:r>
              <a:t>Red Team:</a:t>
            </a:r>
          </a:p>
          <a:p>
            <a:r>
              <a:t>- "Ethical hackers who think and act like real adversaries"</a:t>
            </a:r>
          </a:p>
          <a:p>
            <a:r>
              <a:t>- Not just running vulnerability scanners - they chain vulnerabilities, use social engineering, and try to achieve specific objectives (e.g., "access the CFO's email")</a:t>
            </a:r>
          </a:p>
          <a:p>
            <a:r>
              <a:t>- Industry certifications: OSCP, OSCE, GPEN, CRTO</a:t>
            </a:r>
          </a:p>
          <a:p>
            <a:r>
              <a:t>- Salary range: Senior red team operators earn $150K-$250K+ in the US</a:t>
            </a:r>
          </a:p>
          <a:p/>
          <a:p>
            <a:r>
              <a:t>Industry Examples:</a:t>
            </a:r>
          </a:p>
          <a:p>
            <a:r>
              <a:t>- Google's Project Zero: Elite vulnerability research team, discovered Spectre/Meltdown, Log4Shell</a:t>
            </a:r>
          </a:p>
          <a:p>
            <a:r>
              <a:t>- Microsoft's Red Team: Simulates nation-state attacks against Microsoft's own infrastructure</a:t>
            </a:r>
          </a:p>
          <a:p>
            <a:r>
              <a:t>- TIBER-EU: European framework for threat intelligence-based ethical red teaming of financial institutions</a:t>
            </a:r>
          </a:p>
          <a:p>
            <a:r>
              <a:t>- US DoD's Hack the Pentagon: Bug bounty program that found 138 vulnerabilities in first 2 weeks</a:t>
            </a:r>
          </a:p>
          <a:p/>
          <a:p>
            <a:r>
              <a:t>Blue Team:</a:t>
            </a:r>
          </a:p>
          <a:p>
            <a:r>
              <a:t>- "The defenders - they monitor 24/7, detect threats, and respond to incidents"</a:t>
            </a:r>
          </a:p>
          <a:p>
            <a:r>
              <a:t>- Involves SOC analysts, incident responders, threat hunters, forensic analysts</a:t>
            </a:r>
          </a:p>
          <a:p>
            <a:r>
              <a:t>- Key skill: Pattern recognition - distinguishing malicious activity from normal noise</a:t>
            </a:r>
          </a:p>
          <a:p>
            <a:r>
              <a:t>- Industry certifications: GCIH, GCFA, GCIA, CISSP</a:t>
            </a:r>
          </a:p>
          <a:p/>
          <a:p>
            <a:r>
              <a:t>Purple Team (NEWEST TREND):</a:t>
            </a:r>
          </a:p>
          <a:p>
            <a:r>
              <a:t>- "The most mature organizations don't separate red and blue - they have purple team exercises"</a:t>
            </a:r>
          </a:p>
          <a:p>
            <a:r>
              <a:t>- Red team attacks, immediately shares TTPs with blue team</a:t>
            </a:r>
          </a:p>
          <a:p>
            <a:r>
              <a:t>- Blue team improves detections in real-time</a:t>
            </a:r>
          </a:p>
          <a:p>
            <a:r>
              <a:t>- Continuous cycle of attack -&gt; detect -&gt; improve -&gt; repeat</a:t>
            </a:r>
          </a:p>
          <a:p>
            <a:r>
              <a:t>- Atomic Red Team (open-source): MITRE ATT&amp;CK-mapped atomic tests that anyone can run</a:t>
            </a:r>
          </a:p>
          <a:p>
            <a:r>
              <a:t>- AttackIQ: Commercial breach and attack simulation (BAS) platform</a:t>
            </a:r>
          </a:p>
          <a:p/>
          <a:p>
            <a:r>
              <a:t>Real Industry Story:</a:t>
            </a:r>
          </a:p>
          <a:p>
            <a:r>
              <a:t>"A Fortune 500 financial company runs monthly purple team exercises. In one exercise, the red team used a novel persistence technique (scheduled task via COM object hijacking). The blue team initially missed it. They immediately created a Sigma detection rule, added it to their SIEM, and within 24 hours could detect this technique. This improvement cycle is what makes purple teaming so valuable."</a:t>
            </a:r>
          </a:p>
          <a:p/>
          <a:p>
            <a:r>
              <a:t>Lab Connection: "In Lab 5, you'll run a mini red/blue team exercise. Red team will attack a vulnerable application using MITRE ATT&amp;CK techniques, and blue team will use Wazuh SIEM to detect and respond."</a:t>
            </a:r>
          </a:p>
          <a:p/>
          <a:p>
            <a:r>
              <a:t>Key Takeaway: "Security is not a product - it's a continuous process of testing, detecting, and improving."</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Industry Case Studies</a:t>
            </a:r>
          </a:p>
          <a:p/>
          <a:p>
            <a:r>
              <a:t>Real-World Implementation Stories (5 minutes):</a:t>
            </a:r>
          </a:p>
          <a:p/>
          <a:p>
            <a:r>
              <a:t>Google BeyondCorp (THE pioneer):</a:t>
            </a:r>
          </a:p>
          <a:p>
            <a:r>
              <a:t>- Started in 2011 after Operation Aurora (2009) - Chinese state-sponsored attack on Google</a:t>
            </a:r>
          </a:p>
          <a:p>
            <a:r>
              <a:t>- "We decided we could no longer trust our internal network"</a:t>
            </a:r>
          </a:p>
          <a:p>
            <a:r>
              <a:t>- Key innovation: Access Proxy that evaluates trust on every request</a:t>
            </a:r>
          </a:p>
          <a:p>
            <a:r>
              <a:t>- Device inventory: Every device has a trust level based on: OS version, patch status, encryption, managed status</a:t>
            </a:r>
          </a:p>
          <a:p>
            <a:r>
              <a:t>- Access is: Identity + Device Trust + Application Sensitivity = Allow/Deny/Step-Up</a:t>
            </a:r>
          </a:p>
          <a:p>
            <a:r>
              <a:t>- Result: 85,000+ employees, zero VPN, same security posture office/remote</a:t>
            </a:r>
          </a:p>
          <a:p>
            <a:r>
              <a:t>- Published 6 academic papers on BeyondCorp (available on Google Research)</a:t>
            </a:r>
          </a:p>
          <a:p>
            <a:r>
              <a:t>- Commercialized as BeyondCorp Enterprise (part of Google Cloud)</a:t>
            </a:r>
          </a:p>
          <a:p/>
          <a:p>
            <a:r>
              <a:t>Microsoft Zero Trust:</a:t>
            </a:r>
          </a:p>
          <a:p>
            <a:r>
              <a:t>- Largest enterprise Zero Trust deployment in the world (400K+ employees)</a:t>
            </a:r>
          </a:p>
          <a:p>
            <a:r>
              <a:t>- Key components: Azure AD (now Entra ID), Conditional Access, Intune, Defender XDR</a:t>
            </a:r>
          </a:p>
          <a:p>
            <a:r>
              <a:t>- 2024 milestones:</a:t>
            </a:r>
          </a:p>
          <a:p>
            <a:r>
              <a:t>  - Mandatory MFA for ALL Azure admin access (starting October 2024)</a:t>
            </a:r>
          </a:p>
          <a:p>
            <a:r>
              <a:t>  - Passkeys for all 1B+ Microsoft consumer accounts</a:t>
            </a:r>
          </a:p>
          <a:p>
            <a:r>
              <a:t>  - Copilot for Security: AI assistant for SOC analysts</a:t>
            </a:r>
          </a:p>
          <a:p>
            <a:r>
              <a:t>- After the Storm-0558 breach (2023), Microsoft launched "Secure Future Initiative" - biggest security overhaul in history</a:t>
            </a:r>
          </a:p>
          <a:p>
            <a:r>
              <a:t>- Open sourced: Microsoft Zero Trust deployment guide (200+ pages)</a:t>
            </a:r>
          </a:p>
          <a:p/>
          <a:p>
            <a:r>
              <a:t>Netflix:</a:t>
            </a:r>
          </a:p>
          <a:p>
            <a:r>
              <a:t>- 1,000+ microservices running on Kubernetes</a:t>
            </a:r>
          </a:p>
          <a:p>
            <a:r>
              <a:t>- Cilium (eBPF-based) for network security: visibility + enforcement at kernel level</a:t>
            </a:r>
          </a:p>
          <a:p>
            <a:r>
              <a:t>- SPIFFE/SPIRE: Every microservice gets a cryptographic identity (no IP-based trust)</a:t>
            </a:r>
          </a:p>
          <a:p>
            <a:r>
              <a:t>- "At Netflix, a service doesn't trust another service because of its IP address - it trusts it because of its cryptographic identity"</a:t>
            </a:r>
          </a:p>
          <a:p>
            <a:r>
              <a:t>- Open-sourced many security tools: Security Monkey, Repokid, Lemur</a:t>
            </a:r>
          </a:p>
          <a:p/>
          <a:p>
            <a:r>
              <a:t>US Federal Government:</a:t>
            </a:r>
          </a:p>
          <a:p>
            <a:r>
              <a:t>- Executive Order 14028 (May 2021): "The Federal Government must adopt Zero Trust Architecture"</a:t>
            </a:r>
          </a:p>
          <a:p>
            <a:r>
              <a:t>- OMB Memorandum M-22-09: Detailed implementation timeline for all agencies</a:t>
            </a:r>
          </a:p>
          <a:p>
            <a:r>
              <a:t>- CISA Zero Trust Maturity Model: Framework for measuring progress</a:t>
            </a:r>
          </a:p>
          <a:p>
            <a:r>
              <a:t>- Impact: $18.8B federal cybersecurity budget in FY2024</a:t>
            </a:r>
          </a:p>
          <a:p>
            <a:r>
              <a:t>- Industry ripple effect: What the US government mandates, enterprises follow within 2-3 years</a:t>
            </a:r>
          </a:p>
          <a:p/>
          <a:p>
            <a:r>
              <a:t>Faculty Talking Point:</a:t>
            </a:r>
          </a:p>
          <a:p>
            <a:r>
              <a:t>"These aren't just tech companies - Zero Trust is being adopted by healthcare (HIPAA), financial services (PCI-DSS 4.0 now recommends ZT), manufacturing (IEC 62443), and government. Your students WILL encounter Zero Trust in their careers, regardless of which industry they join."</a:t>
            </a:r>
          </a:p>
          <a:p/>
          <a:p>
            <a:r>
              <a:t>Career Connection:</a:t>
            </a:r>
          </a:p>
          <a:p>
            <a:r>
              <a:t>- Emphasize the salary ranges and career paths in cybersecurity</a:t>
            </a:r>
          </a:p>
          <a:p>
            <a:r>
              <a:t>- Zero Trust expertise is one of the most in-demand skills</a:t>
            </a:r>
          </a:p>
          <a:p>
            <a:r>
              <a:t>- (ISC)² reports a global cybersecurity workforce shortage of 4 million professionals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What's New 2024-2025</a:t>
            </a:r>
          </a:p>
          <a:p/>
          <a:p>
            <a:r>
              <a:t>CRITICAL SLIDE - This is what makes this lecture current and valuable (5 minutes):</a:t>
            </a:r>
          </a:p>
          <a:p/>
          <a:p>
            <a:r>
              <a:t>1. AI-Powered Security (SecAI):</a:t>
            </a:r>
          </a:p>
          <a:p>
            <a:r>
              <a:t>- Microsoft Copilot for Security (Generally Available April 2024):</a:t>
            </a:r>
          </a:p>
          <a:p>
            <a:r>
              <a:t>  "A GPT-4-powered security analyst. Ask it 'Summarize this incident' or 'Write a KQL query to find lateral movement' and it responds in natural language."</a:t>
            </a:r>
          </a:p>
          <a:p>
            <a:r>
              <a:t>  - Pricing: Pay-per-use ($4/security compute unit/hour)</a:t>
            </a:r>
          </a:p>
          <a:p>
            <a:r>
              <a:t>  - Integrated into Microsoft Sentinel, Defender XDR, Intune</a:t>
            </a:r>
          </a:p>
          <a:p>
            <a:r>
              <a:t>  </a:t>
            </a:r>
          </a:p>
          <a:p>
            <a:r>
              <a:t>- Google Gemini in Security Operations:</a:t>
            </a:r>
          </a:p>
          <a:p>
            <a:r>
              <a:t>  "Integrated into Chronicle SIEM. Natural language threat hunting, automated alert summarization."</a:t>
            </a:r>
          </a:p>
          <a:p>
            <a:r>
              <a:t>  </a:t>
            </a:r>
          </a:p>
          <a:p>
            <a:r>
              <a:t>- The Double-Edged Sword:</a:t>
            </a:r>
          </a:p>
          <a:p>
            <a:r>
              <a:t>  "Attackers are also using AI: WormGPT, FraudGPT for generating phishing, AI-generated deepfakes for social engineering"</a:t>
            </a:r>
          </a:p>
          <a:p>
            <a:r>
              <a:t>  "In 2024, a finance worker in Hong Kong was tricked into transferring $25M by a deepfake video call of their CFO"</a:t>
            </a:r>
          </a:p>
          <a:p/>
          <a:p>
            <a:r>
              <a:t>2. Post-Quantum Cryptography:</a:t>
            </a:r>
          </a:p>
          <a:p>
            <a:r>
              <a:t>- "THIS IS HAPPENING NOW, NOT IN THE FUTURE"</a:t>
            </a:r>
          </a:p>
          <a:p>
            <a:r>
              <a:t>- Chrome v124+ (April 2024): All HTTPS connections use ML-KEM hybrid by default</a:t>
            </a:r>
          </a:p>
          <a:p>
            <a:r>
              <a:t>- Apple iMessage PQ3 (February 2024): Post-quantum key exchange</a:t>
            </a:r>
          </a:p>
          <a:p>
            <a:r>
              <a:t>- Signal PQXDH (September 2023): Post-quantum forward secrecy</a:t>
            </a:r>
          </a:p>
          <a:p>
            <a:r>
              <a:t>- NSA CNSA 2.0: Federal systems must use PQC by 2030, some by 2025</a:t>
            </a:r>
          </a:p>
          <a:p>
            <a:r>
              <a:t>- Teaching point: "Your students who are using Chrome RIGHT NOW are already using post-quantum cryptography"</a:t>
            </a:r>
          </a:p>
          <a:p/>
          <a:p>
            <a:r>
              <a:t>3. SASE (Secure Access Service Edge):</a:t>
            </a:r>
          </a:p>
          <a:p>
            <a:r>
              <a:t>- "The death of VPN" - Replace VPN with cloud-delivered Zero Trust Network Access</a:t>
            </a:r>
          </a:p>
          <a:p>
            <a:r>
              <a:t>- Zscaler: Processes 400 billion transactions/day, 40% of Fortune 500</a:t>
            </a:r>
          </a:p>
          <a:p>
            <a:r>
              <a:t>- Architecture: All traffic goes through cloud security stack (identity -&gt; threat inspection -&gt; DLP -&gt; access)</a:t>
            </a:r>
          </a:p>
          <a:p>
            <a:r>
              <a:t>- Gartner prediction: 80% of enterprises will adopt SASE by 2026</a:t>
            </a:r>
          </a:p>
          <a:p/>
          <a:p>
            <a:r>
              <a:t>4. Identity Threat Detection &amp; Response (ITDR):</a:t>
            </a:r>
          </a:p>
          <a:p>
            <a:r>
              <a:t>- Newest Gartner security category (2023)</a:t>
            </a:r>
          </a:p>
          <a:p>
            <a:r>
              <a:t>- Why: 80% of breaches involve compromised credentials</a:t>
            </a:r>
          </a:p>
          <a:p>
            <a:r>
              <a:t>- Detects: MFA fatigue attacks, token theft, privilege escalation, impossible travel</a:t>
            </a:r>
          </a:p>
          <a:p>
            <a:r>
              <a:t>- CrowdStrike Identity Protection: Detects lateral movement attempts in real-time</a:t>
            </a:r>
          </a:p>
          <a:p>
            <a:r>
              <a:t>- "Traditional MFA is necessary but not sufficient. ITDR detects when MFA itself is being attacked."</a:t>
            </a:r>
          </a:p>
          <a:p/>
          <a:p>
            <a:r>
              <a:t>Faculty Action Items:</a:t>
            </a:r>
          </a:p>
          <a:p>
            <a:r>
              <a:t>1. Add PQC to cryptography courses IMMEDIATELY</a:t>
            </a:r>
          </a:p>
          <a:p>
            <a:r>
              <a:t>2. Add AI security (both offensive and defensive) to curriculum</a:t>
            </a:r>
          </a:p>
          <a:p>
            <a:r>
              <a:t>3. Update networking courses to include SASE/ZTNA concepts</a:t>
            </a:r>
          </a:p>
          <a:p>
            <a:r>
              <a:t>4. Add ITDR concepts to identity management coursework</a:t>
            </a:r>
          </a:p>
          <a:p>
            <a:r>
              <a:t>5. Consider eBPF-based security as an advanced topic</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Lab Overview</a:t>
            </a:r>
          </a:p>
          <a:p/>
          <a:p>
            <a:r>
              <a:t>Lab Introduction (3 minutes):</a:t>
            </a:r>
          </a:p>
          <a:p/>
          <a:p>
            <a:r>
              <a:t>Prerequisites:</a:t>
            </a:r>
          </a:p>
          <a:p>
            <a:r>
              <a:t>- Docker Desktop installed (or Docker Engine on Linux)</a:t>
            </a:r>
          </a:p>
          <a:p>
            <a:r>
              <a:t>- 8GB+ RAM recommended (Wazuh needs ~4GB)</a:t>
            </a:r>
          </a:p>
          <a:p>
            <a:r>
              <a:t>- Terminal/command line access</a:t>
            </a:r>
          </a:p>
          <a:p>
            <a:r>
              <a:t>- Web browser (for Keycloak UI and Wazuh dashboard)</a:t>
            </a:r>
          </a:p>
          <a:p/>
          <a:p>
            <a:r>
              <a:t>Architecture:</a:t>
            </a:r>
          </a:p>
          <a:p>
            <a:r>
              <a:t>"We're going to build a complete Zero Trust stack from scratch using open-source tools. These are the same tools used in production by enterprises."</a:t>
            </a:r>
          </a:p>
          <a:p/>
          <a:p>
            <a:r>
              <a:t>1. Keycloak (Identity Provider):</a:t>
            </a:r>
          </a:p>
          <a:p>
            <a:r>
              <a:t>- Open-source IAM by Red Hat (CNCF project since 2023)</a:t>
            </a:r>
          </a:p>
          <a:p>
            <a:r>
              <a:t>- Used by: Government agencies, universities, enterprises as an alternative to Okta/Auth0</a:t>
            </a:r>
          </a:p>
          <a:p>
            <a:r>
              <a:t>- We'll configure: OIDC client, user roles, MFA</a:t>
            </a:r>
          </a:p>
          <a:p/>
          <a:p>
            <a:r>
              <a:t>2. Open Policy Agent (OPA):</a:t>
            </a:r>
          </a:p>
          <a:p>
            <a:r>
              <a:t>- CNCF graduated project - the standard for policy as code</a:t>
            </a:r>
          </a:p>
          <a:p>
            <a:r>
              <a:t>- Used by: Netflix, Goldman Sachs, Intuit, T-Mobile</a:t>
            </a:r>
          </a:p>
          <a:p>
            <a:r>
              <a:t>- Rego language for writing policies - declarative, easy to audit</a:t>
            </a:r>
          </a:p>
          <a:p/>
          <a:p>
            <a:r>
              <a:t>3. Docker Network Segmentation:</a:t>
            </a:r>
          </a:p>
          <a:p>
            <a:r>
              <a:t>- Simulates micro-segmentation in a containerized environment</a:t>
            </a:r>
          </a:p>
          <a:p>
            <a:r>
              <a:t>- Same concepts apply to Kubernetes NetworkPolicy and production environments</a:t>
            </a:r>
          </a:p>
          <a:p>
            <a:r>
              <a:t>- We'll create isolated segments and explicit allow rules</a:t>
            </a:r>
          </a:p>
          <a:p/>
          <a:p>
            <a:r>
              <a:t>4. Wazuh SIEM:</a:t>
            </a:r>
          </a:p>
          <a:p>
            <a:r>
              <a:t>- Open-source security monitoring platform (10M+ installations)</a:t>
            </a:r>
          </a:p>
          <a:p>
            <a:r>
              <a:t>- Includes: Log collection, intrusion detection, vulnerability detection, compliance monitoring</a:t>
            </a:r>
          </a:p>
          <a:p>
            <a:r>
              <a:t>- Used by: NASA, Siemens, many universities and government agencies</a:t>
            </a:r>
          </a:p>
          <a:p/>
          <a:p>
            <a:r>
              <a:t>5. Red/Blue Team Exercise:</a:t>
            </a:r>
          </a:p>
          <a:p>
            <a:r>
              <a:t>- Capstone exercise that ties everything together</a:t>
            </a:r>
          </a:p>
          <a:p>
            <a:r>
              <a:t>- Red team: Use provided attack scripts to compromise a vulnerable application</a:t>
            </a:r>
          </a:p>
          <a:p>
            <a:r>
              <a:t>- Blue team: Detect attacks using Wazuh SIEM and respond</a:t>
            </a:r>
          </a:p>
          <a:p/>
          <a:p>
            <a:r>
              <a:t>Lab Tips:</a:t>
            </a:r>
          </a:p>
          <a:p>
            <a:r>
              <a:t>- "All lab materials are in the provided zip file / GitHub repository"</a:t>
            </a:r>
          </a:p>
          <a:p>
            <a:r>
              <a:t>- "If you get stuck, the step-by-step instructions have troubleshooting sections"</a:t>
            </a:r>
          </a:p>
          <a:p>
            <a:r>
              <a:t>- "We'll do a brief demo of each lab before you start working on it"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Key Takeaways</a:t>
            </a:r>
          </a:p>
          <a:p/>
          <a:p>
            <a:r>
              <a:t>Summary &amp; Call to Action (3 minutes):</a:t>
            </a:r>
          </a:p>
          <a:p/>
          <a:p>
            <a:r>
              <a:t>1. Zero Trust as Baseline:</a:t>
            </a:r>
          </a:p>
          <a:p>
            <a:r>
              <a:t>- "If there's one thing you take away from today: stop teaching perimeter security as the primary defense model."</a:t>
            </a:r>
          </a:p>
          <a:p>
            <a:r>
              <a:t>- Every new course should assume Zero Trust principles</a:t>
            </a:r>
          </a:p>
          <a:p>
            <a:r>
              <a:t>- Update network security courses to cover ZTNA, micro-segmentation, identity-centric access</a:t>
            </a:r>
          </a:p>
          <a:p>
            <a:r>
              <a:t>- Reference: NIST SP 800-207, CISA Zero Trust Maturity Model</a:t>
            </a:r>
          </a:p>
          <a:p/>
          <a:p>
            <a:r>
              <a:t>2. Post-Quantum Cryptography:</a:t>
            </a:r>
          </a:p>
          <a:p>
            <a:r>
              <a:t>- "This is urgent. Your current cryptography courses are teaching algorithms that will be broken."</a:t>
            </a:r>
          </a:p>
          <a:p>
            <a:r>
              <a:t>- Add ML-KEM and ML-DSA to your curriculum</a:t>
            </a:r>
          </a:p>
          <a:p>
            <a:r>
              <a:t>- Use liboqs (Open Quantum Safe) for hands-on PQC exercises</a:t>
            </a:r>
          </a:p>
          <a:p>
            <a:r>
              <a:t>- Discuss the Y2Q timeline and "Harvest Now, Decrypt Later" threat</a:t>
            </a:r>
          </a:p>
          <a:p>
            <a:r>
              <a:t>- Reference: NIST FIPS 203, 204, 205</a:t>
            </a:r>
          </a:p>
          <a:p/>
          <a:p>
            <a:r>
              <a:t>3. Hands-On Labs:</a:t>
            </a:r>
          </a:p>
          <a:p>
            <a:r>
              <a:t>- "Theory without practice is forgotten. Practice without theory is dangerous."</a:t>
            </a:r>
          </a:p>
          <a:p>
            <a:r>
              <a:t>- All tools used today are open-source and free</a:t>
            </a:r>
          </a:p>
          <a:p>
            <a:r>
              <a:t>- Docker makes it easy to distribute lab environments</a:t>
            </a:r>
          </a:p>
          <a:p>
            <a:r>
              <a:t>- Consider using these labs as assignments in your courses</a:t>
            </a:r>
          </a:p>
          <a:p>
            <a:r>
              <a:t>- Students should be able to set up a basic Zero Trust environment</a:t>
            </a:r>
          </a:p>
          <a:p/>
          <a:p>
            <a:r>
              <a:t>4. Industry Bridge:</a:t>
            </a:r>
          </a:p>
          <a:p>
            <a:r>
              <a:t>- "Your students' future employers expect them to understand these concepts"</a:t>
            </a:r>
          </a:p>
          <a:p>
            <a:r>
              <a:t>- MITRE ATT&amp;CK should be in every security course</a:t>
            </a:r>
          </a:p>
          <a:p>
            <a:r>
              <a:t>- Red/Blue team exercises teach critical thinking</a:t>
            </a:r>
          </a:p>
          <a:p>
            <a:r>
              <a:t>- Certifications to recommend: CompTIA Security+, CKS, CISSP, OSCP</a:t>
            </a:r>
          </a:p>
          <a:p/>
          <a:p>
            <a:r>
              <a:t>Resources to Share with Faculty:</a:t>
            </a:r>
          </a:p>
          <a:p>
            <a:r>
              <a:t>1. NIST SP 800-207: https://csrc.nist.gov/publications/detail/sp/800-207/final</a:t>
            </a:r>
          </a:p>
          <a:p>
            <a:r>
              <a:t>2. NIST PQC Standards: https://csrc.nist.gov/projects/post-quantum-cryptography</a:t>
            </a:r>
          </a:p>
          <a:p>
            <a:r>
              <a:t>3. MITRE ATT&amp;CK: https://attack.mitre.org/</a:t>
            </a:r>
          </a:p>
          <a:p>
            <a:r>
              <a:t>4. CISA ZT Maturity Model: https://www.cisa.gov/zero-trust-maturity-model</a:t>
            </a:r>
          </a:p>
          <a:p>
            <a:r>
              <a:t>5. Open Policy Agent: https://www.openpolicyagent.org/</a:t>
            </a:r>
          </a:p>
          <a:p>
            <a:r>
              <a:t>6. Keycloak: https://www.keycloak.org/</a:t>
            </a:r>
          </a:p>
          <a:p>
            <a:r>
              <a:t>7. Wazuh: https://wazuh.com/</a:t>
            </a:r>
          </a:p>
          <a:p>
            <a:r>
              <a:t>8. Atomic Red Team: https://github.com/redcanaryco/atomic-red-team</a:t>
            </a:r>
          </a:p>
          <a:p/>
          <a:p>
            <a:r>
              <a:t>Thank the faculty for their time and encourage them to reach out for further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Closing</a:t>
            </a:r>
          </a:p>
          <a:p/>
          <a:p>
            <a:r>
              <a:t>Closing Remarks (2 minutes):</a:t>
            </a:r>
          </a:p>
          <a:p/>
          <a:p>
            <a:r>
              <a:t>Thank the faculty for their engagement and attention.</a:t>
            </a:r>
          </a:p>
          <a:p/>
          <a:p>
            <a:r>
              <a:t>Key Messages:</a:t>
            </a:r>
          </a:p>
          <a:p>
            <a:r>
              <a:t>1. "Zero Trust is not just a buzzword - it's the new reality of cybersecurity. Your students need to understand it."</a:t>
            </a:r>
          </a:p>
          <a:p>
            <a:r>
              <a:t>2. "Post-quantum cryptography is happening NOW - update your courses."</a:t>
            </a:r>
          </a:p>
          <a:p>
            <a:r>
              <a:t>3. "Hands-on labs are the best way to learn security. Use the materials from today."</a:t>
            </a:r>
          </a:p>
          <a:p>
            <a:r>
              <a:t>4. "The industry needs 4 million more cybersecurity professionals. Your students are the solution."</a:t>
            </a:r>
          </a:p>
          <a:p/>
          <a:p>
            <a:r>
              <a:t>Now transition to the 2-hour lab session:</a:t>
            </a:r>
          </a:p>
          <a:p>
            <a:r>
              <a:t>- "Let's take a 5-minute break, and then we'll start the hands-on lab."</a:t>
            </a:r>
          </a:p>
          <a:p>
            <a:r>
              <a:t>- "Make sure Docker is running on your machines."</a:t>
            </a:r>
          </a:p>
          <a:p>
            <a:r>
              <a:t>- "Open the lab instructions document."</a:t>
            </a:r>
          </a:p>
          <a:p>
            <a:r>
              <a:t>- "We'll work through each lab together, with me demonstrating first and then you following along."</a:t>
            </a:r>
          </a:p>
          <a:p/>
          <a:p>
            <a:r>
              <a:t>Encourage continued engagement:</a:t>
            </a:r>
          </a:p>
          <a:p>
            <a:r>
              <a:t>- Share the lab materials with colleagues</a:t>
            </a:r>
          </a:p>
          <a:p>
            <a:r>
              <a:t>- Integrate these concepts into their courses</a:t>
            </a:r>
          </a:p>
          <a:p>
            <a:r>
              <a:t>- Reach out for any follow-up questions or collaboration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38912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12191695" cy="54864"/>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1097280"/>
          </a:xfrm>
          <a:prstGeom prst="rect">
            <a:avLst/>
          </a:prstGeom>
          <a:noFill/>
        </p:spPr>
        <p:txBody>
          <a:bodyPr wrap="square">
            <a:spAutoFit/>
          </a:bodyPr>
          <a:lstStyle/>
          <a:p>
            <a:pPr algn="l">
              <a:defRPr sz="4000" b="1">
                <a:solidFill>
                  <a:srgbClr val="FFFFFF"/>
                </a:solidFill>
                <a:latin typeface="Calibri"/>
              </a:defRPr>
            </a:pPr>
            <a:r>
              <a:t>Cybersecurity &amp; Zero Trust Architecture</a:t>
            </a:r>
          </a:p>
        </p:txBody>
      </p:sp>
      <p:sp>
        <p:nvSpPr>
          <p:cNvPr id="5" name="TextBox 4"/>
          <p:cNvSpPr txBox="1"/>
          <p:nvPr/>
        </p:nvSpPr>
        <p:spPr>
          <a:xfrm>
            <a:off x="914400" y="2286000"/>
            <a:ext cx="10058400" cy="548640"/>
          </a:xfrm>
          <a:prstGeom prst="rect">
            <a:avLst/>
          </a:prstGeom>
          <a:noFill/>
        </p:spPr>
        <p:txBody>
          <a:bodyPr wrap="square">
            <a:spAutoFit/>
          </a:bodyPr>
          <a:lstStyle/>
          <a:p>
            <a:pPr algn="l">
              <a:defRPr sz="2200" b="0">
                <a:solidFill>
                  <a:srgbClr val="B0D0F0"/>
                </a:solidFill>
                <a:latin typeface="Calibri"/>
              </a:defRPr>
            </a:pPr>
            <a:r>
              <a:t>From Perimeter Defense to Zero Trust: Securing the Modern Enterprise</a:t>
            </a:r>
          </a:p>
        </p:txBody>
      </p:sp>
      <p:sp>
        <p:nvSpPr>
          <p:cNvPr id="6" name="TextBox 5"/>
          <p:cNvSpPr txBox="1"/>
          <p:nvPr/>
        </p:nvSpPr>
        <p:spPr>
          <a:xfrm>
            <a:off x="914400" y="3200400"/>
            <a:ext cx="10058400" cy="914400"/>
          </a:xfrm>
          <a:prstGeom prst="rect">
            <a:avLst/>
          </a:prstGeom>
          <a:noFill/>
        </p:spPr>
        <p:txBody>
          <a:bodyPr wrap="square">
            <a:spAutoFit/>
          </a:bodyPr>
          <a:lstStyle/>
          <a:p>
            <a:pPr algn="l">
              <a:defRPr sz="1600" b="0">
                <a:solidFill>
                  <a:srgbClr val="90B8E0"/>
                </a:solidFill>
                <a:latin typeface="Calibri"/>
              </a:defRPr>
            </a:pPr>
            <a:r>
              <a:t>Industry Connect Program | Faculty Development Workshop</a:t>
            </a:r>
            <a:br/>
            <a:r>
              <a:t>Lecture: 1 Hour | Hands-On Lab: 2 Hours</a:t>
            </a:r>
          </a:p>
        </p:txBody>
      </p:sp>
      <p:sp>
        <p:nvSpPr>
          <p:cNvPr id="7" name="TextBox 6"/>
          <p:cNvSpPr txBox="1"/>
          <p:nvPr/>
        </p:nvSpPr>
        <p:spPr>
          <a:xfrm>
            <a:off x="914400" y="4754880"/>
            <a:ext cx="10058400" cy="731520"/>
          </a:xfrm>
          <a:prstGeom prst="rect">
            <a:avLst/>
          </a:prstGeom>
          <a:noFill/>
        </p:spPr>
        <p:txBody>
          <a:bodyPr wrap="square">
            <a:spAutoFit/>
          </a:bodyPr>
          <a:lstStyle/>
          <a:p>
            <a:pPr algn="l">
              <a:defRPr sz="1400" b="0">
                <a:solidFill>
                  <a:srgbClr val="444444"/>
                </a:solidFill>
                <a:latin typeface="Calibri"/>
              </a:defRPr>
            </a:pPr>
            <a:r>
              <a:t>Topics: Zero Trust Architecture | Modern IAM | Micro-segmentation | SOC Operations</a:t>
            </a:r>
            <a:br/>
            <a:r>
              <a:t>Threat Intelligence | Post-Quantum Cryptography | Red Team/Blue Team Exercises</a:t>
            </a:r>
          </a:p>
        </p:txBody>
      </p:sp>
      <p:sp>
        <p:nvSpPr>
          <p:cNvPr id="8" name="TextBox 7"/>
          <p:cNvSpPr txBox="1"/>
          <p:nvPr/>
        </p:nvSpPr>
        <p:spPr>
          <a:xfrm>
            <a:off x="914400" y="5760720"/>
            <a:ext cx="4572000" cy="457200"/>
          </a:xfrm>
          <a:prstGeom prst="rect">
            <a:avLst/>
          </a:prstGeom>
          <a:noFill/>
        </p:spPr>
        <p:txBody>
          <a:bodyPr wrap="square">
            <a:spAutoFit/>
          </a:bodyPr>
          <a:lstStyle/>
          <a:p>
            <a:pPr algn="l">
              <a:defRPr sz="1200" b="0">
                <a:solidFill>
                  <a:srgbClr val="6C6C6C"/>
                </a:solidFill>
                <a:latin typeface="Calibri"/>
              </a:defRPr>
            </a:pPr>
            <a:r>
              <a:t>July 2025 | Version 2.0</a:t>
            </a:r>
          </a:p>
        </p:txBody>
      </p:sp>
      <p:sp>
        <p:nvSpPr>
          <p:cNvPr id="9" name="Rectangle 8"/>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11" name="TextBox 10"/>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 /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972800" cy="731520"/>
          </a:xfrm>
          <a:prstGeom prst="rect">
            <a:avLst/>
          </a:prstGeom>
          <a:noFill/>
        </p:spPr>
        <p:txBody>
          <a:bodyPr wrap="square">
            <a:spAutoFit/>
          </a:bodyPr>
          <a:lstStyle/>
          <a:p>
            <a:pPr algn="l">
              <a:defRPr sz="3200" b="1">
                <a:solidFill>
                  <a:srgbClr val="003B64"/>
                </a:solidFill>
                <a:latin typeface="Calibri"/>
              </a:defRPr>
            </a:pPr>
            <a:r>
              <a:t>Session Agenda</a:t>
            </a:r>
          </a:p>
        </p:txBody>
      </p:sp>
      <p:sp>
        <p:nvSpPr>
          <p:cNvPr id="5" name="Rounded Rectangle 4"/>
          <p:cNvSpPr/>
          <p:nvPr/>
        </p:nvSpPr>
        <p:spPr>
          <a:xfrm>
            <a:off x="457200" y="1371600"/>
            <a:ext cx="5303520" cy="484632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4754880" cy="457200"/>
          </a:xfrm>
          <a:prstGeom prst="rect">
            <a:avLst/>
          </a:prstGeom>
          <a:noFill/>
        </p:spPr>
        <p:txBody>
          <a:bodyPr wrap="square">
            <a:spAutoFit/>
          </a:bodyPr>
          <a:lstStyle/>
          <a:p>
            <a:pPr algn="l">
              <a:defRPr sz="1800" b="1">
                <a:solidFill>
                  <a:srgbClr val="0076CE"/>
                </a:solidFill>
                <a:latin typeface="Calibri"/>
              </a:defRPr>
            </a:pPr>
            <a:r>
              <a:t>LECTURE (60 Minutes)</a:t>
            </a:r>
          </a:p>
        </p:txBody>
      </p:sp>
      <p:sp>
        <p:nvSpPr>
          <p:cNvPr id="7" name="TextBox 6"/>
          <p:cNvSpPr txBox="1"/>
          <p:nvPr/>
        </p:nvSpPr>
        <p:spPr>
          <a:xfrm>
            <a:off x="731520" y="2011680"/>
            <a:ext cx="4754880" cy="4114800"/>
          </a:xfrm>
          <a:prstGeom prst="rect">
            <a:avLst/>
          </a:prstGeom>
          <a:noFill/>
        </p:spPr>
        <p:txBody>
          <a:bodyPr wrap="square">
            <a:spAutoFit/>
          </a:bodyPr>
          <a:lstStyle/>
          <a:p>
            <a:pPr>
              <a:spcAft>
                <a:spcPts val="600"/>
              </a:spcAft>
              <a:defRPr sz="1300">
                <a:solidFill>
                  <a:srgbClr val="444444"/>
                </a:solidFill>
                <a:latin typeface="Calibri"/>
              </a:defRPr>
            </a:pPr>
            <a:r>
              <a:t>• Why Zero Trust? The Death of Perimeter Security (10 min)</a:t>
            </a:r>
          </a:p>
          <a:p>
            <a:pPr>
              <a:spcAft>
                <a:spcPts val="600"/>
              </a:spcAft>
              <a:defRPr sz="1300">
                <a:solidFill>
                  <a:srgbClr val="444444"/>
                </a:solidFill>
                <a:latin typeface="Calibri"/>
              </a:defRPr>
            </a:pPr>
            <a:r>
              <a:t>• Zero Trust Architecture Deep Dive (12 min)</a:t>
            </a:r>
          </a:p>
          <a:p>
            <a:pPr>
              <a:spcAft>
                <a:spcPts val="600"/>
              </a:spcAft>
              <a:defRPr sz="1300">
                <a:solidFill>
                  <a:srgbClr val="444444"/>
                </a:solidFill>
                <a:latin typeface="Calibri"/>
              </a:defRPr>
            </a:pPr>
            <a:r>
              <a:t>• Modern IAM: Beyond Passwords (10 min)</a:t>
            </a:r>
          </a:p>
          <a:p>
            <a:pPr>
              <a:spcAft>
                <a:spcPts val="600"/>
              </a:spcAft>
              <a:defRPr sz="1300">
                <a:solidFill>
                  <a:srgbClr val="444444"/>
                </a:solidFill>
                <a:latin typeface="Calibri"/>
              </a:defRPr>
            </a:pPr>
            <a:r>
              <a:t>• Micro-segmentation in Practice (8 min)</a:t>
            </a:r>
          </a:p>
          <a:p>
            <a:pPr>
              <a:spcAft>
                <a:spcPts val="600"/>
              </a:spcAft>
              <a:defRPr sz="1300">
                <a:solidFill>
                  <a:srgbClr val="444444"/>
                </a:solidFill>
                <a:latin typeface="Calibri"/>
              </a:defRPr>
            </a:pPr>
            <a:r>
              <a:t>• SOC Operations &amp; Threat Intelligence (8 min)</a:t>
            </a:r>
          </a:p>
          <a:p>
            <a:pPr>
              <a:spcAft>
                <a:spcPts val="600"/>
              </a:spcAft>
              <a:defRPr sz="1300">
                <a:solidFill>
                  <a:srgbClr val="444444"/>
                </a:solidFill>
                <a:latin typeface="Calibri"/>
              </a:defRPr>
            </a:pPr>
            <a:r>
              <a:t>• Post-Quantum Cryptography (7 min)</a:t>
            </a:r>
          </a:p>
          <a:p>
            <a:pPr>
              <a:spcAft>
                <a:spcPts val="600"/>
              </a:spcAft>
              <a:defRPr sz="1300">
                <a:solidFill>
                  <a:srgbClr val="444444"/>
                </a:solidFill>
                <a:latin typeface="Calibri"/>
              </a:defRPr>
            </a:pPr>
            <a:r>
              <a:t>• Red Team/Blue Team: Industry Practices (5 min)</a:t>
            </a:r>
          </a:p>
        </p:txBody>
      </p:sp>
      <p:sp>
        <p:nvSpPr>
          <p:cNvPr id="8" name="Rounded Rectangle 7"/>
          <p:cNvSpPr/>
          <p:nvPr/>
        </p:nvSpPr>
        <p:spPr>
          <a:xfrm>
            <a:off x="6217920" y="1371600"/>
            <a:ext cx="5303520" cy="4846320"/>
          </a:xfrm>
          <a:prstGeom prst="roundRect">
            <a:avLst/>
          </a:prstGeom>
          <a:solidFill>
            <a:srgbClr val="E0F0FF"/>
          </a:solidFill>
          <a:ln w="19050">
            <a:solidFill>
              <a:srgbClr val="00B2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4754880" cy="457200"/>
          </a:xfrm>
          <a:prstGeom prst="rect">
            <a:avLst/>
          </a:prstGeom>
          <a:noFill/>
        </p:spPr>
        <p:txBody>
          <a:bodyPr wrap="square">
            <a:spAutoFit/>
          </a:bodyPr>
          <a:lstStyle/>
          <a:p>
            <a:pPr algn="l">
              <a:defRPr sz="1800" b="1">
                <a:solidFill>
                  <a:srgbClr val="00B2A9"/>
                </a:solidFill>
                <a:latin typeface="Calibri"/>
              </a:defRPr>
            </a:pPr>
            <a:r>
              <a:t>HANDS-ON LAB (120 Minutes)</a:t>
            </a:r>
          </a:p>
        </p:txBody>
      </p:sp>
      <p:sp>
        <p:nvSpPr>
          <p:cNvPr id="10" name="TextBox 9"/>
          <p:cNvSpPr txBox="1"/>
          <p:nvPr/>
        </p:nvSpPr>
        <p:spPr>
          <a:xfrm>
            <a:off x="6492240" y="2011680"/>
            <a:ext cx="4754880" cy="4114800"/>
          </a:xfrm>
          <a:prstGeom prst="rect">
            <a:avLst/>
          </a:prstGeom>
          <a:noFill/>
        </p:spPr>
        <p:txBody>
          <a:bodyPr wrap="square">
            <a:spAutoFit/>
          </a:bodyPr>
          <a:lstStyle/>
          <a:p>
            <a:pPr>
              <a:spcAft>
                <a:spcPts val="600"/>
              </a:spcAft>
              <a:defRPr sz="1300">
                <a:solidFill>
                  <a:srgbClr val="444444"/>
                </a:solidFill>
                <a:latin typeface="Calibri"/>
              </a:defRPr>
            </a:pPr>
            <a:r>
              <a:t>• Lab Setup: Docker-based Zero Trust Environment (15 min)</a:t>
            </a:r>
          </a:p>
          <a:p>
            <a:pPr>
              <a:spcAft>
                <a:spcPts val="600"/>
              </a:spcAft>
              <a:defRPr sz="1300">
                <a:solidFill>
                  <a:srgbClr val="444444"/>
                </a:solidFill>
                <a:latin typeface="Calibri"/>
              </a:defRPr>
            </a:pPr>
            <a:r>
              <a:t>• Lab 1: OIDC/OAuth2 Identity Provider Setup (20 min)</a:t>
            </a:r>
          </a:p>
          <a:p>
            <a:pPr>
              <a:spcAft>
                <a:spcPts val="600"/>
              </a:spcAft>
              <a:defRPr sz="1300">
                <a:solidFill>
                  <a:srgbClr val="444444"/>
                </a:solidFill>
                <a:latin typeface="Calibri"/>
              </a:defRPr>
            </a:pPr>
            <a:r>
              <a:t>• Lab 2: Policy-Based Access with OPA (20 min)</a:t>
            </a:r>
          </a:p>
          <a:p>
            <a:pPr>
              <a:spcAft>
                <a:spcPts val="600"/>
              </a:spcAft>
              <a:defRPr sz="1300">
                <a:solidFill>
                  <a:srgbClr val="444444"/>
                </a:solidFill>
                <a:latin typeface="Calibri"/>
              </a:defRPr>
            </a:pPr>
            <a:r>
              <a:t>• Lab 3: Network Micro-segmentation (20 min)</a:t>
            </a:r>
          </a:p>
          <a:p>
            <a:pPr>
              <a:spcAft>
                <a:spcPts val="600"/>
              </a:spcAft>
              <a:defRPr sz="1300">
                <a:solidFill>
                  <a:srgbClr val="444444"/>
                </a:solidFill>
                <a:latin typeface="Calibri"/>
              </a:defRPr>
            </a:pPr>
            <a:r>
              <a:t>• Lab 4: SOC Simulation with Wazuh SIEM (20 min)</a:t>
            </a:r>
          </a:p>
          <a:p>
            <a:pPr>
              <a:spcAft>
                <a:spcPts val="600"/>
              </a:spcAft>
              <a:defRPr sz="1300">
                <a:solidFill>
                  <a:srgbClr val="444444"/>
                </a:solidFill>
                <a:latin typeface="Calibri"/>
              </a:defRPr>
            </a:pPr>
            <a:r>
              <a:t>• Lab 5: Red Team/Blue Team Exercise (20 min)</a:t>
            </a:r>
          </a:p>
          <a:p>
            <a:pPr>
              <a:spcAft>
                <a:spcPts val="600"/>
              </a:spcAft>
              <a:defRPr sz="1300">
                <a:solidFill>
                  <a:srgbClr val="444444"/>
                </a:solidFill>
                <a:latin typeface="Calibri"/>
              </a:defRPr>
            </a:pPr>
            <a:r>
              <a:t>• Wrap-up &amp; Discussion (5 min)</a:t>
            </a:r>
          </a:p>
        </p:txBody>
      </p:sp>
      <p:sp>
        <p:nvSpPr>
          <p:cNvPr id="11" name="Rectangle 10"/>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13" name="TextBox 12"/>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1: WHY ZERO TRUST?</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3000" b="1">
                <a:solidFill>
                  <a:srgbClr val="003B64"/>
                </a:solidFill>
                <a:latin typeface="Calibri"/>
              </a:defRPr>
            </a:pPr>
            <a:r>
              <a:t>The Death of Perimeter Security</a:t>
            </a:r>
          </a:p>
        </p:txBody>
      </p:sp>
      <p:sp>
        <p:nvSpPr>
          <p:cNvPr id="6" name="Rounded Rectangle 5"/>
          <p:cNvSpPr/>
          <p:nvPr/>
        </p:nvSpPr>
        <p:spPr>
          <a:xfrm>
            <a:off x="457200" y="1737360"/>
            <a:ext cx="5303520" cy="4389120"/>
          </a:xfrm>
          <a:prstGeom prst="roundRect">
            <a:avLst/>
          </a:prstGeom>
          <a:solidFill>
            <a:srgbClr val="FFF0F0"/>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4754880" cy="365760"/>
          </a:xfrm>
          <a:prstGeom prst="rect">
            <a:avLst/>
          </a:prstGeom>
          <a:noFill/>
        </p:spPr>
        <p:txBody>
          <a:bodyPr wrap="square">
            <a:spAutoFit/>
          </a:bodyPr>
          <a:lstStyle/>
          <a:p>
            <a:pPr algn="l">
              <a:defRPr sz="1600" b="1">
                <a:solidFill>
                  <a:srgbClr val="E03C31"/>
                </a:solidFill>
                <a:latin typeface="Calibri"/>
              </a:defRPr>
            </a:pPr>
            <a:r>
              <a:t>Traditional Perimeter Security (Castle &amp; Moat)</a:t>
            </a:r>
          </a:p>
        </p:txBody>
      </p:sp>
      <p:sp>
        <p:nvSpPr>
          <p:cNvPr id="8" name="TextBox 7"/>
          <p:cNvSpPr txBox="1"/>
          <p:nvPr/>
        </p:nvSpPr>
        <p:spPr>
          <a:xfrm>
            <a:off x="731520" y="2286000"/>
            <a:ext cx="4754880" cy="3657600"/>
          </a:xfrm>
          <a:prstGeom prst="rect">
            <a:avLst/>
          </a:prstGeom>
          <a:noFill/>
        </p:spPr>
        <p:txBody>
          <a:bodyPr wrap="square">
            <a:spAutoFit/>
          </a:bodyPr>
          <a:lstStyle/>
          <a:p>
            <a:pPr>
              <a:spcAft>
                <a:spcPts val="800"/>
              </a:spcAft>
              <a:defRPr sz="1300">
                <a:solidFill>
                  <a:srgbClr val="444444"/>
                </a:solidFill>
                <a:latin typeface="Calibri"/>
              </a:defRPr>
            </a:pPr>
            <a:r>
              <a:t>✘ Trust everything inside the network perimeter</a:t>
            </a:r>
          </a:p>
          <a:p>
            <a:pPr>
              <a:spcAft>
                <a:spcPts val="800"/>
              </a:spcAft>
              <a:defRPr sz="1300">
                <a:solidFill>
                  <a:srgbClr val="444444"/>
                </a:solidFill>
                <a:latin typeface="Calibri"/>
              </a:defRPr>
            </a:pPr>
            <a:r>
              <a:t>✘ Firewalls as the primary defense boundary</a:t>
            </a:r>
          </a:p>
          <a:p>
            <a:pPr>
              <a:spcAft>
                <a:spcPts val="800"/>
              </a:spcAft>
              <a:defRPr sz="1300">
                <a:solidFill>
                  <a:srgbClr val="444444"/>
                </a:solidFill>
                <a:latin typeface="Calibri"/>
              </a:defRPr>
            </a:pPr>
            <a:r>
              <a:t>✘ VPN = Trusted access (flat network inside)</a:t>
            </a:r>
          </a:p>
          <a:p>
            <a:pPr>
              <a:spcAft>
                <a:spcPts val="800"/>
              </a:spcAft>
              <a:defRPr sz="1300">
                <a:solidFill>
                  <a:srgbClr val="444444"/>
                </a:solidFill>
                <a:latin typeface="Calibri"/>
              </a:defRPr>
            </a:pPr>
            <a:r>
              <a:t>✘ Once authenticated, full lateral movement possible</a:t>
            </a:r>
          </a:p>
          <a:p>
            <a:pPr>
              <a:spcAft>
                <a:spcPts val="800"/>
              </a:spcAft>
              <a:defRPr sz="1300">
                <a:solidFill>
                  <a:srgbClr val="444444"/>
                </a:solidFill>
                <a:latin typeface="Calibri"/>
              </a:defRPr>
            </a:pPr>
            <a:r>
              <a:t>✘ Assumes internal network is safe</a:t>
            </a:r>
          </a:p>
          <a:p>
            <a:pPr>
              <a:spcAft>
                <a:spcPts val="800"/>
              </a:spcAft>
              <a:defRPr sz="1300">
                <a:solidFill>
                  <a:srgbClr val="444444"/>
                </a:solidFill>
                <a:latin typeface="Calibri"/>
              </a:defRPr>
            </a:pPr>
            <a:r>
              <a:t>✘ Static security policies, infrequent updates</a:t>
            </a:r>
          </a:p>
        </p:txBody>
      </p:sp>
      <p:sp>
        <p:nvSpPr>
          <p:cNvPr id="9" name="Rounded Rectangle 8"/>
          <p:cNvSpPr/>
          <p:nvPr/>
        </p:nvSpPr>
        <p:spPr>
          <a:xfrm>
            <a:off x="6217920" y="1737360"/>
            <a:ext cx="5303520" cy="4389120"/>
          </a:xfrm>
          <a:prstGeom prst="roundRect">
            <a:avLst/>
          </a:prstGeom>
          <a:solidFill>
            <a:srgbClr val="F0FFF0"/>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28800"/>
            <a:ext cx="4754880" cy="365760"/>
          </a:xfrm>
          <a:prstGeom prst="rect">
            <a:avLst/>
          </a:prstGeom>
          <a:noFill/>
        </p:spPr>
        <p:txBody>
          <a:bodyPr wrap="square">
            <a:spAutoFit/>
          </a:bodyPr>
          <a:lstStyle/>
          <a:p>
            <a:pPr algn="l">
              <a:defRPr sz="1600" b="1">
                <a:solidFill>
                  <a:srgbClr val="2E8B57"/>
                </a:solidFill>
                <a:latin typeface="Calibri"/>
              </a:defRPr>
            </a:pPr>
            <a:r>
              <a:t>Zero Trust Architecture (Never Trust, Always Verify)</a:t>
            </a:r>
          </a:p>
        </p:txBody>
      </p:sp>
      <p:sp>
        <p:nvSpPr>
          <p:cNvPr id="11" name="TextBox 10"/>
          <p:cNvSpPr txBox="1"/>
          <p:nvPr/>
        </p:nvSpPr>
        <p:spPr>
          <a:xfrm>
            <a:off x="6492240" y="2286000"/>
            <a:ext cx="4754880" cy="3657600"/>
          </a:xfrm>
          <a:prstGeom prst="rect">
            <a:avLst/>
          </a:prstGeom>
          <a:noFill/>
        </p:spPr>
        <p:txBody>
          <a:bodyPr wrap="square">
            <a:spAutoFit/>
          </a:bodyPr>
          <a:lstStyle/>
          <a:p>
            <a:pPr>
              <a:spcAft>
                <a:spcPts val="800"/>
              </a:spcAft>
              <a:defRPr sz="1300">
                <a:solidFill>
                  <a:srgbClr val="444444"/>
                </a:solidFill>
                <a:latin typeface="Calibri"/>
              </a:defRPr>
            </a:pPr>
            <a:r>
              <a:t>✔ Verify every request, regardless of origin</a:t>
            </a:r>
          </a:p>
          <a:p>
            <a:pPr>
              <a:spcAft>
                <a:spcPts val="800"/>
              </a:spcAft>
              <a:defRPr sz="1300">
                <a:solidFill>
                  <a:srgbClr val="444444"/>
                </a:solidFill>
                <a:latin typeface="Calibri"/>
              </a:defRPr>
            </a:pPr>
            <a:r>
              <a:t>✔ Identity-centric security (not network location)</a:t>
            </a:r>
          </a:p>
          <a:p>
            <a:pPr>
              <a:spcAft>
                <a:spcPts val="800"/>
              </a:spcAft>
              <a:defRPr sz="1300">
                <a:solidFill>
                  <a:srgbClr val="444444"/>
                </a:solidFill>
                <a:latin typeface="Calibri"/>
              </a:defRPr>
            </a:pPr>
            <a:r>
              <a:t>✔ Least privilege access for every session</a:t>
            </a:r>
          </a:p>
          <a:p>
            <a:pPr>
              <a:spcAft>
                <a:spcPts val="800"/>
              </a:spcAft>
              <a:defRPr sz="1300">
                <a:solidFill>
                  <a:srgbClr val="444444"/>
                </a:solidFill>
                <a:latin typeface="Calibri"/>
              </a:defRPr>
            </a:pPr>
            <a:r>
              <a:t>✔ Continuous validation &amp; real-time risk assessment</a:t>
            </a:r>
          </a:p>
          <a:p>
            <a:pPr>
              <a:spcAft>
                <a:spcPts val="800"/>
              </a:spcAft>
              <a:defRPr sz="1300">
                <a:solidFill>
                  <a:srgbClr val="444444"/>
                </a:solidFill>
                <a:latin typeface="Calibri"/>
              </a:defRPr>
            </a:pPr>
            <a:r>
              <a:t>✔ Micro-segmented networks, no lateral movement</a:t>
            </a:r>
          </a:p>
          <a:p>
            <a:pPr>
              <a:spcAft>
                <a:spcPts val="800"/>
              </a:spcAft>
              <a:defRPr sz="1300">
                <a:solidFill>
                  <a:srgbClr val="444444"/>
                </a:solidFill>
                <a:latin typeface="Calibri"/>
              </a:defRPr>
            </a:pPr>
            <a:r>
              <a:t>✔ Dynamic policies based on context &amp; behavior</a:t>
            </a:r>
          </a:p>
        </p:txBody>
      </p:sp>
      <p:sp>
        <p:nvSpPr>
          <p:cNvPr id="12" name="Rectangle 11"/>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14" name="TextBox 13"/>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1: WHY ZERO TRUST?</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Major Breaches That Drove Zero Trust Adoption</a:t>
            </a:r>
          </a:p>
        </p:txBody>
      </p:sp>
      <p:sp>
        <p:nvSpPr>
          <p:cNvPr id="6" name="Rectangle 5"/>
          <p:cNvSpPr/>
          <p:nvPr/>
        </p:nvSpPr>
        <p:spPr>
          <a:xfrm>
            <a:off x="457200" y="4114800"/>
            <a:ext cx="10972800" cy="36576"/>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34440" y="3886200"/>
            <a:ext cx="548640" cy="457200"/>
          </a:xfrm>
          <a:prstGeom prst="ellipse">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2020</a:t>
            </a:r>
          </a:p>
        </p:txBody>
      </p:sp>
      <p:sp>
        <p:nvSpPr>
          <p:cNvPr id="8" name="Rounded Rectangle 7"/>
          <p:cNvSpPr/>
          <p:nvPr/>
        </p:nvSpPr>
        <p:spPr>
          <a:xfrm>
            <a:off x="457200" y="1828800"/>
            <a:ext cx="2103120" cy="164592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20240"/>
            <a:ext cx="1920240" cy="365760"/>
          </a:xfrm>
          <a:prstGeom prst="rect">
            <a:avLst/>
          </a:prstGeom>
          <a:noFill/>
        </p:spPr>
        <p:txBody>
          <a:bodyPr wrap="square">
            <a:spAutoFit/>
          </a:bodyPr>
          <a:lstStyle/>
          <a:p>
            <a:pPr algn="l">
              <a:defRPr sz="1400" b="1">
                <a:solidFill>
                  <a:srgbClr val="E03C31"/>
                </a:solidFill>
                <a:latin typeface="Calibri"/>
              </a:defRPr>
            </a:pPr>
            <a:r>
              <a:t>SolarWinds</a:t>
            </a:r>
          </a:p>
        </p:txBody>
      </p:sp>
      <p:sp>
        <p:nvSpPr>
          <p:cNvPr id="10" name="TextBox 9"/>
          <p:cNvSpPr txBox="1"/>
          <p:nvPr/>
        </p:nvSpPr>
        <p:spPr>
          <a:xfrm>
            <a:off x="548640" y="2331720"/>
            <a:ext cx="1920240" cy="1005840"/>
          </a:xfrm>
          <a:prstGeom prst="rect">
            <a:avLst/>
          </a:prstGeom>
          <a:noFill/>
        </p:spPr>
        <p:txBody>
          <a:bodyPr wrap="square">
            <a:spAutoFit/>
          </a:bodyPr>
          <a:lstStyle/>
          <a:p>
            <a:pPr algn="l">
              <a:defRPr sz="1100" b="0">
                <a:solidFill>
                  <a:srgbClr val="444444"/>
                </a:solidFill>
                <a:latin typeface="Calibri"/>
              </a:defRPr>
            </a:pPr>
            <a:r>
              <a:t>Supply chain attack, 18K+ orgs</a:t>
            </a:r>
            <a:br/>
            <a:r>
              <a:t>compromised via software update</a:t>
            </a:r>
          </a:p>
        </p:txBody>
      </p:sp>
      <p:sp>
        <p:nvSpPr>
          <p:cNvPr id="11" name="Oval 10"/>
          <p:cNvSpPr/>
          <p:nvPr/>
        </p:nvSpPr>
        <p:spPr>
          <a:xfrm>
            <a:off x="3566160" y="3886200"/>
            <a:ext cx="548640" cy="457200"/>
          </a:xfrm>
          <a:prstGeom prst="ellipse">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2021</a:t>
            </a:r>
          </a:p>
        </p:txBody>
      </p:sp>
      <p:sp>
        <p:nvSpPr>
          <p:cNvPr id="12" name="Rounded Rectangle 11"/>
          <p:cNvSpPr/>
          <p:nvPr/>
        </p:nvSpPr>
        <p:spPr>
          <a:xfrm>
            <a:off x="2788920" y="1828800"/>
            <a:ext cx="2103120" cy="164592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60" y="1920240"/>
            <a:ext cx="1920240" cy="365760"/>
          </a:xfrm>
          <a:prstGeom prst="rect">
            <a:avLst/>
          </a:prstGeom>
          <a:noFill/>
        </p:spPr>
        <p:txBody>
          <a:bodyPr wrap="square">
            <a:spAutoFit/>
          </a:bodyPr>
          <a:lstStyle/>
          <a:p>
            <a:pPr algn="l">
              <a:defRPr sz="1400" b="1">
                <a:solidFill>
                  <a:srgbClr val="E03C31"/>
                </a:solidFill>
                <a:latin typeface="Calibri"/>
              </a:defRPr>
            </a:pPr>
            <a:r>
              <a:t>Colonial Pipeline</a:t>
            </a:r>
          </a:p>
        </p:txBody>
      </p:sp>
      <p:sp>
        <p:nvSpPr>
          <p:cNvPr id="14" name="TextBox 13"/>
          <p:cNvSpPr txBox="1"/>
          <p:nvPr/>
        </p:nvSpPr>
        <p:spPr>
          <a:xfrm>
            <a:off x="2880360" y="2331720"/>
            <a:ext cx="1920240" cy="1005840"/>
          </a:xfrm>
          <a:prstGeom prst="rect">
            <a:avLst/>
          </a:prstGeom>
          <a:noFill/>
        </p:spPr>
        <p:txBody>
          <a:bodyPr wrap="square">
            <a:spAutoFit/>
          </a:bodyPr>
          <a:lstStyle/>
          <a:p>
            <a:pPr algn="l">
              <a:defRPr sz="1100" b="0">
                <a:solidFill>
                  <a:srgbClr val="444444"/>
                </a:solidFill>
                <a:latin typeface="Calibri"/>
              </a:defRPr>
            </a:pPr>
            <a:r>
              <a:t>Single VPN credential led to</a:t>
            </a:r>
            <a:br/>
            <a:r>
              <a:t>$4.4M ransom, fuel crisis</a:t>
            </a:r>
          </a:p>
        </p:txBody>
      </p:sp>
      <p:sp>
        <p:nvSpPr>
          <p:cNvPr id="15" name="Oval 14"/>
          <p:cNvSpPr/>
          <p:nvPr/>
        </p:nvSpPr>
        <p:spPr>
          <a:xfrm>
            <a:off x="5897880" y="3886200"/>
            <a:ext cx="548640" cy="457200"/>
          </a:xfrm>
          <a:prstGeom prst="ellipse">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2023</a:t>
            </a:r>
          </a:p>
        </p:txBody>
      </p:sp>
      <p:sp>
        <p:nvSpPr>
          <p:cNvPr id="16" name="Rounded Rectangle 15"/>
          <p:cNvSpPr/>
          <p:nvPr/>
        </p:nvSpPr>
        <p:spPr>
          <a:xfrm>
            <a:off x="5120640" y="1828800"/>
            <a:ext cx="2103120" cy="1645920"/>
          </a:xfrm>
          <a:prstGeom prst="roundRect">
            <a:avLst/>
          </a:prstGeom>
          <a:solidFill>
            <a:srgbClr val="FFFFFF"/>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0" y="1920240"/>
            <a:ext cx="1920240" cy="365760"/>
          </a:xfrm>
          <a:prstGeom prst="rect">
            <a:avLst/>
          </a:prstGeom>
          <a:noFill/>
        </p:spPr>
        <p:txBody>
          <a:bodyPr wrap="square">
            <a:spAutoFit/>
          </a:bodyPr>
          <a:lstStyle/>
          <a:p>
            <a:pPr algn="l">
              <a:defRPr sz="1400" b="1">
                <a:solidFill>
                  <a:srgbClr val="FF8C00"/>
                </a:solidFill>
                <a:latin typeface="Calibri"/>
              </a:defRPr>
            </a:pPr>
            <a:r>
              <a:t>MOVEit</a:t>
            </a:r>
          </a:p>
        </p:txBody>
      </p:sp>
      <p:sp>
        <p:nvSpPr>
          <p:cNvPr id="18" name="TextBox 17"/>
          <p:cNvSpPr txBox="1"/>
          <p:nvPr/>
        </p:nvSpPr>
        <p:spPr>
          <a:xfrm>
            <a:off x="5212080" y="2331720"/>
            <a:ext cx="1920240" cy="1005840"/>
          </a:xfrm>
          <a:prstGeom prst="rect">
            <a:avLst/>
          </a:prstGeom>
          <a:noFill/>
        </p:spPr>
        <p:txBody>
          <a:bodyPr wrap="square">
            <a:spAutoFit/>
          </a:bodyPr>
          <a:lstStyle/>
          <a:p>
            <a:pPr algn="l">
              <a:defRPr sz="1100" b="0">
                <a:solidFill>
                  <a:srgbClr val="444444"/>
                </a:solidFill>
                <a:latin typeface="Calibri"/>
              </a:defRPr>
            </a:pPr>
            <a:r>
              <a:t>Zero-day exploited, 2,500+</a:t>
            </a:r>
            <a:br/>
            <a:r>
              <a:t>orgs, 64M individuals affected</a:t>
            </a:r>
          </a:p>
        </p:txBody>
      </p:sp>
      <p:sp>
        <p:nvSpPr>
          <p:cNvPr id="19" name="Oval 18"/>
          <p:cNvSpPr/>
          <p:nvPr/>
        </p:nvSpPr>
        <p:spPr>
          <a:xfrm>
            <a:off x="8229600" y="3886200"/>
            <a:ext cx="548640" cy="457200"/>
          </a:xfrm>
          <a:prstGeom prst="ellipse">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2024</a:t>
            </a:r>
          </a:p>
        </p:txBody>
      </p:sp>
      <p:sp>
        <p:nvSpPr>
          <p:cNvPr id="20" name="Rounded Rectangle 19"/>
          <p:cNvSpPr/>
          <p:nvPr/>
        </p:nvSpPr>
        <p:spPr>
          <a:xfrm>
            <a:off x="7452360" y="1828800"/>
            <a:ext cx="2103120" cy="164592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800" y="1920240"/>
            <a:ext cx="1920240" cy="365760"/>
          </a:xfrm>
          <a:prstGeom prst="rect">
            <a:avLst/>
          </a:prstGeom>
          <a:noFill/>
        </p:spPr>
        <p:txBody>
          <a:bodyPr wrap="square">
            <a:spAutoFit/>
          </a:bodyPr>
          <a:lstStyle/>
          <a:p>
            <a:pPr algn="l">
              <a:defRPr sz="1400" b="1">
                <a:solidFill>
                  <a:srgbClr val="E03C31"/>
                </a:solidFill>
                <a:latin typeface="Calibri"/>
              </a:defRPr>
            </a:pPr>
            <a:r>
              <a:t>Change Healthcare</a:t>
            </a:r>
          </a:p>
        </p:txBody>
      </p:sp>
      <p:sp>
        <p:nvSpPr>
          <p:cNvPr id="22" name="TextBox 21"/>
          <p:cNvSpPr txBox="1"/>
          <p:nvPr/>
        </p:nvSpPr>
        <p:spPr>
          <a:xfrm>
            <a:off x="7543800" y="2331720"/>
            <a:ext cx="1920240" cy="1005840"/>
          </a:xfrm>
          <a:prstGeom prst="rect">
            <a:avLst/>
          </a:prstGeom>
          <a:noFill/>
        </p:spPr>
        <p:txBody>
          <a:bodyPr wrap="square">
            <a:spAutoFit/>
          </a:bodyPr>
          <a:lstStyle/>
          <a:p>
            <a:pPr algn="l">
              <a:defRPr sz="1100" b="0">
                <a:solidFill>
                  <a:srgbClr val="444444"/>
                </a:solidFill>
                <a:latin typeface="Calibri"/>
              </a:defRPr>
            </a:pPr>
            <a:r>
              <a:t>No MFA on remote access,</a:t>
            </a:r>
            <a:br/>
            <a:r>
              <a:t>100M Americans' data exposed</a:t>
            </a:r>
          </a:p>
        </p:txBody>
      </p:sp>
      <p:sp>
        <p:nvSpPr>
          <p:cNvPr id="23" name="Oval 22"/>
          <p:cNvSpPr/>
          <p:nvPr/>
        </p:nvSpPr>
        <p:spPr>
          <a:xfrm>
            <a:off x="10561320" y="3886200"/>
            <a:ext cx="548640" cy="457200"/>
          </a:xfrm>
          <a:prstGeom prst="ellipse">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2025</a:t>
            </a:r>
          </a:p>
        </p:txBody>
      </p:sp>
      <p:sp>
        <p:nvSpPr>
          <p:cNvPr id="24" name="Rounded Rectangle 23"/>
          <p:cNvSpPr/>
          <p:nvPr/>
        </p:nvSpPr>
        <p:spPr>
          <a:xfrm>
            <a:off x="9784080" y="1828800"/>
            <a:ext cx="2103120" cy="1645920"/>
          </a:xfrm>
          <a:prstGeom prst="roundRect">
            <a:avLst/>
          </a:prstGeom>
          <a:solidFill>
            <a:srgbClr val="FFFFFF"/>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0" y="1920240"/>
            <a:ext cx="1920240" cy="365760"/>
          </a:xfrm>
          <a:prstGeom prst="rect">
            <a:avLst/>
          </a:prstGeom>
          <a:noFill/>
        </p:spPr>
        <p:txBody>
          <a:bodyPr wrap="square">
            <a:spAutoFit/>
          </a:bodyPr>
          <a:lstStyle/>
          <a:p>
            <a:pPr algn="l">
              <a:defRPr sz="1400" b="1">
                <a:solidFill>
                  <a:srgbClr val="FF8C00"/>
                </a:solidFill>
                <a:latin typeface="Calibri"/>
              </a:defRPr>
            </a:pPr>
            <a:r>
              <a:t>Snowflake Attacks</a:t>
            </a:r>
          </a:p>
        </p:txBody>
      </p:sp>
      <p:sp>
        <p:nvSpPr>
          <p:cNvPr id="26" name="TextBox 25"/>
          <p:cNvSpPr txBox="1"/>
          <p:nvPr/>
        </p:nvSpPr>
        <p:spPr>
          <a:xfrm>
            <a:off x="9875520" y="2331720"/>
            <a:ext cx="1920240" cy="1005840"/>
          </a:xfrm>
          <a:prstGeom prst="rect">
            <a:avLst/>
          </a:prstGeom>
          <a:noFill/>
        </p:spPr>
        <p:txBody>
          <a:bodyPr wrap="square">
            <a:spAutoFit/>
          </a:bodyPr>
          <a:lstStyle/>
          <a:p>
            <a:pPr algn="l">
              <a:defRPr sz="1100" b="0">
                <a:solidFill>
                  <a:srgbClr val="444444"/>
                </a:solidFill>
                <a:latin typeface="Calibri"/>
              </a:defRPr>
            </a:pPr>
            <a:r>
              <a:t>Credential stuffing on cloud</a:t>
            </a:r>
            <a:br/>
            <a:r>
              <a:t>data warehouses, 165+ orgs hit</a:t>
            </a:r>
          </a:p>
        </p:txBody>
      </p:sp>
      <p:sp>
        <p:nvSpPr>
          <p:cNvPr id="27" name="Rounded Rectangle 26"/>
          <p:cNvSpPr/>
          <p:nvPr/>
        </p:nvSpPr>
        <p:spPr>
          <a:xfrm>
            <a:off x="457200" y="4754880"/>
            <a:ext cx="10972800" cy="1463040"/>
          </a:xfrm>
          <a:prstGeom prst="roundRect">
            <a:avLst/>
          </a:prstGeom>
          <a:solidFill>
            <a:srgbClr val="FDF2E9"/>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846320"/>
            <a:ext cx="10424160" cy="365760"/>
          </a:xfrm>
          <a:prstGeom prst="rect">
            <a:avLst/>
          </a:prstGeom>
          <a:noFill/>
        </p:spPr>
        <p:txBody>
          <a:bodyPr wrap="square">
            <a:spAutoFit/>
          </a:bodyPr>
          <a:lstStyle/>
          <a:p>
            <a:pPr algn="l">
              <a:defRPr sz="1600" b="1">
                <a:solidFill>
                  <a:srgbClr val="FF8C00"/>
                </a:solidFill>
                <a:latin typeface="Calibri"/>
              </a:defRPr>
            </a:pPr>
            <a:r>
              <a:t>Key Lesson: Every breach above exploited TRUST assumptions</a:t>
            </a:r>
          </a:p>
        </p:txBody>
      </p:sp>
      <p:sp>
        <p:nvSpPr>
          <p:cNvPr id="29" name="TextBox 28"/>
          <p:cNvSpPr txBox="1"/>
          <p:nvPr/>
        </p:nvSpPr>
        <p:spPr>
          <a:xfrm>
            <a:off x="731520" y="5303520"/>
            <a:ext cx="10424160" cy="914400"/>
          </a:xfrm>
          <a:prstGeom prst="rect">
            <a:avLst/>
          </a:prstGeom>
          <a:noFill/>
        </p:spPr>
        <p:txBody>
          <a:bodyPr wrap="square">
            <a:spAutoFit/>
          </a:bodyPr>
          <a:lstStyle/>
          <a:p>
            <a:pPr>
              <a:spcAft>
                <a:spcPts val="800"/>
              </a:spcAft>
              <a:defRPr sz="1200">
                <a:solidFill>
                  <a:srgbClr val="444444"/>
                </a:solidFill>
                <a:latin typeface="Calibri"/>
              </a:defRPr>
            </a:pPr>
            <a:r>
              <a:t>➤ Trusted software updates (SolarWinds) | Trusted VPN access (Colonial Pipeline) | Trusted file transfer (MOVEit)</a:t>
            </a:r>
          </a:p>
          <a:p>
            <a:pPr>
              <a:spcAft>
                <a:spcPts val="800"/>
              </a:spcAft>
              <a:defRPr sz="1200">
                <a:solidFill>
                  <a:srgbClr val="444444"/>
                </a:solidFill>
                <a:latin typeface="Calibri"/>
              </a:defRPr>
            </a:pPr>
            <a:r>
              <a:t>➤ Trusted remote access without MFA (Change Healthcare) | Trusted cloud credentials (Snowflake)</a:t>
            </a:r>
          </a:p>
          <a:p>
            <a:pPr>
              <a:spcAft>
                <a:spcPts val="800"/>
              </a:spcAft>
              <a:defRPr sz="1200">
                <a:solidFill>
                  <a:srgbClr val="444444"/>
                </a:solidFill>
                <a:latin typeface="Calibri"/>
              </a:defRPr>
            </a:pPr>
            <a:r>
              <a:t>➤ Zero Trust eliminates implicit trust - every access request is verified, every session is monitored, every network path is segmented</a:t>
            </a:r>
          </a:p>
        </p:txBody>
      </p:sp>
      <p:sp>
        <p:nvSpPr>
          <p:cNvPr id="30" name="Rectangle 29"/>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32" name="TextBox 31"/>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2: ZERO TRUST ARCHITECTURE</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Zero Trust Core Principles (NIST SP 800-207)</a:t>
            </a:r>
          </a:p>
        </p:txBody>
      </p:sp>
      <p:sp>
        <p:nvSpPr>
          <p:cNvPr id="6" name="Oval 5"/>
          <p:cNvSpPr/>
          <p:nvPr/>
        </p:nvSpPr>
        <p:spPr>
          <a:xfrm>
            <a:off x="1417320" y="1737360"/>
            <a:ext cx="731520" cy="73152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1</a:t>
            </a:r>
          </a:p>
        </p:txBody>
      </p:sp>
      <p:sp>
        <p:nvSpPr>
          <p:cNvPr id="7" name="TextBox 6"/>
          <p:cNvSpPr txBox="1"/>
          <p:nvPr/>
        </p:nvSpPr>
        <p:spPr>
          <a:xfrm>
            <a:off x="457200" y="2651760"/>
            <a:ext cx="2651760" cy="731520"/>
          </a:xfrm>
          <a:prstGeom prst="rect">
            <a:avLst/>
          </a:prstGeom>
          <a:noFill/>
        </p:spPr>
        <p:txBody>
          <a:bodyPr wrap="square">
            <a:spAutoFit/>
          </a:bodyPr>
          <a:lstStyle/>
          <a:p>
            <a:pPr algn="ctr">
              <a:defRPr sz="1600" b="1">
                <a:solidFill>
                  <a:srgbClr val="0076CE"/>
                </a:solidFill>
                <a:latin typeface="Calibri"/>
              </a:defRPr>
            </a:pPr>
            <a:r>
              <a:t>Never Trust,</a:t>
            </a:r>
            <a:br/>
            <a:r>
              <a:t>Always Verify</a:t>
            </a:r>
          </a:p>
        </p:txBody>
      </p:sp>
      <p:sp>
        <p:nvSpPr>
          <p:cNvPr id="8" name="Rounded Rectangle 7"/>
          <p:cNvSpPr/>
          <p:nvPr/>
        </p:nvSpPr>
        <p:spPr>
          <a:xfrm>
            <a:off x="457200" y="3474720"/>
            <a:ext cx="2651760" cy="128016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566160"/>
            <a:ext cx="2377440" cy="1097280"/>
          </a:xfrm>
          <a:prstGeom prst="rect">
            <a:avLst/>
          </a:prstGeom>
          <a:noFill/>
        </p:spPr>
        <p:txBody>
          <a:bodyPr wrap="square">
            <a:spAutoFit/>
          </a:bodyPr>
          <a:lstStyle/>
          <a:p>
            <a:pPr algn="ctr">
              <a:defRPr sz="1200" b="0">
                <a:solidFill>
                  <a:srgbClr val="444444"/>
                </a:solidFill>
                <a:latin typeface="Calibri"/>
              </a:defRPr>
            </a:pPr>
            <a:r>
              <a:t>Every access request is</a:t>
            </a:r>
            <a:br/>
            <a:r>
              <a:t>authenticated &amp; authorized</a:t>
            </a:r>
            <a:br/>
            <a:r>
              <a:t>regardless of network location</a:t>
            </a:r>
          </a:p>
        </p:txBody>
      </p:sp>
      <p:sp>
        <p:nvSpPr>
          <p:cNvPr id="10" name="Oval 9"/>
          <p:cNvSpPr/>
          <p:nvPr/>
        </p:nvSpPr>
        <p:spPr>
          <a:xfrm>
            <a:off x="4297680" y="1737360"/>
            <a:ext cx="731520" cy="731520"/>
          </a:xfrm>
          <a:prstGeom prst="ellipse">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2</a:t>
            </a:r>
          </a:p>
        </p:txBody>
      </p:sp>
      <p:sp>
        <p:nvSpPr>
          <p:cNvPr id="11" name="TextBox 10"/>
          <p:cNvSpPr txBox="1"/>
          <p:nvPr/>
        </p:nvSpPr>
        <p:spPr>
          <a:xfrm>
            <a:off x="3337560" y="2651760"/>
            <a:ext cx="2651760" cy="731520"/>
          </a:xfrm>
          <a:prstGeom prst="rect">
            <a:avLst/>
          </a:prstGeom>
          <a:noFill/>
        </p:spPr>
        <p:txBody>
          <a:bodyPr wrap="square">
            <a:spAutoFit/>
          </a:bodyPr>
          <a:lstStyle/>
          <a:p>
            <a:pPr algn="ctr">
              <a:defRPr sz="1600" b="1">
                <a:solidFill>
                  <a:srgbClr val="00B2A9"/>
                </a:solidFill>
                <a:latin typeface="Calibri"/>
              </a:defRPr>
            </a:pPr>
            <a:r>
              <a:t>Least Privilege</a:t>
            </a:r>
            <a:br/>
            <a:r>
              <a:t>Access</a:t>
            </a:r>
          </a:p>
        </p:txBody>
      </p:sp>
      <p:sp>
        <p:nvSpPr>
          <p:cNvPr id="12" name="Rounded Rectangle 11"/>
          <p:cNvSpPr/>
          <p:nvPr/>
        </p:nvSpPr>
        <p:spPr>
          <a:xfrm>
            <a:off x="3337560" y="3474720"/>
            <a:ext cx="2651760" cy="1280160"/>
          </a:xfrm>
          <a:prstGeom prst="roundRect">
            <a:avLst/>
          </a:prstGeom>
          <a:solidFill>
            <a:srgbClr val="E0F0FF"/>
          </a:solidFill>
          <a:ln w="19050">
            <a:solidFill>
              <a:srgbClr val="00B2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3566160"/>
            <a:ext cx="2377440" cy="1097280"/>
          </a:xfrm>
          <a:prstGeom prst="rect">
            <a:avLst/>
          </a:prstGeom>
          <a:noFill/>
        </p:spPr>
        <p:txBody>
          <a:bodyPr wrap="square">
            <a:spAutoFit/>
          </a:bodyPr>
          <a:lstStyle/>
          <a:p>
            <a:pPr algn="ctr">
              <a:defRPr sz="1200" b="0">
                <a:solidFill>
                  <a:srgbClr val="444444"/>
                </a:solidFill>
                <a:latin typeface="Calibri"/>
              </a:defRPr>
            </a:pPr>
            <a:r>
              <a:t>Grant minimum permissions</a:t>
            </a:r>
            <a:br/>
            <a:r>
              <a:t>needed for the task.</a:t>
            </a:r>
            <a:br/>
            <a:r>
              <a:t>Just-in-time, just-enough access</a:t>
            </a:r>
          </a:p>
        </p:txBody>
      </p:sp>
      <p:sp>
        <p:nvSpPr>
          <p:cNvPr id="14" name="Oval 13"/>
          <p:cNvSpPr/>
          <p:nvPr/>
        </p:nvSpPr>
        <p:spPr>
          <a:xfrm>
            <a:off x="7178040" y="1737360"/>
            <a:ext cx="731520" cy="731520"/>
          </a:xfrm>
          <a:prstGeom prst="ellipse">
            <a:avLst/>
          </a:prstGeom>
          <a:solidFill>
            <a:srgbClr val="E0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3</a:t>
            </a:r>
          </a:p>
        </p:txBody>
      </p:sp>
      <p:sp>
        <p:nvSpPr>
          <p:cNvPr id="15" name="TextBox 14"/>
          <p:cNvSpPr txBox="1"/>
          <p:nvPr/>
        </p:nvSpPr>
        <p:spPr>
          <a:xfrm>
            <a:off x="6217920" y="2651760"/>
            <a:ext cx="2651760" cy="731520"/>
          </a:xfrm>
          <a:prstGeom prst="rect">
            <a:avLst/>
          </a:prstGeom>
          <a:noFill/>
        </p:spPr>
        <p:txBody>
          <a:bodyPr wrap="square">
            <a:spAutoFit/>
          </a:bodyPr>
          <a:lstStyle/>
          <a:p>
            <a:pPr algn="ctr">
              <a:defRPr sz="1600" b="1">
                <a:solidFill>
                  <a:srgbClr val="E03C31"/>
                </a:solidFill>
                <a:latin typeface="Calibri"/>
              </a:defRPr>
            </a:pPr>
            <a:r>
              <a:t>Assume</a:t>
            </a:r>
            <a:br/>
            <a:r>
              <a:t>Breach</a:t>
            </a:r>
          </a:p>
        </p:txBody>
      </p:sp>
      <p:sp>
        <p:nvSpPr>
          <p:cNvPr id="16" name="Rounded Rectangle 15"/>
          <p:cNvSpPr/>
          <p:nvPr/>
        </p:nvSpPr>
        <p:spPr>
          <a:xfrm>
            <a:off x="6217920" y="3474720"/>
            <a:ext cx="2651760" cy="1280160"/>
          </a:xfrm>
          <a:prstGeom prst="roundRect">
            <a:avLst/>
          </a:prstGeom>
          <a:solidFill>
            <a:srgbClr val="E0F0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566160"/>
            <a:ext cx="2377440" cy="1097280"/>
          </a:xfrm>
          <a:prstGeom prst="rect">
            <a:avLst/>
          </a:prstGeom>
          <a:noFill/>
        </p:spPr>
        <p:txBody>
          <a:bodyPr wrap="square">
            <a:spAutoFit/>
          </a:bodyPr>
          <a:lstStyle/>
          <a:p>
            <a:pPr algn="ctr">
              <a:defRPr sz="1200" b="0">
                <a:solidFill>
                  <a:srgbClr val="444444"/>
                </a:solidFill>
                <a:latin typeface="Calibri"/>
              </a:defRPr>
            </a:pPr>
            <a:r>
              <a:t>Design systems assuming</a:t>
            </a:r>
            <a:br/>
            <a:r>
              <a:t>attackers are already inside.</a:t>
            </a:r>
            <a:br/>
            <a:r>
              <a:t>Minimize blast radius</a:t>
            </a:r>
          </a:p>
        </p:txBody>
      </p:sp>
      <p:sp>
        <p:nvSpPr>
          <p:cNvPr id="18" name="Oval 17"/>
          <p:cNvSpPr/>
          <p:nvPr/>
        </p:nvSpPr>
        <p:spPr>
          <a:xfrm>
            <a:off x="10058400" y="1737360"/>
            <a:ext cx="731520" cy="731520"/>
          </a:xfrm>
          <a:prstGeom prst="ellipse">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4</a:t>
            </a:r>
          </a:p>
        </p:txBody>
      </p:sp>
      <p:sp>
        <p:nvSpPr>
          <p:cNvPr id="19" name="TextBox 18"/>
          <p:cNvSpPr txBox="1"/>
          <p:nvPr/>
        </p:nvSpPr>
        <p:spPr>
          <a:xfrm>
            <a:off x="9098280" y="2651760"/>
            <a:ext cx="2651760" cy="731520"/>
          </a:xfrm>
          <a:prstGeom prst="rect">
            <a:avLst/>
          </a:prstGeom>
          <a:noFill/>
        </p:spPr>
        <p:txBody>
          <a:bodyPr wrap="square">
            <a:spAutoFit/>
          </a:bodyPr>
          <a:lstStyle/>
          <a:p>
            <a:pPr algn="ctr">
              <a:defRPr sz="1600" b="1">
                <a:solidFill>
                  <a:srgbClr val="003B64"/>
                </a:solidFill>
                <a:latin typeface="Calibri"/>
              </a:defRPr>
            </a:pPr>
            <a:r>
              <a:t>Continuous</a:t>
            </a:r>
            <a:br/>
            <a:r>
              <a:t>Verification</a:t>
            </a:r>
          </a:p>
        </p:txBody>
      </p:sp>
      <p:sp>
        <p:nvSpPr>
          <p:cNvPr id="20" name="Rounded Rectangle 19"/>
          <p:cNvSpPr/>
          <p:nvPr/>
        </p:nvSpPr>
        <p:spPr>
          <a:xfrm>
            <a:off x="9098280" y="3474720"/>
            <a:ext cx="2651760" cy="1280160"/>
          </a:xfrm>
          <a:prstGeom prst="roundRect">
            <a:avLst/>
          </a:prstGeom>
          <a:solidFill>
            <a:srgbClr val="E0F0FF"/>
          </a:solidFill>
          <a:ln w="19050">
            <a:solidFill>
              <a:srgbClr val="003B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3566160"/>
            <a:ext cx="2377440" cy="1097280"/>
          </a:xfrm>
          <a:prstGeom prst="rect">
            <a:avLst/>
          </a:prstGeom>
          <a:noFill/>
        </p:spPr>
        <p:txBody>
          <a:bodyPr wrap="square">
            <a:spAutoFit/>
          </a:bodyPr>
          <a:lstStyle/>
          <a:p>
            <a:pPr algn="ctr">
              <a:defRPr sz="1200" b="0">
                <a:solidFill>
                  <a:srgbClr val="444444"/>
                </a:solidFill>
                <a:latin typeface="Calibri"/>
              </a:defRPr>
            </a:pPr>
            <a:r>
              <a:t>Real-time monitoring,</a:t>
            </a:r>
            <a:br/>
            <a:r>
              <a:t>risk scoring, and adaptive</a:t>
            </a:r>
            <a:br/>
            <a:r>
              <a:t>policy enforcement</a:t>
            </a:r>
          </a:p>
        </p:txBody>
      </p:sp>
      <p:sp>
        <p:nvSpPr>
          <p:cNvPr id="22" name="Rounded Rectangle 21"/>
          <p:cNvSpPr/>
          <p:nvPr/>
        </p:nvSpPr>
        <p:spPr>
          <a:xfrm>
            <a:off x="457200" y="5029200"/>
            <a:ext cx="10972800" cy="1188720"/>
          </a:xfrm>
          <a:prstGeom prst="roundRect">
            <a:avLst/>
          </a:prstGeom>
          <a:solidFill>
            <a:srgbClr val="E8F4FD"/>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120640"/>
            <a:ext cx="10424160" cy="320040"/>
          </a:xfrm>
          <a:prstGeom prst="rect">
            <a:avLst/>
          </a:prstGeom>
          <a:noFill/>
        </p:spPr>
        <p:txBody>
          <a:bodyPr wrap="square">
            <a:spAutoFit/>
          </a:bodyPr>
          <a:lstStyle/>
          <a:p>
            <a:pPr algn="l">
              <a:defRPr sz="1500" b="1">
                <a:solidFill>
                  <a:srgbClr val="0076CE"/>
                </a:solidFill>
                <a:latin typeface="Calibri"/>
              </a:defRPr>
            </a:pPr>
            <a:r>
              <a:t>NIST SP 800-207 Zero Trust Architecture - Key Tenets</a:t>
            </a:r>
          </a:p>
        </p:txBody>
      </p:sp>
      <p:sp>
        <p:nvSpPr>
          <p:cNvPr id="24" name="TextBox 23"/>
          <p:cNvSpPr txBox="1"/>
          <p:nvPr/>
        </p:nvSpPr>
        <p:spPr>
          <a:xfrm>
            <a:off x="731520" y="5486400"/>
            <a:ext cx="10424160" cy="1097280"/>
          </a:xfrm>
          <a:prstGeom prst="rect">
            <a:avLst/>
          </a:prstGeom>
          <a:noFill/>
        </p:spPr>
        <p:txBody>
          <a:bodyPr wrap="square">
            <a:spAutoFit/>
          </a:bodyPr>
          <a:lstStyle/>
          <a:p>
            <a:pPr>
              <a:spcAft>
                <a:spcPts val="200"/>
              </a:spcAft>
              <a:defRPr sz="1100">
                <a:solidFill>
                  <a:srgbClr val="444444"/>
                </a:solidFill>
                <a:latin typeface="Calibri"/>
              </a:defRPr>
            </a:pPr>
            <a:r>
              <a:t>‣ All data sources and computing services are considered resources</a:t>
            </a:r>
          </a:p>
          <a:p>
            <a:pPr>
              <a:spcAft>
                <a:spcPts val="200"/>
              </a:spcAft>
              <a:defRPr sz="1100">
                <a:solidFill>
                  <a:srgbClr val="444444"/>
                </a:solidFill>
                <a:latin typeface="Calibri"/>
              </a:defRPr>
            </a:pPr>
            <a:r>
              <a:t>‣ All communication is secured regardless of network location</a:t>
            </a:r>
          </a:p>
          <a:p>
            <a:pPr>
              <a:spcAft>
                <a:spcPts val="200"/>
              </a:spcAft>
              <a:defRPr sz="1100">
                <a:solidFill>
                  <a:srgbClr val="444444"/>
                </a:solidFill>
                <a:latin typeface="Calibri"/>
              </a:defRPr>
            </a:pPr>
            <a:r>
              <a:t>‣ Access is granted on a per-session basis with dynamic policy</a:t>
            </a:r>
          </a:p>
          <a:p>
            <a:pPr>
              <a:spcAft>
                <a:spcPts val="200"/>
              </a:spcAft>
              <a:defRPr sz="1100">
                <a:solidFill>
                  <a:srgbClr val="444444"/>
                </a:solidFill>
                <a:latin typeface="Calibri"/>
              </a:defRPr>
            </a:pPr>
            <a:r>
              <a:t>‣ Access is determined by dynamic policy including behavioral attributes</a:t>
            </a:r>
          </a:p>
          <a:p>
            <a:pPr>
              <a:spcAft>
                <a:spcPts val="200"/>
              </a:spcAft>
              <a:defRPr sz="1100">
                <a:solidFill>
                  <a:srgbClr val="444444"/>
                </a:solidFill>
                <a:latin typeface="Calibri"/>
              </a:defRPr>
            </a:pPr>
            <a:r>
              <a:t>‣ Enterprise monitors and measures integrity and security posture of ALL assets</a:t>
            </a:r>
          </a:p>
        </p:txBody>
      </p:sp>
      <p:sp>
        <p:nvSpPr>
          <p:cNvPr id="25" name="Rectangle 24"/>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27" name="TextBox 26"/>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2: ZERO TRUST ARCHITECTURE</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Zero Trust Architecture - Component Model</a:t>
            </a:r>
          </a:p>
        </p:txBody>
      </p:sp>
      <p:sp>
        <p:nvSpPr>
          <p:cNvPr id="6" name="Rounded Rectangle 5"/>
          <p:cNvSpPr/>
          <p:nvPr/>
        </p:nvSpPr>
        <p:spPr>
          <a:xfrm>
            <a:off x="4114800" y="1645920"/>
            <a:ext cx="3657600" cy="109728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Policy Engine (PE)</a:t>
            </a:r>
          </a:p>
          <a:p>
            <a:pPr algn="ctr">
              <a:defRPr sz="1100">
                <a:solidFill>
                  <a:srgbClr val="CCDDFF"/>
                </a:solidFill>
              </a:defRPr>
            </a:pPr>
            <a:r>
              <a:t>Decision Point - Evaluates policies</a:t>
            </a:r>
          </a:p>
        </p:txBody>
      </p:sp>
      <p:sp>
        <p:nvSpPr>
          <p:cNvPr id="7" name="Rounded Rectangle 6"/>
          <p:cNvSpPr/>
          <p:nvPr/>
        </p:nvSpPr>
        <p:spPr>
          <a:xfrm>
            <a:off x="4114800" y="3017520"/>
            <a:ext cx="3657600" cy="91440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Policy Administrator (PA)</a:t>
            </a:r>
          </a:p>
          <a:p>
            <a:pPr algn="ctr">
              <a:defRPr sz="1000">
                <a:solidFill>
                  <a:srgbClr val="FFFFFF"/>
                </a:solidFill>
              </a:defRPr>
            </a:pPr>
            <a:r>
              <a:t>Enforcement Point - Executes decisions</a:t>
            </a:r>
          </a:p>
        </p:txBody>
      </p:sp>
      <p:sp>
        <p:nvSpPr>
          <p:cNvPr id="8" name="Rounded Rectangle 7"/>
          <p:cNvSpPr/>
          <p:nvPr/>
        </p:nvSpPr>
        <p:spPr>
          <a:xfrm>
            <a:off x="274320" y="1645920"/>
            <a:ext cx="2560320" cy="914400"/>
          </a:xfrm>
          <a:prstGeom prst="roundRect">
            <a:avLst/>
          </a:prstGeom>
          <a:solidFill>
            <a:srgbClr val="E8F4FD"/>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3B64"/>
                </a:solidFill>
              </a:defRPr>
            </a:pPr>
            <a:r>
              <a:t>Identity Provider</a:t>
            </a:r>
            <a:br/>
            <a:r>
              <a:t>(IdP)</a:t>
            </a:r>
          </a:p>
        </p:txBody>
      </p:sp>
      <p:sp>
        <p:nvSpPr>
          <p:cNvPr id="9" name="Rounded Rectangle 8"/>
          <p:cNvSpPr/>
          <p:nvPr/>
        </p:nvSpPr>
        <p:spPr>
          <a:xfrm>
            <a:off x="274320" y="2926080"/>
            <a:ext cx="2560320" cy="914400"/>
          </a:xfrm>
          <a:prstGeom prst="roundRect">
            <a:avLst/>
          </a:prstGeom>
          <a:solidFill>
            <a:srgbClr val="E8F4FD"/>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3B64"/>
                </a:solidFill>
              </a:defRPr>
            </a:pPr>
            <a:r>
              <a:t>Device Health</a:t>
            </a:r>
            <a:br/>
            <a:r>
              <a:t>(EDR/MDM)</a:t>
            </a:r>
          </a:p>
        </p:txBody>
      </p:sp>
      <p:sp>
        <p:nvSpPr>
          <p:cNvPr id="10" name="Rounded Rectangle 9"/>
          <p:cNvSpPr/>
          <p:nvPr/>
        </p:nvSpPr>
        <p:spPr>
          <a:xfrm>
            <a:off x="274320" y="4206240"/>
            <a:ext cx="2560320" cy="914400"/>
          </a:xfrm>
          <a:prstGeom prst="roundRect">
            <a:avLst/>
          </a:prstGeom>
          <a:solidFill>
            <a:srgbClr val="E8F4FD"/>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3B64"/>
                </a:solidFill>
              </a:defRPr>
            </a:pPr>
            <a:r>
              <a:t>Threat Intel</a:t>
            </a:r>
            <a:br/>
            <a:r>
              <a:t>Feeds</a:t>
            </a:r>
          </a:p>
        </p:txBody>
      </p:sp>
      <p:sp>
        <p:nvSpPr>
          <p:cNvPr id="11" name="Rounded Rectangle 10"/>
          <p:cNvSpPr/>
          <p:nvPr/>
        </p:nvSpPr>
        <p:spPr>
          <a:xfrm>
            <a:off x="8961120" y="1645920"/>
            <a:ext cx="2560320" cy="914400"/>
          </a:xfrm>
          <a:prstGeom prst="roundRect">
            <a:avLst/>
          </a:prstGeom>
          <a:solidFill>
            <a:srgbClr val="F0F8F0"/>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E8B57"/>
                </a:solidFill>
              </a:defRPr>
            </a:pPr>
            <a:r>
              <a:t>Enterprise</a:t>
            </a:r>
            <a:br/>
            <a:r>
              <a:t>Resources</a:t>
            </a:r>
          </a:p>
        </p:txBody>
      </p:sp>
      <p:sp>
        <p:nvSpPr>
          <p:cNvPr id="12" name="Rounded Rectangle 11"/>
          <p:cNvSpPr/>
          <p:nvPr/>
        </p:nvSpPr>
        <p:spPr>
          <a:xfrm>
            <a:off x="8961120" y="2926080"/>
            <a:ext cx="2560320" cy="914400"/>
          </a:xfrm>
          <a:prstGeom prst="roundRect">
            <a:avLst/>
          </a:prstGeom>
          <a:solidFill>
            <a:srgbClr val="F0F8F0"/>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E8B57"/>
                </a:solidFill>
              </a:defRPr>
            </a:pPr>
            <a:r>
              <a:t>Data Stores</a:t>
            </a:r>
            <a:br/>
            <a:r>
              <a:t>&amp; Databases</a:t>
            </a:r>
          </a:p>
        </p:txBody>
      </p:sp>
      <p:sp>
        <p:nvSpPr>
          <p:cNvPr id="13" name="Rounded Rectangle 12"/>
          <p:cNvSpPr/>
          <p:nvPr/>
        </p:nvSpPr>
        <p:spPr>
          <a:xfrm>
            <a:off x="8961120" y="4206240"/>
            <a:ext cx="2560320" cy="914400"/>
          </a:xfrm>
          <a:prstGeom prst="roundRect">
            <a:avLst/>
          </a:prstGeom>
          <a:solidFill>
            <a:srgbClr val="F0F8F0"/>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E8B57"/>
                </a:solidFill>
              </a:defRPr>
            </a:pPr>
            <a:r>
              <a:t>Cloud Services</a:t>
            </a:r>
            <a:br/>
            <a:r>
              <a:t>&amp; APIs</a:t>
            </a:r>
          </a:p>
        </p:txBody>
      </p:sp>
      <p:sp>
        <p:nvSpPr>
          <p:cNvPr id="14" name="Rounded Rectangle 13"/>
          <p:cNvSpPr/>
          <p:nvPr/>
        </p:nvSpPr>
        <p:spPr>
          <a:xfrm>
            <a:off x="4114800" y="4206240"/>
            <a:ext cx="3657600" cy="822960"/>
          </a:xfrm>
          <a:prstGeom prst="round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Subject / User / Device</a:t>
            </a:r>
          </a:p>
        </p:txBody>
      </p:sp>
      <p:sp>
        <p:nvSpPr>
          <p:cNvPr id="15" name="TextBox 14"/>
          <p:cNvSpPr txBox="1"/>
          <p:nvPr/>
        </p:nvSpPr>
        <p:spPr>
          <a:xfrm>
            <a:off x="457200" y="5303520"/>
            <a:ext cx="10972800" cy="731520"/>
          </a:xfrm>
          <a:prstGeom prst="rect">
            <a:avLst/>
          </a:prstGeom>
          <a:noFill/>
        </p:spPr>
        <p:txBody>
          <a:bodyPr wrap="square">
            <a:spAutoFit/>
          </a:bodyPr>
          <a:lstStyle/>
          <a:p>
            <a:pPr algn="l">
              <a:defRPr sz="1300" b="0">
                <a:solidFill>
                  <a:srgbClr val="444444"/>
                </a:solidFill>
                <a:latin typeface="Calibri"/>
              </a:defRPr>
            </a:pPr>
            <a:r>
              <a:t>Flow: Subject requests access → Policy Engine evaluates (identity + device + context + threat intel) → Policy Administrator grants/denies → Access to enterprise resource (per-session, least privilege)</a:t>
            </a:r>
          </a:p>
        </p:txBody>
      </p:sp>
      <p:sp>
        <p:nvSpPr>
          <p:cNvPr id="16" name="Rectangle 15"/>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18" name="TextBox 17"/>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2: ZERO TRUST ARCHITECTURE</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CISA Zero Trust Maturity Model (2023)</a:t>
            </a:r>
          </a:p>
        </p:txBody>
      </p:sp>
      <p:sp>
        <p:nvSpPr>
          <p:cNvPr id="6" name="Rounded Rectangle 5"/>
          <p:cNvSpPr/>
          <p:nvPr/>
        </p:nvSpPr>
        <p:spPr>
          <a:xfrm>
            <a:off x="457200" y="1645920"/>
            <a:ext cx="2651760" cy="228600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2651760" cy="457200"/>
          </a:xfrm>
          <a:prstGeom prst="rect">
            <a:avLst/>
          </a:prstGeom>
          <a:solidFill>
            <a:srgbClr val="E0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Traditional</a:t>
            </a:r>
          </a:p>
        </p:txBody>
      </p:sp>
      <p:sp>
        <p:nvSpPr>
          <p:cNvPr id="8" name="TextBox 7"/>
          <p:cNvSpPr txBox="1"/>
          <p:nvPr/>
        </p:nvSpPr>
        <p:spPr>
          <a:xfrm>
            <a:off x="594360" y="2286000"/>
            <a:ext cx="2377440" cy="1463040"/>
          </a:xfrm>
          <a:prstGeom prst="rect">
            <a:avLst/>
          </a:prstGeom>
          <a:noFill/>
        </p:spPr>
        <p:txBody>
          <a:bodyPr wrap="square">
            <a:spAutoFit/>
          </a:bodyPr>
          <a:lstStyle/>
          <a:p>
            <a:pPr algn="ctr">
              <a:defRPr sz="1200" b="0">
                <a:solidFill>
                  <a:srgbClr val="444444"/>
                </a:solidFill>
                <a:latin typeface="Calibri"/>
              </a:defRPr>
            </a:pPr>
            <a:r>
              <a:t>Manually configured,</a:t>
            </a:r>
            <a:br/>
            <a:r>
              <a:t>static policies,</a:t>
            </a:r>
            <a:br/>
            <a:r>
              <a:t>limited visibility</a:t>
            </a:r>
          </a:p>
        </p:txBody>
      </p:sp>
      <p:sp>
        <p:nvSpPr>
          <p:cNvPr id="9" name="Rounded Rectangle 8"/>
          <p:cNvSpPr/>
          <p:nvPr/>
        </p:nvSpPr>
        <p:spPr>
          <a:xfrm>
            <a:off x="3337560" y="1645920"/>
            <a:ext cx="2651760" cy="2286000"/>
          </a:xfrm>
          <a:prstGeom prst="roundRect">
            <a:avLst/>
          </a:prstGeom>
          <a:solidFill>
            <a:srgbClr val="FFFFFF"/>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645920"/>
            <a:ext cx="2651760"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Initial</a:t>
            </a:r>
          </a:p>
        </p:txBody>
      </p:sp>
      <p:sp>
        <p:nvSpPr>
          <p:cNvPr id="11" name="TextBox 10"/>
          <p:cNvSpPr txBox="1"/>
          <p:nvPr/>
        </p:nvSpPr>
        <p:spPr>
          <a:xfrm>
            <a:off x="3474720" y="2286000"/>
            <a:ext cx="2377440" cy="1463040"/>
          </a:xfrm>
          <a:prstGeom prst="rect">
            <a:avLst/>
          </a:prstGeom>
          <a:noFill/>
        </p:spPr>
        <p:txBody>
          <a:bodyPr wrap="square">
            <a:spAutoFit/>
          </a:bodyPr>
          <a:lstStyle/>
          <a:p>
            <a:pPr algn="ctr">
              <a:defRPr sz="1200" b="0">
                <a:solidFill>
                  <a:srgbClr val="444444"/>
                </a:solidFill>
                <a:latin typeface="Calibri"/>
              </a:defRPr>
            </a:pPr>
            <a:r>
              <a:t>Some automation,</a:t>
            </a:r>
            <a:br/>
            <a:r>
              <a:t>identity-aware policies,</a:t>
            </a:r>
            <a:br/>
            <a:r>
              <a:t>basic segmentation</a:t>
            </a:r>
          </a:p>
        </p:txBody>
      </p:sp>
      <p:sp>
        <p:nvSpPr>
          <p:cNvPr id="12" name="Rounded Rectangle 11"/>
          <p:cNvSpPr/>
          <p:nvPr/>
        </p:nvSpPr>
        <p:spPr>
          <a:xfrm>
            <a:off x="6217920" y="1645920"/>
            <a:ext cx="2651760" cy="2286000"/>
          </a:xfrm>
          <a:prstGeom prst="roundRect">
            <a:avLst/>
          </a:prstGeom>
          <a:solidFill>
            <a:srgbClr val="FFFF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45920"/>
            <a:ext cx="2651760" cy="457200"/>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Advanced</a:t>
            </a:r>
          </a:p>
        </p:txBody>
      </p:sp>
      <p:sp>
        <p:nvSpPr>
          <p:cNvPr id="14" name="TextBox 13"/>
          <p:cNvSpPr txBox="1"/>
          <p:nvPr/>
        </p:nvSpPr>
        <p:spPr>
          <a:xfrm>
            <a:off x="6355080" y="2286000"/>
            <a:ext cx="2377440" cy="1463040"/>
          </a:xfrm>
          <a:prstGeom prst="rect">
            <a:avLst/>
          </a:prstGeom>
          <a:noFill/>
        </p:spPr>
        <p:txBody>
          <a:bodyPr wrap="square">
            <a:spAutoFit/>
          </a:bodyPr>
          <a:lstStyle/>
          <a:p>
            <a:pPr algn="ctr">
              <a:defRPr sz="1200" b="0">
                <a:solidFill>
                  <a:srgbClr val="444444"/>
                </a:solidFill>
                <a:latin typeface="Calibri"/>
              </a:defRPr>
            </a:pPr>
            <a:r>
              <a:t>Centralized identity,</a:t>
            </a:r>
            <a:br/>
            <a:r>
              <a:t>automated policies,</a:t>
            </a:r>
            <a:br/>
            <a:r>
              <a:t>micro-segmentation</a:t>
            </a:r>
          </a:p>
        </p:txBody>
      </p:sp>
      <p:sp>
        <p:nvSpPr>
          <p:cNvPr id="15" name="Rounded Rectangle 14"/>
          <p:cNvSpPr/>
          <p:nvPr/>
        </p:nvSpPr>
        <p:spPr>
          <a:xfrm>
            <a:off x="9098280" y="1645920"/>
            <a:ext cx="2651760" cy="228600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98280" y="1645920"/>
            <a:ext cx="265176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Optimal</a:t>
            </a:r>
          </a:p>
        </p:txBody>
      </p:sp>
      <p:sp>
        <p:nvSpPr>
          <p:cNvPr id="17" name="TextBox 16"/>
          <p:cNvSpPr txBox="1"/>
          <p:nvPr/>
        </p:nvSpPr>
        <p:spPr>
          <a:xfrm>
            <a:off x="9235440" y="2286000"/>
            <a:ext cx="2377440" cy="1463040"/>
          </a:xfrm>
          <a:prstGeom prst="rect">
            <a:avLst/>
          </a:prstGeom>
          <a:noFill/>
        </p:spPr>
        <p:txBody>
          <a:bodyPr wrap="square">
            <a:spAutoFit/>
          </a:bodyPr>
          <a:lstStyle/>
          <a:p>
            <a:pPr algn="ctr">
              <a:defRPr sz="1200" b="0">
                <a:solidFill>
                  <a:srgbClr val="444444"/>
                </a:solidFill>
                <a:latin typeface="Calibri"/>
              </a:defRPr>
            </a:pPr>
            <a:r>
              <a:t>Continuous verification,</a:t>
            </a:r>
            <a:br/>
            <a:r>
              <a:t>AI-driven policies,</a:t>
            </a:r>
            <a:br/>
            <a:r>
              <a:t>full ZTA adoption</a:t>
            </a:r>
          </a:p>
        </p:txBody>
      </p:sp>
      <p:sp>
        <p:nvSpPr>
          <p:cNvPr id="18" name="Rectangle 17"/>
          <p:cNvSpPr/>
          <p:nvPr/>
        </p:nvSpPr>
        <p:spPr>
          <a:xfrm>
            <a:off x="457200" y="4114800"/>
            <a:ext cx="10972800" cy="54864"/>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0" y="4206240"/>
            <a:ext cx="3657600" cy="365760"/>
          </a:xfrm>
          <a:prstGeom prst="rect">
            <a:avLst/>
          </a:prstGeom>
          <a:noFill/>
        </p:spPr>
        <p:txBody>
          <a:bodyPr wrap="square">
            <a:spAutoFit/>
          </a:bodyPr>
          <a:lstStyle/>
          <a:p>
            <a:pPr algn="ctr">
              <a:defRPr sz="1400" b="1">
                <a:solidFill>
                  <a:srgbClr val="0076CE"/>
                </a:solidFill>
                <a:latin typeface="Calibri"/>
              </a:defRPr>
            </a:pPr>
            <a:r>
              <a:t>Maturity Progression ➤</a:t>
            </a:r>
          </a:p>
        </p:txBody>
      </p:sp>
      <p:sp>
        <p:nvSpPr>
          <p:cNvPr id="20" name="TextBox 19"/>
          <p:cNvSpPr txBox="1"/>
          <p:nvPr/>
        </p:nvSpPr>
        <p:spPr>
          <a:xfrm>
            <a:off x="457200" y="4663440"/>
            <a:ext cx="10972800" cy="365760"/>
          </a:xfrm>
          <a:prstGeom prst="rect">
            <a:avLst/>
          </a:prstGeom>
          <a:noFill/>
        </p:spPr>
        <p:txBody>
          <a:bodyPr wrap="square">
            <a:spAutoFit/>
          </a:bodyPr>
          <a:lstStyle/>
          <a:p>
            <a:pPr algn="l">
              <a:defRPr sz="1600" b="1">
                <a:solidFill>
                  <a:srgbClr val="003B64"/>
                </a:solidFill>
                <a:latin typeface="Calibri"/>
              </a:defRPr>
            </a:pPr>
            <a:r>
              <a:t>Five Pillars of Zero Trust (CISA):</a:t>
            </a:r>
          </a:p>
        </p:txBody>
      </p:sp>
      <p:sp>
        <p:nvSpPr>
          <p:cNvPr id="21" name="Rounded Rectangle 20"/>
          <p:cNvSpPr/>
          <p:nvPr/>
        </p:nvSpPr>
        <p:spPr>
          <a:xfrm>
            <a:off x="457200" y="5120640"/>
            <a:ext cx="2011680" cy="64008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Identity</a:t>
            </a:r>
          </a:p>
        </p:txBody>
      </p:sp>
      <p:sp>
        <p:nvSpPr>
          <p:cNvPr id="22" name="Rounded Rectangle 21"/>
          <p:cNvSpPr/>
          <p:nvPr/>
        </p:nvSpPr>
        <p:spPr>
          <a:xfrm>
            <a:off x="2743200" y="5120640"/>
            <a:ext cx="2011680" cy="64008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Devices</a:t>
            </a:r>
          </a:p>
        </p:txBody>
      </p:sp>
      <p:sp>
        <p:nvSpPr>
          <p:cNvPr id="23" name="Rounded Rectangle 22"/>
          <p:cNvSpPr/>
          <p:nvPr/>
        </p:nvSpPr>
        <p:spPr>
          <a:xfrm>
            <a:off x="5029200" y="5120640"/>
            <a:ext cx="2011680" cy="64008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Networks</a:t>
            </a:r>
          </a:p>
        </p:txBody>
      </p:sp>
      <p:sp>
        <p:nvSpPr>
          <p:cNvPr id="24" name="Rounded Rectangle 23"/>
          <p:cNvSpPr/>
          <p:nvPr/>
        </p:nvSpPr>
        <p:spPr>
          <a:xfrm>
            <a:off x="7315200" y="5120640"/>
            <a:ext cx="2011680" cy="64008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Applications &amp; Workloads</a:t>
            </a:r>
          </a:p>
        </p:txBody>
      </p:sp>
      <p:sp>
        <p:nvSpPr>
          <p:cNvPr id="25" name="Rounded Rectangle 24"/>
          <p:cNvSpPr/>
          <p:nvPr/>
        </p:nvSpPr>
        <p:spPr>
          <a:xfrm>
            <a:off x="9601200" y="5120640"/>
            <a:ext cx="2011680" cy="64008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Data</a:t>
            </a:r>
          </a:p>
        </p:txBody>
      </p:sp>
      <p:sp>
        <p:nvSpPr>
          <p:cNvPr id="26" name="Rounded Rectangle 25"/>
          <p:cNvSpPr/>
          <p:nvPr/>
        </p:nvSpPr>
        <p:spPr>
          <a:xfrm>
            <a:off x="457200" y="5943600"/>
            <a:ext cx="10972800" cy="502920"/>
          </a:xfrm>
          <a:prstGeom prst="roundRect">
            <a:avLst/>
          </a:prstGeom>
          <a:solidFill>
            <a:srgbClr val="FDF2E9"/>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989320"/>
            <a:ext cx="10424160" cy="365760"/>
          </a:xfrm>
          <a:prstGeom prst="rect">
            <a:avLst/>
          </a:prstGeom>
          <a:noFill/>
        </p:spPr>
        <p:txBody>
          <a:bodyPr wrap="square">
            <a:spAutoFit/>
          </a:bodyPr>
          <a:lstStyle/>
          <a:p>
            <a:pPr algn="l">
              <a:defRPr sz="1200" b="0">
                <a:solidFill>
                  <a:srgbClr val="444444"/>
                </a:solidFill>
                <a:latin typeface="Calibri"/>
              </a:defRPr>
            </a:pPr>
            <a:r>
              <a:t>Industry Reality: 67% of organizations are at Initial/Traditional stage (Forrester 2025). Only 3% have achieved Optimal across all five pillars.</a:t>
            </a:r>
          </a:p>
        </p:txBody>
      </p:sp>
      <p:sp>
        <p:nvSpPr>
          <p:cNvPr id="28" name="Rectangle 27"/>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30" name="TextBox 29"/>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3: MODERN IAM SOLUTIONS</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Modern Identity &amp; Access Management (IAM)</a:t>
            </a:r>
          </a:p>
        </p:txBody>
      </p:sp>
      <p:sp>
        <p:nvSpPr>
          <p:cNvPr id="6" name="TextBox 5"/>
          <p:cNvSpPr txBox="1"/>
          <p:nvPr/>
        </p:nvSpPr>
        <p:spPr>
          <a:xfrm>
            <a:off x="457200" y="1554480"/>
            <a:ext cx="3657600" cy="365760"/>
          </a:xfrm>
          <a:prstGeom prst="rect">
            <a:avLst/>
          </a:prstGeom>
          <a:noFill/>
        </p:spPr>
        <p:txBody>
          <a:bodyPr wrap="square">
            <a:spAutoFit/>
          </a:bodyPr>
          <a:lstStyle/>
          <a:p>
            <a:pPr algn="l">
              <a:defRPr sz="1600" b="1">
                <a:solidFill>
                  <a:srgbClr val="0076CE"/>
                </a:solidFill>
                <a:latin typeface="Calibri"/>
              </a:defRPr>
            </a:pPr>
            <a:r>
              <a:t>Authentication Evolution</a:t>
            </a:r>
          </a:p>
        </p:txBody>
      </p:sp>
      <p:sp>
        <p:nvSpPr>
          <p:cNvPr id="7" name="Rounded Rectangle 6"/>
          <p:cNvSpPr/>
          <p:nvPr/>
        </p:nvSpPr>
        <p:spPr>
          <a:xfrm>
            <a:off x="457200" y="2011680"/>
            <a:ext cx="2651760" cy="118872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57400"/>
            <a:ext cx="2468880" cy="320040"/>
          </a:xfrm>
          <a:prstGeom prst="rect">
            <a:avLst/>
          </a:prstGeom>
          <a:noFill/>
        </p:spPr>
        <p:txBody>
          <a:bodyPr wrap="square">
            <a:spAutoFit/>
          </a:bodyPr>
          <a:lstStyle/>
          <a:p>
            <a:pPr algn="ctr">
              <a:defRPr sz="1400" b="1">
                <a:solidFill>
                  <a:srgbClr val="E03C31"/>
                </a:solidFill>
                <a:latin typeface="Calibri"/>
              </a:defRPr>
            </a:pPr>
            <a:r>
              <a:t>Passwords</a:t>
            </a:r>
          </a:p>
        </p:txBody>
      </p:sp>
      <p:sp>
        <p:nvSpPr>
          <p:cNvPr id="9" name="TextBox 8"/>
          <p:cNvSpPr txBox="1"/>
          <p:nvPr/>
        </p:nvSpPr>
        <p:spPr>
          <a:xfrm>
            <a:off x="548640" y="2423160"/>
            <a:ext cx="2468880" cy="731520"/>
          </a:xfrm>
          <a:prstGeom prst="rect">
            <a:avLst/>
          </a:prstGeom>
          <a:noFill/>
        </p:spPr>
        <p:txBody>
          <a:bodyPr wrap="square">
            <a:spAutoFit/>
          </a:bodyPr>
          <a:lstStyle/>
          <a:p>
            <a:pPr algn="ctr">
              <a:defRPr sz="1100" b="0">
                <a:solidFill>
                  <a:srgbClr val="444444"/>
                </a:solidFill>
                <a:latin typeface="Calibri"/>
              </a:defRPr>
            </a:pPr>
            <a:r>
              <a:t>Single factor</a:t>
            </a:r>
            <a:br/>
            <a:r>
              <a:t>Easily compromised</a:t>
            </a:r>
          </a:p>
        </p:txBody>
      </p:sp>
      <p:sp>
        <p:nvSpPr>
          <p:cNvPr id="10" name="Rounded Rectangle 9"/>
          <p:cNvSpPr/>
          <p:nvPr/>
        </p:nvSpPr>
        <p:spPr>
          <a:xfrm>
            <a:off x="3337560" y="2011680"/>
            <a:ext cx="2651760" cy="1188720"/>
          </a:xfrm>
          <a:prstGeom prst="roundRect">
            <a:avLst/>
          </a:prstGeom>
          <a:solidFill>
            <a:srgbClr val="FFFFFF"/>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2057400"/>
            <a:ext cx="2468880" cy="320040"/>
          </a:xfrm>
          <a:prstGeom prst="rect">
            <a:avLst/>
          </a:prstGeom>
          <a:noFill/>
        </p:spPr>
        <p:txBody>
          <a:bodyPr wrap="square">
            <a:spAutoFit/>
          </a:bodyPr>
          <a:lstStyle/>
          <a:p>
            <a:pPr algn="ctr">
              <a:defRPr sz="1400" b="1">
                <a:solidFill>
                  <a:srgbClr val="FF8C00"/>
                </a:solidFill>
                <a:latin typeface="Calibri"/>
              </a:defRPr>
            </a:pPr>
            <a:r>
              <a:t>MFA</a:t>
            </a:r>
          </a:p>
        </p:txBody>
      </p:sp>
      <p:sp>
        <p:nvSpPr>
          <p:cNvPr id="12" name="TextBox 11"/>
          <p:cNvSpPr txBox="1"/>
          <p:nvPr/>
        </p:nvSpPr>
        <p:spPr>
          <a:xfrm>
            <a:off x="3429000" y="2423160"/>
            <a:ext cx="2468880" cy="731520"/>
          </a:xfrm>
          <a:prstGeom prst="rect">
            <a:avLst/>
          </a:prstGeom>
          <a:noFill/>
        </p:spPr>
        <p:txBody>
          <a:bodyPr wrap="square">
            <a:spAutoFit/>
          </a:bodyPr>
          <a:lstStyle/>
          <a:p>
            <a:pPr algn="ctr">
              <a:defRPr sz="1100" b="0">
                <a:solidFill>
                  <a:srgbClr val="444444"/>
                </a:solidFill>
                <a:latin typeface="Calibri"/>
              </a:defRPr>
            </a:pPr>
            <a:r>
              <a:t>TOTP, SMS, Push</a:t>
            </a:r>
            <a:br/>
            <a:r>
              <a:t>99.9% phishing block</a:t>
            </a:r>
          </a:p>
        </p:txBody>
      </p:sp>
      <p:sp>
        <p:nvSpPr>
          <p:cNvPr id="13" name="Rounded Rectangle 12"/>
          <p:cNvSpPr/>
          <p:nvPr/>
        </p:nvSpPr>
        <p:spPr>
          <a:xfrm>
            <a:off x="6217920" y="2011680"/>
            <a:ext cx="2651760" cy="118872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057400"/>
            <a:ext cx="2468880" cy="320040"/>
          </a:xfrm>
          <a:prstGeom prst="rect">
            <a:avLst/>
          </a:prstGeom>
          <a:noFill/>
        </p:spPr>
        <p:txBody>
          <a:bodyPr wrap="square">
            <a:spAutoFit/>
          </a:bodyPr>
          <a:lstStyle/>
          <a:p>
            <a:pPr algn="ctr">
              <a:defRPr sz="1400" b="1">
                <a:solidFill>
                  <a:srgbClr val="2E8B57"/>
                </a:solidFill>
                <a:latin typeface="Calibri"/>
              </a:defRPr>
            </a:pPr>
            <a:r>
              <a:t>Passwordless</a:t>
            </a:r>
          </a:p>
        </p:txBody>
      </p:sp>
      <p:sp>
        <p:nvSpPr>
          <p:cNvPr id="15" name="TextBox 14"/>
          <p:cNvSpPr txBox="1"/>
          <p:nvPr/>
        </p:nvSpPr>
        <p:spPr>
          <a:xfrm>
            <a:off x="6309360" y="2423160"/>
            <a:ext cx="2468880" cy="731520"/>
          </a:xfrm>
          <a:prstGeom prst="rect">
            <a:avLst/>
          </a:prstGeom>
          <a:noFill/>
        </p:spPr>
        <p:txBody>
          <a:bodyPr wrap="square">
            <a:spAutoFit/>
          </a:bodyPr>
          <a:lstStyle/>
          <a:p>
            <a:pPr algn="ctr">
              <a:defRPr sz="1100" b="0">
                <a:solidFill>
                  <a:srgbClr val="444444"/>
                </a:solidFill>
                <a:latin typeface="Calibri"/>
              </a:defRPr>
            </a:pPr>
            <a:r>
              <a:t>FIDO2/WebAuthn</a:t>
            </a:r>
            <a:br/>
            <a:r>
              <a:t>Biometrics + HW keys</a:t>
            </a:r>
          </a:p>
        </p:txBody>
      </p:sp>
      <p:sp>
        <p:nvSpPr>
          <p:cNvPr id="16" name="Rounded Rectangle 15"/>
          <p:cNvSpPr/>
          <p:nvPr/>
        </p:nvSpPr>
        <p:spPr>
          <a:xfrm>
            <a:off x="9098280" y="2011680"/>
            <a:ext cx="2651760" cy="1188720"/>
          </a:xfrm>
          <a:prstGeom prst="roundRect">
            <a:avLst/>
          </a:prstGeom>
          <a:solidFill>
            <a:srgbClr val="FFFF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2057400"/>
            <a:ext cx="2468880" cy="320040"/>
          </a:xfrm>
          <a:prstGeom prst="rect">
            <a:avLst/>
          </a:prstGeom>
          <a:noFill/>
        </p:spPr>
        <p:txBody>
          <a:bodyPr wrap="square">
            <a:spAutoFit/>
          </a:bodyPr>
          <a:lstStyle/>
          <a:p>
            <a:pPr algn="ctr">
              <a:defRPr sz="1400" b="1">
                <a:solidFill>
                  <a:srgbClr val="0076CE"/>
                </a:solidFill>
                <a:latin typeface="Calibri"/>
              </a:defRPr>
            </a:pPr>
            <a:r>
              <a:t>Passkeys</a:t>
            </a:r>
          </a:p>
        </p:txBody>
      </p:sp>
      <p:sp>
        <p:nvSpPr>
          <p:cNvPr id="18" name="TextBox 17"/>
          <p:cNvSpPr txBox="1"/>
          <p:nvPr/>
        </p:nvSpPr>
        <p:spPr>
          <a:xfrm>
            <a:off x="9189720" y="2423160"/>
            <a:ext cx="2468880" cy="731520"/>
          </a:xfrm>
          <a:prstGeom prst="rect">
            <a:avLst/>
          </a:prstGeom>
          <a:noFill/>
        </p:spPr>
        <p:txBody>
          <a:bodyPr wrap="square">
            <a:spAutoFit/>
          </a:bodyPr>
          <a:lstStyle/>
          <a:p>
            <a:pPr algn="ctr">
              <a:defRPr sz="1100" b="0">
                <a:solidFill>
                  <a:srgbClr val="444444"/>
                </a:solidFill>
                <a:latin typeface="Calibri"/>
              </a:defRPr>
            </a:pPr>
            <a:r>
              <a:t>2024-2025 Standard</a:t>
            </a:r>
            <a:br/>
            <a:r>
              <a:t>Cross-device, phishing-proof</a:t>
            </a:r>
          </a:p>
        </p:txBody>
      </p:sp>
      <p:sp>
        <p:nvSpPr>
          <p:cNvPr id="19" name="TextBox 18"/>
          <p:cNvSpPr txBox="1"/>
          <p:nvPr/>
        </p:nvSpPr>
        <p:spPr>
          <a:xfrm>
            <a:off x="4572000" y="1554480"/>
            <a:ext cx="2743200" cy="365760"/>
          </a:xfrm>
          <a:prstGeom prst="rect">
            <a:avLst/>
          </a:prstGeom>
          <a:noFill/>
        </p:spPr>
        <p:txBody>
          <a:bodyPr wrap="square">
            <a:spAutoFit/>
          </a:bodyPr>
          <a:lstStyle/>
          <a:p>
            <a:pPr algn="ctr">
              <a:defRPr sz="1200" b="0">
                <a:solidFill>
                  <a:srgbClr val="6C6C6C"/>
                </a:solidFill>
                <a:latin typeface="Calibri"/>
              </a:defRPr>
            </a:pPr>
            <a:r>
              <a:t>➤  Evolution  ➤</a:t>
            </a:r>
          </a:p>
        </p:txBody>
      </p:sp>
      <p:sp>
        <p:nvSpPr>
          <p:cNvPr id="20" name="TextBox 19"/>
          <p:cNvSpPr txBox="1"/>
          <p:nvPr/>
        </p:nvSpPr>
        <p:spPr>
          <a:xfrm>
            <a:off x="457200" y="3474720"/>
            <a:ext cx="10972800" cy="365760"/>
          </a:xfrm>
          <a:prstGeom prst="rect">
            <a:avLst/>
          </a:prstGeom>
          <a:noFill/>
        </p:spPr>
        <p:txBody>
          <a:bodyPr wrap="square">
            <a:spAutoFit/>
          </a:bodyPr>
          <a:lstStyle/>
          <a:p>
            <a:pPr algn="l">
              <a:defRPr sz="1600" b="1">
                <a:solidFill>
                  <a:srgbClr val="0076CE"/>
                </a:solidFill>
                <a:latin typeface="Calibri"/>
              </a:defRPr>
            </a:pPr>
            <a:r>
              <a:t>Key IAM Concepts in Zero Trust</a:t>
            </a:r>
          </a:p>
        </p:txBody>
      </p:sp>
      <p:sp>
        <p:nvSpPr>
          <p:cNvPr id="21" name="Rounded Rectangle 20"/>
          <p:cNvSpPr/>
          <p:nvPr/>
        </p:nvSpPr>
        <p:spPr>
          <a:xfrm>
            <a:off x="457200" y="3931920"/>
            <a:ext cx="2651760" cy="146304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977639"/>
            <a:ext cx="2468880" cy="320040"/>
          </a:xfrm>
          <a:prstGeom prst="rect">
            <a:avLst/>
          </a:prstGeom>
          <a:noFill/>
        </p:spPr>
        <p:txBody>
          <a:bodyPr wrap="square">
            <a:spAutoFit/>
          </a:bodyPr>
          <a:lstStyle/>
          <a:p>
            <a:pPr algn="ctr">
              <a:defRPr sz="1300" b="1">
                <a:solidFill>
                  <a:srgbClr val="0076CE"/>
                </a:solidFill>
                <a:latin typeface="Calibri"/>
              </a:defRPr>
            </a:pPr>
            <a:r>
              <a:t>SSO + Federation</a:t>
            </a:r>
          </a:p>
        </p:txBody>
      </p:sp>
      <p:sp>
        <p:nvSpPr>
          <p:cNvPr id="23" name="TextBox 22"/>
          <p:cNvSpPr txBox="1"/>
          <p:nvPr/>
        </p:nvSpPr>
        <p:spPr>
          <a:xfrm>
            <a:off x="548640" y="4343400"/>
            <a:ext cx="2468880" cy="1005840"/>
          </a:xfrm>
          <a:prstGeom prst="rect">
            <a:avLst/>
          </a:prstGeom>
          <a:noFill/>
        </p:spPr>
        <p:txBody>
          <a:bodyPr wrap="square">
            <a:spAutoFit/>
          </a:bodyPr>
          <a:lstStyle/>
          <a:p>
            <a:pPr algn="ctr">
              <a:defRPr sz="1050" b="0">
                <a:solidFill>
                  <a:srgbClr val="444444"/>
                </a:solidFill>
                <a:latin typeface="Calibri"/>
              </a:defRPr>
            </a:pPr>
            <a:r>
              <a:t>OIDC, SAML 2.0, OAuth 2.1</a:t>
            </a:r>
            <a:br/>
            <a:r>
              <a:t>Single sign-on across services</a:t>
            </a:r>
            <a:br/>
            <a:r>
              <a:t>Federated identity across orgs</a:t>
            </a:r>
          </a:p>
        </p:txBody>
      </p:sp>
      <p:sp>
        <p:nvSpPr>
          <p:cNvPr id="24" name="Rounded Rectangle 23"/>
          <p:cNvSpPr/>
          <p:nvPr/>
        </p:nvSpPr>
        <p:spPr>
          <a:xfrm>
            <a:off x="3337560" y="3931920"/>
            <a:ext cx="2651760" cy="146304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29000" y="3977639"/>
            <a:ext cx="2468880" cy="320040"/>
          </a:xfrm>
          <a:prstGeom prst="rect">
            <a:avLst/>
          </a:prstGeom>
          <a:noFill/>
        </p:spPr>
        <p:txBody>
          <a:bodyPr wrap="square">
            <a:spAutoFit/>
          </a:bodyPr>
          <a:lstStyle/>
          <a:p>
            <a:pPr algn="ctr">
              <a:defRPr sz="1300" b="1">
                <a:solidFill>
                  <a:srgbClr val="0076CE"/>
                </a:solidFill>
                <a:latin typeface="Calibri"/>
              </a:defRPr>
            </a:pPr>
            <a:r>
              <a:t>RBAC → ABAC</a:t>
            </a:r>
          </a:p>
        </p:txBody>
      </p:sp>
      <p:sp>
        <p:nvSpPr>
          <p:cNvPr id="26" name="TextBox 25"/>
          <p:cNvSpPr txBox="1"/>
          <p:nvPr/>
        </p:nvSpPr>
        <p:spPr>
          <a:xfrm>
            <a:off x="3429000" y="4343400"/>
            <a:ext cx="2468880" cy="1005840"/>
          </a:xfrm>
          <a:prstGeom prst="rect">
            <a:avLst/>
          </a:prstGeom>
          <a:noFill/>
        </p:spPr>
        <p:txBody>
          <a:bodyPr wrap="square">
            <a:spAutoFit/>
          </a:bodyPr>
          <a:lstStyle/>
          <a:p>
            <a:pPr algn="ctr">
              <a:defRPr sz="1050" b="0">
                <a:solidFill>
                  <a:srgbClr val="444444"/>
                </a:solidFill>
                <a:latin typeface="Calibri"/>
              </a:defRPr>
            </a:pPr>
            <a:r>
              <a:t>Role-Based → Attribute-Based</a:t>
            </a:r>
            <a:br/>
            <a:r>
              <a:t>Context-aware access decisions</a:t>
            </a:r>
            <a:br/>
            <a:r>
              <a:t>Dynamic policy evaluation</a:t>
            </a:r>
          </a:p>
        </p:txBody>
      </p:sp>
      <p:sp>
        <p:nvSpPr>
          <p:cNvPr id="27" name="Rounded Rectangle 26"/>
          <p:cNvSpPr/>
          <p:nvPr/>
        </p:nvSpPr>
        <p:spPr>
          <a:xfrm>
            <a:off x="6217920" y="3931920"/>
            <a:ext cx="2651760" cy="146304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977639"/>
            <a:ext cx="2468880" cy="320040"/>
          </a:xfrm>
          <a:prstGeom prst="rect">
            <a:avLst/>
          </a:prstGeom>
          <a:noFill/>
        </p:spPr>
        <p:txBody>
          <a:bodyPr wrap="square">
            <a:spAutoFit/>
          </a:bodyPr>
          <a:lstStyle/>
          <a:p>
            <a:pPr algn="ctr">
              <a:defRPr sz="1300" b="1">
                <a:solidFill>
                  <a:srgbClr val="0076CE"/>
                </a:solidFill>
                <a:latin typeface="Calibri"/>
              </a:defRPr>
            </a:pPr>
            <a:r>
              <a:t>PAM</a:t>
            </a:r>
          </a:p>
        </p:txBody>
      </p:sp>
      <p:sp>
        <p:nvSpPr>
          <p:cNvPr id="29" name="TextBox 28"/>
          <p:cNvSpPr txBox="1"/>
          <p:nvPr/>
        </p:nvSpPr>
        <p:spPr>
          <a:xfrm>
            <a:off x="6309360" y="4343400"/>
            <a:ext cx="2468880" cy="1005840"/>
          </a:xfrm>
          <a:prstGeom prst="rect">
            <a:avLst/>
          </a:prstGeom>
          <a:noFill/>
        </p:spPr>
        <p:txBody>
          <a:bodyPr wrap="square">
            <a:spAutoFit/>
          </a:bodyPr>
          <a:lstStyle/>
          <a:p>
            <a:pPr algn="ctr">
              <a:defRPr sz="1050" b="0">
                <a:solidFill>
                  <a:srgbClr val="444444"/>
                </a:solidFill>
                <a:latin typeface="Calibri"/>
              </a:defRPr>
            </a:pPr>
            <a:r>
              <a:t>Privileged Access Management</a:t>
            </a:r>
            <a:br/>
            <a:r>
              <a:t>JIT elevation, session recording</a:t>
            </a:r>
            <a:br/>
            <a:r>
              <a:t>Secrets vault (HashiCorp Vault)</a:t>
            </a:r>
          </a:p>
        </p:txBody>
      </p:sp>
      <p:sp>
        <p:nvSpPr>
          <p:cNvPr id="30" name="Rounded Rectangle 29"/>
          <p:cNvSpPr/>
          <p:nvPr/>
        </p:nvSpPr>
        <p:spPr>
          <a:xfrm>
            <a:off x="9098280" y="3931920"/>
            <a:ext cx="2651760" cy="146304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89720" y="3977639"/>
            <a:ext cx="2468880" cy="320040"/>
          </a:xfrm>
          <a:prstGeom prst="rect">
            <a:avLst/>
          </a:prstGeom>
          <a:noFill/>
        </p:spPr>
        <p:txBody>
          <a:bodyPr wrap="square">
            <a:spAutoFit/>
          </a:bodyPr>
          <a:lstStyle/>
          <a:p>
            <a:pPr algn="ctr">
              <a:defRPr sz="1300" b="1">
                <a:solidFill>
                  <a:srgbClr val="0076CE"/>
                </a:solidFill>
                <a:latin typeface="Calibri"/>
              </a:defRPr>
            </a:pPr>
            <a:r>
              <a:t>Decentralized ID</a:t>
            </a:r>
          </a:p>
        </p:txBody>
      </p:sp>
      <p:sp>
        <p:nvSpPr>
          <p:cNvPr id="32" name="TextBox 31"/>
          <p:cNvSpPr txBox="1"/>
          <p:nvPr/>
        </p:nvSpPr>
        <p:spPr>
          <a:xfrm>
            <a:off x="9189720" y="4343400"/>
            <a:ext cx="2468880" cy="1005840"/>
          </a:xfrm>
          <a:prstGeom prst="rect">
            <a:avLst/>
          </a:prstGeom>
          <a:noFill/>
        </p:spPr>
        <p:txBody>
          <a:bodyPr wrap="square">
            <a:spAutoFit/>
          </a:bodyPr>
          <a:lstStyle/>
          <a:p>
            <a:pPr algn="ctr">
              <a:defRPr sz="1050" b="0">
                <a:solidFill>
                  <a:srgbClr val="444444"/>
                </a:solidFill>
                <a:latin typeface="Calibri"/>
              </a:defRPr>
            </a:pPr>
            <a:r>
              <a:t>W3C DID standard (2024)</a:t>
            </a:r>
            <a:br/>
            <a:r>
              <a:t>Self-sovereign identity</a:t>
            </a:r>
            <a:br/>
            <a:r>
              <a:t>Verifiable credentials</a:t>
            </a:r>
          </a:p>
        </p:txBody>
      </p:sp>
      <p:sp>
        <p:nvSpPr>
          <p:cNvPr id="33" name="Rounded Rectangle 32"/>
          <p:cNvSpPr/>
          <p:nvPr/>
        </p:nvSpPr>
        <p:spPr>
          <a:xfrm>
            <a:off x="457200" y="5577840"/>
            <a:ext cx="10972800" cy="822960"/>
          </a:xfrm>
          <a:prstGeom prst="roundRect">
            <a:avLst/>
          </a:prstGeom>
          <a:solidFill>
            <a:srgbClr val="F0F8F0"/>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623560"/>
            <a:ext cx="10424160" cy="320040"/>
          </a:xfrm>
          <a:prstGeom prst="rect">
            <a:avLst/>
          </a:prstGeom>
          <a:noFill/>
        </p:spPr>
        <p:txBody>
          <a:bodyPr wrap="square">
            <a:spAutoFit/>
          </a:bodyPr>
          <a:lstStyle/>
          <a:p>
            <a:pPr algn="l">
              <a:defRPr sz="1300" b="1">
                <a:solidFill>
                  <a:srgbClr val="2E8B57"/>
                </a:solidFill>
                <a:latin typeface="Calibri"/>
              </a:defRPr>
            </a:pPr>
            <a:r>
              <a:t>Industry IAM Solutions:</a:t>
            </a:r>
          </a:p>
        </p:txBody>
      </p:sp>
      <p:sp>
        <p:nvSpPr>
          <p:cNvPr id="35" name="TextBox 34"/>
          <p:cNvSpPr txBox="1"/>
          <p:nvPr/>
        </p:nvSpPr>
        <p:spPr>
          <a:xfrm>
            <a:off x="731520" y="5943600"/>
            <a:ext cx="10424160" cy="365760"/>
          </a:xfrm>
          <a:prstGeom prst="rect">
            <a:avLst/>
          </a:prstGeom>
          <a:noFill/>
        </p:spPr>
        <p:txBody>
          <a:bodyPr wrap="square">
            <a:spAutoFit/>
          </a:bodyPr>
          <a:lstStyle/>
          <a:p>
            <a:pPr algn="l">
              <a:defRPr sz="1100" b="0">
                <a:solidFill>
                  <a:srgbClr val="444444"/>
                </a:solidFill>
                <a:latin typeface="Calibri"/>
              </a:defRPr>
            </a:pPr>
            <a:r>
              <a:t>Enterprise: Okta | Azure AD (Entra ID) | Ping Identity | CyberArk     |     Open Source: Keycloak | Authentik | Ory | Zitadel     |     Standards: OIDC | OAuth 2.1 | FIDO2/WebAuthn | SCIM | W3C DID</a:t>
            </a:r>
          </a:p>
        </p:txBody>
      </p:sp>
      <p:sp>
        <p:nvSpPr>
          <p:cNvPr id="36" name="Rectangle 35"/>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38" name="TextBox 37"/>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3: MODERN IAM SOLUTIONS</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OAuth 2.1 / OIDC Authentication Flow</a:t>
            </a:r>
          </a:p>
        </p:txBody>
      </p:sp>
      <p:sp>
        <p:nvSpPr>
          <p:cNvPr id="6" name="Rounded Rectangle 5"/>
          <p:cNvSpPr/>
          <p:nvPr/>
        </p:nvSpPr>
        <p:spPr>
          <a:xfrm>
            <a:off x="457200" y="2286000"/>
            <a:ext cx="2286000" cy="914400"/>
          </a:xfrm>
          <a:prstGeom prst="round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User / Browser</a:t>
            </a:r>
          </a:p>
        </p:txBody>
      </p:sp>
      <p:sp>
        <p:nvSpPr>
          <p:cNvPr id="7" name="Rounded Rectangle 6"/>
          <p:cNvSpPr/>
          <p:nvPr/>
        </p:nvSpPr>
        <p:spPr>
          <a:xfrm>
            <a:off x="3657600" y="2286000"/>
            <a:ext cx="2286000" cy="91440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Application</a:t>
            </a:r>
            <a:br/>
            <a:r>
              <a:t>(Client)</a:t>
            </a:r>
          </a:p>
        </p:txBody>
      </p:sp>
      <p:sp>
        <p:nvSpPr>
          <p:cNvPr id="8" name="Rounded Rectangle 7"/>
          <p:cNvSpPr/>
          <p:nvPr/>
        </p:nvSpPr>
        <p:spPr>
          <a:xfrm>
            <a:off x="6858000" y="2286000"/>
            <a:ext cx="2286000" cy="91440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Authorization</a:t>
            </a:r>
            <a:br/>
            <a:r>
              <a:t>Server (IdP)</a:t>
            </a:r>
          </a:p>
        </p:txBody>
      </p:sp>
      <p:sp>
        <p:nvSpPr>
          <p:cNvPr id="9" name="Rounded Rectangle 8"/>
          <p:cNvSpPr/>
          <p:nvPr/>
        </p:nvSpPr>
        <p:spPr>
          <a:xfrm>
            <a:off x="9601200" y="2286000"/>
            <a:ext cx="2286000" cy="91440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Resource</a:t>
            </a:r>
            <a:br/>
            <a:r>
              <a:t>Server (API)</a:t>
            </a:r>
          </a:p>
        </p:txBody>
      </p:sp>
      <p:sp>
        <p:nvSpPr>
          <p:cNvPr id="10" name="Oval 9"/>
          <p:cNvSpPr/>
          <p:nvPr/>
        </p:nvSpPr>
        <p:spPr>
          <a:xfrm>
            <a:off x="457200" y="3657600"/>
            <a:ext cx="320040" cy="3200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1</a:t>
            </a:r>
          </a:p>
        </p:txBody>
      </p:sp>
      <p:sp>
        <p:nvSpPr>
          <p:cNvPr id="11" name="TextBox 10"/>
          <p:cNvSpPr txBox="1"/>
          <p:nvPr/>
        </p:nvSpPr>
        <p:spPr>
          <a:xfrm>
            <a:off x="868680" y="3675888"/>
            <a:ext cx="4846320" cy="320040"/>
          </a:xfrm>
          <a:prstGeom prst="rect">
            <a:avLst/>
          </a:prstGeom>
          <a:noFill/>
        </p:spPr>
        <p:txBody>
          <a:bodyPr wrap="square">
            <a:spAutoFit/>
          </a:bodyPr>
          <a:lstStyle/>
          <a:p>
            <a:pPr algn="l">
              <a:defRPr sz="1200" b="0">
                <a:solidFill>
                  <a:srgbClr val="444444"/>
                </a:solidFill>
                <a:latin typeface="Calibri"/>
              </a:defRPr>
            </a:pPr>
            <a:r>
              <a:t>User clicks 'Login'</a:t>
            </a:r>
          </a:p>
        </p:txBody>
      </p:sp>
      <p:sp>
        <p:nvSpPr>
          <p:cNvPr id="12" name="Oval 11"/>
          <p:cNvSpPr/>
          <p:nvPr/>
        </p:nvSpPr>
        <p:spPr>
          <a:xfrm>
            <a:off x="457200" y="4023360"/>
            <a:ext cx="320040" cy="3200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2</a:t>
            </a:r>
          </a:p>
        </p:txBody>
      </p:sp>
      <p:sp>
        <p:nvSpPr>
          <p:cNvPr id="13" name="TextBox 12"/>
          <p:cNvSpPr txBox="1"/>
          <p:nvPr/>
        </p:nvSpPr>
        <p:spPr>
          <a:xfrm>
            <a:off x="868680" y="4041648"/>
            <a:ext cx="4846320" cy="320040"/>
          </a:xfrm>
          <a:prstGeom prst="rect">
            <a:avLst/>
          </a:prstGeom>
          <a:noFill/>
        </p:spPr>
        <p:txBody>
          <a:bodyPr wrap="square">
            <a:spAutoFit/>
          </a:bodyPr>
          <a:lstStyle/>
          <a:p>
            <a:pPr algn="l">
              <a:defRPr sz="1200" b="0">
                <a:solidFill>
                  <a:srgbClr val="444444"/>
                </a:solidFill>
                <a:latin typeface="Calibri"/>
              </a:defRPr>
            </a:pPr>
            <a:r>
              <a:t>App redirects to IdP with PKCE challenge</a:t>
            </a:r>
          </a:p>
        </p:txBody>
      </p:sp>
      <p:sp>
        <p:nvSpPr>
          <p:cNvPr id="14" name="Oval 13"/>
          <p:cNvSpPr/>
          <p:nvPr/>
        </p:nvSpPr>
        <p:spPr>
          <a:xfrm>
            <a:off x="457200" y="4389120"/>
            <a:ext cx="320040" cy="3200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3</a:t>
            </a:r>
          </a:p>
        </p:txBody>
      </p:sp>
      <p:sp>
        <p:nvSpPr>
          <p:cNvPr id="15" name="TextBox 14"/>
          <p:cNvSpPr txBox="1"/>
          <p:nvPr/>
        </p:nvSpPr>
        <p:spPr>
          <a:xfrm>
            <a:off x="868680" y="4407408"/>
            <a:ext cx="4846320" cy="320040"/>
          </a:xfrm>
          <a:prstGeom prst="rect">
            <a:avLst/>
          </a:prstGeom>
          <a:noFill/>
        </p:spPr>
        <p:txBody>
          <a:bodyPr wrap="square">
            <a:spAutoFit/>
          </a:bodyPr>
          <a:lstStyle/>
          <a:p>
            <a:pPr algn="l">
              <a:defRPr sz="1200" b="0">
                <a:solidFill>
                  <a:srgbClr val="444444"/>
                </a:solidFill>
                <a:latin typeface="Calibri"/>
              </a:defRPr>
            </a:pPr>
            <a:r>
              <a:t>User authenticates (MFA/Passkey)</a:t>
            </a:r>
          </a:p>
        </p:txBody>
      </p:sp>
      <p:sp>
        <p:nvSpPr>
          <p:cNvPr id="16" name="Oval 15"/>
          <p:cNvSpPr/>
          <p:nvPr/>
        </p:nvSpPr>
        <p:spPr>
          <a:xfrm>
            <a:off x="457200" y="4754880"/>
            <a:ext cx="320040" cy="3200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4</a:t>
            </a:r>
          </a:p>
        </p:txBody>
      </p:sp>
      <p:sp>
        <p:nvSpPr>
          <p:cNvPr id="17" name="TextBox 16"/>
          <p:cNvSpPr txBox="1"/>
          <p:nvPr/>
        </p:nvSpPr>
        <p:spPr>
          <a:xfrm>
            <a:off x="868680" y="4773168"/>
            <a:ext cx="4846320" cy="320040"/>
          </a:xfrm>
          <a:prstGeom prst="rect">
            <a:avLst/>
          </a:prstGeom>
          <a:noFill/>
        </p:spPr>
        <p:txBody>
          <a:bodyPr wrap="square">
            <a:spAutoFit/>
          </a:bodyPr>
          <a:lstStyle/>
          <a:p>
            <a:pPr algn="l">
              <a:defRPr sz="1200" b="0">
                <a:solidFill>
                  <a:srgbClr val="444444"/>
                </a:solidFill>
                <a:latin typeface="Calibri"/>
              </a:defRPr>
            </a:pPr>
            <a:r>
              <a:t>IdP returns authorization code to app callback</a:t>
            </a:r>
          </a:p>
        </p:txBody>
      </p:sp>
      <p:sp>
        <p:nvSpPr>
          <p:cNvPr id="18" name="Oval 17"/>
          <p:cNvSpPr/>
          <p:nvPr/>
        </p:nvSpPr>
        <p:spPr>
          <a:xfrm>
            <a:off x="5943600" y="3657600"/>
            <a:ext cx="320040" cy="3200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5</a:t>
            </a:r>
          </a:p>
        </p:txBody>
      </p:sp>
      <p:sp>
        <p:nvSpPr>
          <p:cNvPr id="19" name="TextBox 18"/>
          <p:cNvSpPr txBox="1"/>
          <p:nvPr/>
        </p:nvSpPr>
        <p:spPr>
          <a:xfrm>
            <a:off x="6355080" y="3675888"/>
            <a:ext cx="4846320" cy="320040"/>
          </a:xfrm>
          <a:prstGeom prst="rect">
            <a:avLst/>
          </a:prstGeom>
          <a:noFill/>
        </p:spPr>
        <p:txBody>
          <a:bodyPr wrap="square">
            <a:spAutoFit/>
          </a:bodyPr>
          <a:lstStyle/>
          <a:p>
            <a:pPr algn="l">
              <a:defRPr sz="1200" b="0">
                <a:solidFill>
                  <a:srgbClr val="444444"/>
                </a:solidFill>
                <a:latin typeface="Calibri"/>
              </a:defRPr>
            </a:pPr>
            <a:r>
              <a:t>App exchanges code + PKCE verifier for tokens</a:t>
            </a:r>
          </a:p>
        </p:txBody>
      </p:sp>
      <p:sp>
        <p:nvSpPr>
          <p:cNvPr id="20" name="Oval 19"/>
          <p:cNvSpPr/>
          <p:nvPr/>
        </p:nvSpPr>
        <p:spPr>
          <a:xfrm>
            <a:off x="5943600" y="4023360"/>
            <a:ext cx="320040" cy="3200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6</a:t>
            </a:r>
          </a:p>
        </p:txBody>
      </p:sp>
      <p:sp>
        <p:nvSpPr>
          <p:cNvPr id="21" name="TextBox 20"/>
          <p:cNvSpPr txBox="1"/>
          <p:nvPr/>
        </p:nvSpPr>
        <p:spPr>
          <a:xfrm>
            <a:off x="6355080" y="4041648"/>
            <a:ext cx="4846320" cy="320040"/>
          </a:xfrm>
          <a:prstGeom prst="rect">
            <a:avLst/>
          </a:prstGeom>
          <a:noFill/>
        </p:spPr>
        <p:txBody>
          <a:bodyPr wrap="square">
            <a:spAutoFit/>
          </a:bodyPr>
          <a:lstStyle/>
          <a:p>
            <a:pPr algn="l">
              <a:defRPr sz="1200" b="0">
                <a:solidFill>
                  <a:srgbClr val="444444"/>
                </a:solidFill>
                <a:latin typeface="Calibri"/>
              </a:defRPr>
            </a:pPr>
            <a:r>
              <a:t>IdP returns: ID Token (JWT) + Access Token + Refresh Token</a:t>
            </a:r>
          </a:p>
        </p:txBody>
      </p:sp>
      <p:sp>
        <p:nvSpPr>
          <p:cNvPr id="22" name="Oval 21"/>
          <p:cNvSpPr/>
          <p:nvPr/>
        </p:nvSpPr>
        <p:spPr>
          <a:xfrm>
            <a:off x="5943600" y="4389120"/>
            <a:ext cx="320040" cy="3200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7</a:t>
            </a:r>
          </a:p>
        </p:txBody>
      </p:sp>
      <p:sp>
        <p:nvSpPr>
          <p:cNvPr id="23" name="TextBox 22"/>
          <p:cNvSpPr txBox="1"/>
          <p:nvPr/>
        </p:nvSpPr>
        <p:spPr>
          <a:xfrm>
            <a:off x="6355080" y="4407408"/>
            <a:ext cx="4846320" cy="320040"/>
          </a:xfrm>
          <a:prstGeom prst="rect">
            <a:avLst/>
          </a:prstGeom>
          <a:noFill/>
        </p:spPr>
        <p:txBody>
          <a:bodyPr wrap="square">
            <a:spAutoFit/>
          </a:bodyPr>
          <a:lstStyle/>
          <a:p>
            <a:pPr algn="l">
              <a:defRPr sz="1200" b="0">
                <a:solidFill>
                  <a:srgbClr val="444444"/>
                </a:solidFill>
                <a:latin typeface="Calibri"/>
              </a:defRPr>
            </a:pPr>
            <a:r>
              <a:t>App sends Access Token to Resource Server</a:t>
            </a:r>
          </a:p>
        </p:txBody>
      </p:sp>
      <p:sp>
        <p:nvSpPr>
          <p:cNvPr id="24" name="Oval 23"/>
          <p:cNvSpPr/>
          <p:nvPr/>
        </p:nvSpPr>
        <p:spPr>
          <a:xfrm>
            <a:off x="5943600" y="4754880"/>
            <a:ext cx="320040" cy="3200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8</a:t>
            </a:r>
          </a:p>
        </p:txBody>
      </p:sp>
      <p:sp>
        <p:nvSpPr>
          <p:cNvPr id="25" name="TextBox 24"/>
          <p:cNvSpPr txBox="1"/>
          <p:nvPr/>
        </p:nvSpPr>
        <p:spPr>
          <a:xfrm>
            <a:off x="6355080" y="4773168"/>
            <a:ext cx="4846320" cy="320040"/>
          </a:xfrm>
          <a:prstGeom prst="rect">
            <a:avLst/>
          </a:prstGeom>
          <a:noFill/>
        </p:spPr>
        <p:txBody>
          <a:bodyPr wrap="square">
            <a:spAutoFit/>
          </a:bodyPr>
          <a:lstStyle/>
          <a:p>
            <a:pPr algn="l">
              <a:defRPr sz="1200" b="0">
                <a:solidFill>
                  <a:srgbClr val="444444"/>
                </a:solidFill>
                <a:latin typeface="Calibri"/>
              </a:defRPr>
            </a:pPr>
            <a:r>
              <a:t>Resource Server validates token, returns protected data</a:t>
            </a:r>
          </a:p>
        </p:txBody>
      </p:sp>
      <p:sp>
        <p:nvSpPr>
          <p:cNvPr id="26" name="Rounded Rectangle 25"/>
          <p:cNvSpPr/>
          <p:nvPr/>
        </p:nvSpPr>
        <p:spPr>
          <a:xfrm>
            <a:off x="457200" y="5303520"/>
            <a:ext cx="10972800" cy="100584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349240"/>
            <a:ext cx="10424160" cy="274320"/>
          </a:xfrm>
          <a:prstGeom prst="rect">
            <a:avLst/>
          </a:prstGeom>
          <a:noFill/>
        </p:spPr>
        <p:txBody>
          <a:bodyPr wrap="square">
            <a:spAutoFit/>
          </a:bodyPr>
          <a:lstStyle/>
          <a:p>
            <a:pPr algn="l">
              <a:defRPr sz="1400" b="1">
                <a:solidFill>
                  <a:srgbClr val="0076CE"/>
                </a:solidFill>
                <a:latin typeface="Calibri"/>
              </a:defRPr>
            </a:pPr>
            <a:r>
              <a:t>Key Security Features in OAuth 2.1:</a:t>
            </a:r>
          </a:p>
        </p:txBody>
      </p:sp>
      <p:sp>
        <p:nvSpPr>
          <p:cNvPr id="28" name="TextBox 27"/>
          <p:cNvSpPr txBox="1"/>
          <p:nvPr/>
        </p:nvSpPr>
        <p:spPr>
          <a:xfrm>
            <a:off x="731520" y="5669280"/>
            <a:ext cx="10424160" cy="640080"/>
          </a:xfrm>
          <a:prstGeom prst="rect">
            <a:avLst/>
          </a:prstGeom>
          <a:noFill/>
        </p:spPr>
        <p:txBody>
          <a:bodyPr wrap="square">
            <a:spAutoFit/>
          </a:bodyPr>
          <a:lstStyle/>
          <a:p>
            <a:pPr>
              <a:spcAft>
                <a:spcPts val="200"/>
              </a:spcAft>
              <a:defRPr sz="1100">
                <a:solidFill>
                  <a:srgbClr val="444444"/>
                </a:solidFill>
                <a:latin typeface="Calibri"/>
              </a:defRPr>
            </a:pPr>
            <a:r>
              <a:t>• PKCE (Proof Key for Code Exchange) - mandatory, prevents authorization code interception attacks</a:t>
            </a:r>
          </a:p>
          <a:p>
            <a:pPr>
              <a:spcAft>
                <a:spcPts val="200"/>
              </a:spcAft>
              <a:defRPr sz="1100">
                <a:solidFill>
                  <a:srgbClr val="444444"/>
                </a:solidFill>
                <a:latin typeface="Calibri"/>
              </a:defRPr>
            </a:pPr>
            <a:r>
              <a:t>• Short-lived access tokens (5-15 min) + refresh token rotation - limits token theft impact</a:t>
            </a:r>
          </a:p>
          <a:p>
            <a:pPr>
              <a:spcAft>
                <a:spcPts val="200"/>
              </a:spcAft>
              <a:defRPr sz="1100">
                <a:solidFill>
                  <a:srgbClr val="444444"/>
                </a:solidFill>
                <a:latin typeface="Calibri"/>
              </a:defRPr>
            </a:pPr>
            <a:r>
              <a:t>• JWT (JSON Web Token) with RS256/ES256 signatures - tamper-proof, self-contained claims</a:t>
            </a:r>
          </a:p>
        </p:txBody>
      </p:sp>
      <p:sp>
        <p:nvSpPr>
          <p:cNvPr id="29" name="Rectangle 28"/>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31" name="TextBox 30"/>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4: MICRO-SEGMENTATION</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Micro-segmentation: Eliminating Lateral Movement</a:t>
            </a:r>
          </a:p>
        </p:txBody>
      </p:sp>
      <p:sp>
        <p:nvSpPr>
          <p:cNvPr id="6" name="TextBox 5"/>
          <p:cNvSpPr txBox="1"/>
          <p:nvPr/>
        </p:nvSpPr>
        <p:spPr>
          <a:xfrm>
            <a:off x="457200" y="1645920"/>
            <a:ext cx="5303520" cy="365760"/>
          </a:xfrm>
          <a:prstGeom prst="rect">
            <a:avLst/>
          </a:prstGeom>
          <a:noFill/>
        </p:spPr>
        <p:txBody>
          <a:bodyPr wrap="square">
            <a:spAutoFit/>
          </a:bodyPr>
          <a:lstStyle/>
          <a:p>
            <a:pPr algn="ctr">
              <a:defRPr sz="1600" b="1">
                <a:solidFill>
                  <a:srgbClr val="E03C31"/>
                </a:solidFill>
                <a:latin typeface="Calibri"/>
              </a:defRPr>
            </a:pPr>
            <a:r>
              <a:t>Flat Network (Traditional)</a:t>
            </a:r>
          </a:p>
        </p:txBody>
      </p:sp>
      <p:sp>
        <p:nvSpPr>
          <p:cNvPr id="7" name="Rounded Rectangle 6"/>
          <p:cNvSpPr/>
          <p:nvPr/>
        </p:nvSpPr>
        <p:spPr>
          <a:xfrm>
            <a:off x="457200" y="2103120"/>
            <a:ext cx="5303520" cy="2286000"/>
          </a:xfrm>
          <a:prstGeom prst="roundRect">
            <a:avLst/>
          </a:prstGeom>
          <a:solidFill>
            <a:srgbClr val="FFF0F0"/>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2377440"/>
            <a:ext cx="1097280" cy="64008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03C31"/>
                </a:solidFill>
              </a:defRPr>
            </a:pPr>
            <a:r>
              <a:t>Web</a:t>
            </a:r>
          </a:p>
        </p:txBody>
      </p:sp>
      <p:sp>
        <p:nvSpPr>
          <p:cNvPr id="9" name="Rounded Rectangle 8"/>
          <p:cNvSpPr/>
          <p:nvPr/>
        </p:nvSpPr>
        <p:spPr>
          <a:xfrm>
            <a:off x="2286000" y="2377440"/>
            <a:ext cx="1097280" cy="64008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03C31"/>
                </a:solidFill>
              </a:defRPr>
            </a:pPr>
            <a:r>
              <a:t>API</a:t>
            </a:r>
          </a:p>
        </p:txBody>
      </p:sp>
      <p:sp>
        <p:nvSpPr>
          <p:cNvPr id="10" name="Rounded Rectangle 9"/>
          <p:cNvSpPr/>
          <p:nvPr/>
        </p:nvSpPr>
        <p:spPr>
          <a:xfrm>
            <a:off x="3657600" y="2377440"/>
            <a:ext cx="1097280" cy="64008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03C31"/>
                </a:solidFill>
              </a:defRPr>
            </a:pPr>
            <a:r>
              <a:t>DB</a:t>
            </a:r>
          </a:p>
        </p:txBody>
      </p:sp>
      <p:sp>
        <p:nvSpPr>
          <p:cNvPr id="11" name="Rounded Rectangle 10"/>
          <p:cNvSpPr/>
          <p:nvPr/>
        </p:nvSpPr>
        <p:spPr>
          <a:xfrm>
            <a:off x="914400" y="3291840"/>
            <a:ext cx="1097280" cy="64008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03C31"/>
                </a:solidFill>
              </a:defRPr>
            </a:pPr>
            <a:r>
              <a:t>Admin</a:t>
            </a:r>
          </a:p>
        </p:txBody>
      </p:sp>
      <p:sp>
        <p:nvSpPr>
          <p:cNvPr id="12" name="Rounded Rectangle 11"/>
          <p:cNvSpPr/>
          <p:nvPr/>
        </p:nvSpPr>
        <p:spPr>
          <a:xfrm>
            <a:off x="2286000" y="3291840"/>
            <a:ext cx="1097280" cy="64008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03C31"/>
                </a:solidFill>
              </a:defRPr>
            </a:pPr>
            <a:r>
              <a:t>Cache</a:t>
            </a:r>
          </a:p>
        </p:txBody>
      </p:sp>
      <p:sp>
        <p:nvSpPr>
          <p:cNvPr id="13" name="Rounded Rectangle 12"/>
          <p:cNvSpPr/>
          <p:nvPr/>
        </p:nvSpPr>
        <p:spPr>
          <a:xfrm>
            <a:off x="3657600" y="3291840"/>
            <a:ext cx="1097280" cy="64008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03C31"/>
                </a:solidFill>
              </a:defRPr>
            </a:pPr>
            <a:r>
              <a:t>Logs</a:t>
            </a:r>
          </a:p>
        </p:txBody>
      </p:sp>
      <p:sp>
        <p:nvSpPr>
          <p:cNvPr id="14" name="TextBox 13"/>
          <p:cNvSpPr txBox="1"/>
          <p:nvPr/>
        </p:nvSpPr>
        <p:spPr>
          <a:xfrm>
            <a:off x="640080" y="3931920"/>
            <a:ext cx="4937760" cy="365760"/>
          </a:xfrm>
          <a:prstGeom prst="rect">
            <a:avLst/>
          </a:prstGeom>
          <a:noFill/>
        </p:spPr>
        <p:txBody>
          <a:bodyPr wrap="square">
            <a:spAutoFit/>
          </a:bodyPr>
          <a:lstStyle/>
          <a:p>
            <a:pPr algn="ctr">
              <a:defRPr sz="1100" b="1">
                <a:solidFill>
                  <a:srgbClr val="E03C31"/>
                </a:solidFill>
                <a:latin typeface="Calibri"/>
              </a:defRPr>
            </a:pPr>
            <a:r>
              <a:t>All services can communicate freely ✘</a:t>
            </a:r>
          </a:p>
        </p:txBody>
      </p:sp>
      <p:sp>
        <p:nvSpPr>
          <p:cNvPr id="15" name="TextBox 14"/>
          <p:cNvSpPr txBox="1"/>
          <p:nvPr/>
        </p:nvSpPr>
        <p:spPr>
          <a:xfrm>
            <a:off x="6217920" y="1645920"/>
            <a:ext cx="5303520" cy="365760"/>
          </a:xfrm>
          <a:prstGeom prst="rect">
            <a:avLst/>
          </a:prstGeom>
          <a:noFill/>
        </p:spPr>
        <p:txBody>
          <a:bodyPr wrap="square">
            <a:spAutoFit/>
          </a:bodyPr>
          <a:lstStyle/>
          <a:p>
            <a:pPr algn="ctr">
              <a:defRPr sz="1600" b="1">
                <a:solidFill>
                  <a:srgbClr val="2E8B57"/>
                </a:solidFill>
                <a:latin typeface="Calibri"/>
              </a:defRPr>
            </a:pPr>
            <a:r>
              <a:t>Micro-segmented Network (Zero Trust)</a:t>
            </a:r>
          </a:p>
        </p:txBody>
      </p:sp>
      <p:sp>
        <p:nvSpPr>
          <p:cNvPr id="16" name="Rounded Rectangle 15"/>
          <p:cNvSpPr/>
          <p:nvPr/>
        </p:nvSpPr>
        <p:spPr>
          <a:xfrm>
            <a:off x="6217920" y="2103120"/>
            <a:ext cx="5303520" cy="2286000"/>
          </a:xfrm>
          <a:prstGeom prst="roundRect">
            <a:avLst/>
          </a:prstGeom>
          <a:solidFill>
            <a:srgbClr val="F0FFF0"/>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92240" y="2286000"/>
            <a:ext cx="1463040" cy="1920240"/>
          </a:xfrm>
          <a:prstGeom prst="roundRect">
            <a:avLst/>
          </a:prstGeom>
          <a:solidFill>
            <a:srgbClr val="E0F0FF"/>
          </a:solidFill>
          <a:ln w="19050">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331720"/>
            <a:ext cx="1280160" cy="274320"/>
          </a:xfrm>
          <a:prstGeom prst="rect">
            <a:avLst/>
          </a:prstGeom>
          <a:noFill/>
        </p:spPr>
        <p:txBody>
          <a:bodyPr wrap="square">
            <a:spAutoFit/>
          </a:bodyPr>
          <a:lstStyle/>
          <a:p>
            <a:pPr algn="ctr">
              <a:defRPr sz="1000" b="1">
                <a:solidFill>
                  <a:srgbClr val="003B64"/>
                </a:solidFill>
                <a:latin typeface="Calibri"/>
              </a:defRPr>
            </a:pPr>
            <a:r>
              <a:t>DMZ</a:t>
            </a:r>
          </a:p>
        </p:txBody>
      </p:sp>
      <p:sp>
        <p:nvSpPr>
          <p:cNvPr id="19" name="Rounded Rectangle 18"/>
          <p:cNvSpPr/>
          <p:nvPr/>
        </p:nvSpPr>
        <p:spPr>
          <a:xfrm>
            <a:off x="8138160" y="2286000"/>
            <a:ext cx="1463040" cy="1920240"/>
          </a:xfrm>
          <a:prstGeom prst="roundRect">
            <a:avLst/>
          </a:prstGeom>
          <a:solidFill>
            <a:srgbClr val="FFF0E0"/>
          </a:solidFill>
          <a:ln w="19050">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2331720"/>
            <a:ext cx="1280160" cy="274320"/>
          </a:xfrm>
          <a:prstGeom prst="rect">
            <a:avLst/>
          </a:prstGeom>
          <a:noFill/>
        </p:spPr>
        <p:txBody>
          <a:bodyPr wrap="square">
            <a:spAutoFit/>
          </a:bodyPr>
          <a:lstStyle/>
          <a:p>
            <a:pPr algn="ctr">
              <a:defRPr sz="1000" b="1">
                <a:solidFill>
                  <a:srgbClr val="003B64"/>
                </a:solidFill>
                <a:latin typeface="Calibri"/>
              </a:defRPr>
            </a:pPr>
            <a:r>
              <a:t>App Tier</a:t>
            </a:r>
          </a:p>
        </p:txBody>
      </p:sp>
      <p:sp>
        <p:nvSpPr>
          <p:cNvPr id="21" name="Rounded Rectangle 20"/>
          <p:cNvSpPr/>
          <p:nvPr/>
        </p:nvSpPr>
        <p:spPr>
          <a:xfrm>
            <a:off x="9784080" y="2286000"/>
            <a:ext cx="1463040" cy="1920240"/>
          </a:xfrm>
          <a:prstGeom prst="roundRect">
            <a:avLst/>
          </a:prstGeom>
          <a:solidFill>
            <a:srgbClr val="F0E0FF"/>
          </a:solidFill>
          <a:ln w="19050">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0" y="2331720"/>
            <a:ext cx="1280160" cy="274320"/>
          </a:xfrm>
          <a:prstGeom prst="rect">
            <a:avLst/>
          </a:prstGeom>
          <a:noFill/>
        </p:spPr>
        <p:txBody>
          <a:bodyPr wrap="square">
            <a:spAutoFit/>
          </a:bodyPr>
          <a:lstStyle/>
          <a:p>
            <a:pPr algn="ctr">
              <a:defRPr sz="1000" b="1">
                <a:solidFill>
                  <a:srgbClr val="003B64"/>
                </a:solidFill>
                <a:latin typeface="Calibri"/>
              </a:defRPr>
            </a:pPr>
            <a:r>
              <a:t>Data Tier</a:t>
            </a:r>
          </a:p>
        </p:txBody>
      </p:sp>
      <p:sp>
        <p:nvSpPr>
          <p:cNvPr id="23" name="TextBox 22"/>
          <p:cNvSpPr txBox="1"/>
          <p:nvPr/>
        </p:nvSpPr>
        <p:spPr>
          <a:xfrm>
            <a:off x="6400800" y="3931920"/>
            <a:ext cx="4937760" cy="365760"/>
          </a:xfrm>
          <a:prstGeom prst="rect">
            <a:avLst/>
          </a:prstGeom>
          <a:noFill/>
        </p:spPr>
        <p:txBody>
          <a:bodyPr wrap="square">
            <a:spAutoFit/>
          </a:bodyPr>
          <a:lstStyle/>
          <a:p>
            <a:pPr algn="ctr">
              <a:defRPr sz="1100" b="1">
                <a:solidFill>
                  <a:srgbClr val="2E8B57"/>
                </a:solidFill>
                <a:latin typeface="Calibri"/>
              </a:defRPr>
            </a:pPr>
            <a:r>
              <a:t>Only explicit allowed paths, all else denied ✔</a:t>
            </a:r>
          </a:p>
        </p:txBody>
      </p:sp>
      <p:sp>
        <p:nvSpPr>
          <p:cNvPr id="24" name="TextBox 23"/>
          <p:cNvSpPr txBox="1"/>
          <p:nvPr/>
        </p:nvSpPr>
        <p:spPr>
          <a:xfrm>
            <a:off x="457200" y="4663440"/>
            <a:ext cx="10972800" cy="365760"/>
          </a:xfrm>
          <a:prstGeom prst="rect">
            <a:avLst/>
          </a:prstGeom>
          <a:noFill/>
        </p:spPr>
        <p:txBody>
          <a:bodyPr wrap="square">
            <a:spAutoFit/>
          </a:bodyPr>
          <a:lstStyle/>
          <a:p>
            <a:pPr algn="l">
              <a:defRPr sz="1600" b="1">
                <a:solidFill>
                  <a:srgbClr val="003B64"/>
                </a:solidFill>
                <a:latin typeface="Calibri"/>
              </a:defRPr>
            </a:pPr>
            <a:r>
              <a:t>Micro-segmentation Implementation Approaches</a:t>
            </a:r>
          </a:p>
        </p:txBody>
      </p:sp>
      <p:sp>
        <p:nvSpPr>
          <p:cNvPr id="25" name="Rounded Rectangle 24"/>
          <p:cNvSpPr/>
          <p:nvPr/>
        </p:nvSpPr>
        <p:spPr>
          <a:xfrm>
            <a:off x="457200" y="5120640"/>
            <a:ext cx="2651760" cy="1097280"/>
          </a:xfrm>
          <a:prstGeom prst="roundRect">
            <a:avLst/>
          </a:prstGeom>
          <a:solidFill>
            <a:srgbClr val="FFFF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166360"/>
            <a:ext cx="2468880" cy="274320"/>
          </a:xfrm>
          <a:prstGeom prst="rect">
            <a:avLst/>
          </a:prstGeom>
          <a:noFill/>
        </p:spPr>
        <p:txBody>
          <a:bodyPr wrap="square">
            <a:spAutoFit/>
          </a:bodyPr>
          <a:lstStyle/>
          <a:p>
            <a:pPr algn="ctr">
              <a:defRPr sz="1200" b="1">
                <a:solidFill>
                  <a:srgbClr val="0076CE"/>
                </a:solidFill>
                <a:latin typeface="Calibri"/>
              </a:defRPr>
            </a:pPr>
            <a:r>
              <a:t>Network-Based</a:t>
            </a:r>
          </a:p>
        </p:txBody>
      </p:sp>
      <p:sp>
        <p:nvSpPr>
          <p:cNvPr id="27" name="TextBox 26"/>
          <p:cNvSpPr txBox="1"/>
          <p:nvPr/>
        </p:nvSpPr>
        <p:spPr>
          <a:xfrm>
            <a:off x="548640" y="5486400"/>
            <a:ext cx="2468880" cy="640080"/>
          </a:xfrm>
          <a:prstGeom prst="rect">
            <a:avLst/>
          </a:prstGeom>
          <a:noFill/>
        </p:spPr>
        <p:txBody>
          <a:bodyPr wrap="square">
            <a:spAutoFit/>
          </a:bodyPr>
          <a:lstStyle/>
          <a:p>
            <a:pPr algn="ctr">
              <a:defRPr sz="1000" b="0">
                <a:solidFill>
                  <a:srgbClr val="444444"/>
                </a:solidFill>
                <a:latin typeface="Calibri"/>
              </a:defRPr>
            </a:pPr>
            <a:r>
              <a:t>VLANs, ACLs, SDN</a:t>
            </a:r>
            <a:br/>
            <a:r>
              <a:t>VMware NSX, Cisco ACI</a:t>
            </a:r>
            <a:br/>
            <a:r>
              <a:t>Traditional approach</a:t>
            </a:r>
          </a:p>
        </p:txBody>
      </p:sp>
      <p:sp>
        <p:nvSpPr>
          <p:cNvPr id="28" name="Rounded Rectangle 27"/>
          <p:cNvSpPr/>
          <p:nvPr/>
        </p:nvSpPr>
        <p:spPr>
          <a:xfrm>
            <a:off x="3337560" y="5120640"/>
            <a:ext cx="2651760" cy="1097280"/>
          </a:xfrm>
          <a:prstGeom prst="roundRect">
            <a:avLst/>
          </a:prstGeom>
          <a:solidFill>
            <a:srgbClr val="FFFFFF"/>
          </a:solidFill>
          <a:ln w="19050">
            <a:solidFill>
              <a:srgbClr val="00B2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29000" y="5166360"/>
            <a:ext cx="2468880" cy="274320"/>
          </a:xfrm>
          <a:prstGeom prst="rect">
            <a:avLst/>
          </a:prstGeom>
          <a:noFill/>
        </p:spPr>
        <p:txBody>
          <a:bodyPr wrap="square">
            <a:spAutoFit/>
          </a:bodyPr>
          <a:lstStyle/>
          <a:p>
            <a:pPr algn="ctr">
              <a:defRPr sz="1200" b="1">
                <a:solidFill>
                  <a:srgbClr val="00B2A9"/>
                </a:solidFill>
                <a:latin typeface="Calibri"/>
              </a:defRPr>
            </a:pPr>
            <a:r>
              <a:t>Host-Based</a:t>
            </a:r>
          </a:p>
        </p:txBody>
      </p:sp>
      <p:sp>
        <p:nvSpPr>
          <p:cNvPr id="30" name="TextBox 29"/>
          <p:cNvSpPr txBox="1"/>
          <p:nvPr/>
        </p:nvSpPr>
        <p:spPr>
          <a:xfrm>
            <a:off x="3429000" y="5486400"/>
            <a:ext cx="2468880" cy="640080"/>
          </a:xfrm>
          <a:prstGeom prst="rect">
            <a:avLst/>
          </a:prstGeom>
          <a:noFill/>
        </p:spPr>
        <p:txBody>
          <a:bodyPr wrap="square">
            <a:spAutoFit/>
          </a:bodyPr>
          <a:lstStyle/>
          <a:p>
            <a:pPr algn="ctr">
              <a:defRPr sz="1000" b="0">
                <a:solidFill>
                  <a:srgbClr val="444444"/>
                </a:solidFill>
                <a:latin typeface="Calibri"/>
              </a:defRPr>
            </a:pPr>
            <a:r>
              <a:t>iptables, Windows Firewall</a:t>
            </a:r>
            <a:br/>
            <a:r>
              <a:t>Agent on each host</a:t>
            </a:r>
            <a:br/>
            <a:r>
              <a:t>Illumio, Guardicore</a:t>
            </a:r>
          </a:p>
        </p:txBody>
      </p:sp>
      <p:sp>
        <p:nvSpPr>
          <p:cNvPr id="31" name="Rounded Rectangle 30"/>
          <p:cNvSpPr/>
          <p:nvPr/>
        </p:nvSpPr>
        <p:spPr>
          <a:xfrm>
            <a:off x="6217920" y="5120640"/>
            <a:ext cx="2651760" cy="109728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5166360"/>
            <a:ext cx="2468880" cy="274320"/>
          </a:xfrm>
          <a:prstGeom prst="rect">
            <a:avLst/>
          </a:prstGeom>
          <a:noFill/>
        </p:spPr>
        <p:txBody>
          <a:bodyPr wrap="square">
            <a:spAutoFit/>
          </a:bodyPr>
          <a:lstStyle/>
          <a:p>
            <a:pPr algn="ctr">
              <a:defRPr sz="1200" b="1">
                <a:solidFill>
                  <a:srgbClr val="2E8B57"/>
                </a:solidFill>
                <a:latin typeface="Calibri"/>
              </a:defRPr>
            </a:pPr>
            <a:r>
              <a:t>Container/Cloud-Native</a:t>
            </a:r>
          </a:p>
        </p:txBody>
      </p:sp>
      <p:sp>
        <p:nvSpPr>
          <p:cNvPr id="33" name="TextBox 32"/>
          <p:cNvSpPr txBox="1"/>
          <p:nvPr/>
        </p:nvSpPr>
        <p:spPr>
          <a:xfrm>
            <a:off x="6309360" y="5486400"/>
            <a:ext cx="2468880" cy="640080"/>
          </a:xfrm>
          <a:prstGeom prst="rect">
            <a:avLst/>
          </a:prstGeom>
          <a:noFill/>
        </p:spPr>
        <p:txBody>
          <a:bodyPr wrap="square">
            <a:spAutoFit/>
          </a:bodyPr>
          <a:lstStyle/>
          <a:p>
            <a:pPr algn="ctr">
              <a:defRPr sz="1000" b="0">
                <a:solidFill>
                  <a:srgbClr val="444444"/>
                </a:solidFill>
                <a:latin typeface="Calibri"/>
              </a:defRPr>
            </a:pPr>
            <a:r>
              <a:t>Kubernetes NetworkPolicy</a:t>
            </a:r>
            <a:br/>
            <a:r>
              <a:t>Cilium, Calico, Istio</a:t>
            </a:r>
            <a:br/>
            <a:r>
              <a:t>eBPF-based enforcement</a:t>
            </a:r>
          </a:p>
        </p:txBody>
      </p:sp>
      <p:sp>
        <p:nvSpPr>
          <p:cNvPr id="34" name="Rounded Rectangle 33"/>
          <p:cNvSpPr/>
          <p:nvPr/>
        </p:nvSpPr>
        <p:spPr>
          <a:xfrm>
            <a:off x="9098280" y="5120640"/>
            <a:ext cx="2651760" cy="1097280"/>
          </a:xfrm>
          <a:prstGeom prst="roundRect">
            <a:avLst/>
          </a:prstGeom>
          <a:solidFill>
            <a:srgbClr val="FFFFFF"/>
          </a:solidFill>
          <a:ln w="19050">
            <a:solidFill>
              <a:srgbClr val="003B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9720" y="5166360"/>
            <a:ext cx="2468880" cy="274320"/>
          </a:xfrm>
          <a:prstGeom prst="rect">
            <a:avLst/>
          </a:prstGeom>
          <a:noFill/>
        </p:spPr>
        <p:txBody>
          <a:bodyPr wrap="square">
            <a:spAutoFit/>
          </a:bodyPr>
          <a:lstStyle/>
          <a:p>
            <a:pPr algn="ctr">
              <a:defRPr sz="1200" b="1">
                <a:solidFill>
                  <a:srgbClr val="003B64"/>
                </a:solidFill>
                <a:latin typeface="Calibri"/>
              </a:defRPr>
            </a:pPr>
            <a:r>
              <a:t>Identity-Based</a:t>
            </a:r>
          </a:p>
        </p:txBody>
      </p:sp>
      <p:sp>
        <p:nvSpPr>
          <p:cNvPr id="36" name="TextBox 35"/>
          <p:cNvSpPr txBox="1"/>
          <p:nvPr/>
        </p:nvSpPr>
        <p:spPr>
          <a:xfrm>
            <a:off x="9189720" y="5486400"/>
            <a:ext cx="2468880" cy="640080"/>
          </a:xfrm>
          <a:prstGeom prst="rect">
            <a:avLst/>
          </a:prstGeom>
          <a:noFill/>
        </p:spPr>
        <p:txBody>
          <a:bodyPr wrap="square">
            <a:spAutoFit/>
          </a:bodyPr>
          <a:lstStyle/>
          <a:p>
            <a:pPr algn="ctr">
              <a:defRPr sz="1000" b="0">
                <a:solidFill>
                  <a:srgbClr val="444444"/>
                </a:solidFill>
                <a:latin typeface="Calibri"/>
              </a:defRPr>
            </a:pPr>
            <a:r>
              <a:t>Service mesh (mTLS)</a:t>
            </a:r>
            <a:br/>
            <a:r>
              <a:t>SPIFFE/SPIRE identities</a:t>
            </a:r>
            <a:br/>
            <a:r>
              <a:t>Workload identity</a:t>
            </a:r>
          </a:p>
        </p:txBody>
      </p:sp>
      <p:sp>
        <p:nvSpPr>
          <p:cNvPr id="37" name="Rectangle 36"/>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39" name="TextBox 38"/>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5: SOC &amp; THREAT INTELLIGENCE</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Modern SOC Operations &amp; AI-Driven Threat Detection</a:t>
            </a:r>
          </a:p>
        </p:txBody>
      </p:sp>
      <p:sp>
        <p:nvSpPr>
          <p:cNvPr id="6" name="TextBox 5"/>
          <p:cNvSpPr txBox="1"/>
          <p:nvPr/>
        </p:nvSpPr>
        <p:spPr>
          <a:xfrm>
            <a:off x="457200" y="1554480"/>
            <a:ext cx="10972800" cy="365760"/>
          </a:xfrm>
          <a:prstGeom prst="rect">
            <a:avLst/>
          </a:prstGeom>
          <a:noFill/>
        </p:spPr>
        <p:txBody>
          <a:bodyPr wrap="square">
            <a:spAutoFit/>
          </a:bodyPr>
          <a:lstStyle/>
          <a:p>
            <a:pPr algn="l">
              <a:defRPr sz="1600" b="1">
                <a:solidFill>
                  <a:srgbClr val="0076CE"/>
                </a:solidFill>
                <a:latin typeface="Calibri"/>
              </a:defRPr>
            </a:pPr>
            <a:r>
              <a:t>Security Operations Center (SOC) Technology Stack</a:t>
            </a:r>
          </a:p>
        </p:txBody>
      </p:sp>
      <p:sp>
        <p:nvSpPr>
          <p:cNvPr id="7" name="Rounded Rectangle 6"/>
          <p:cNvSpPr/>
          <p:nvPr/>
        </p:nvSpPr>
        <p:spPr>
          <a:xfrm>
            <a:off x="457200" y="2011680"/>
            <a:ext cx="4572000" cy="777240"/>
          </a:xfrm>
          <a:prstGeom prst="round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SOAR</a:t>
            </a:r>
            <a:br/>
            <a:r>
              <a:t>(Orchestration &amp; Response)</a:t>
            </a:r>
          </a:p>
        </p:txBody>
      </p:sp>
      <p:sp>
        <p:nvSpPr>
          <p:cNvPr id="8" name="TextBox 7"/>
          <p:cNvSpPr txBox="1"/>
          <p:nvPr/>
        </p:nvSpPr>
        <p:spPr>
          <a:xfrm>
            <a:off x="5212080" y="2057400"/>
            <a:ext cx="6400800" cy="685800"/>
          </a:xfrm>
          <a:prstGeom prst="rect">
            <a:avLst/>
          </a:prstGeom>
          <a:noFill/>
        </p:spPr>
        <p:txBody>
          <a:bodyPr wrap="square">
            <a:spAutoFit/>
          </a:bodyPr>
          <a:lstStyle/>
          <a:p>
            <a:pPr algn="l">
              <a:defRPr sz="1100" b="0">
                <a:solidFill>
                  <a:srgbClr val="444444"/>
                </a:solidFill>
                <a:latin typeface="Calibri"/>
              </a:defRPr>
            </a:pPr>
            <a:r>
              <a:t>Automated playbooks, incident response</a:t>
            </a:r>
            <a:br/>
            <a:r>
              <a:t>Palo Alto XSOAR, Splunk SOAR, TheHive</a:t>
            </a:r>
          </a:p>
        </p:txBody>
      </p:sp>
      <p:sp>
        <p:nvSpPr>
          <p:cNvPr id="9" name="Rounded Rectangle 8"/>
          <p:cNvSpPr/>
          <p:nvPr/>
        </p:nvSpPr>
        <p:spPr>
          <a:xfrm>
            <a:off x="457200" y="2926080"/>
            <a:ext cx="4572000" cy="77724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SIEM</a:t>
            </a:r>
            <a:br/>
            <a:r>
              <a:t>(Security Information &amp; Event Mgmt)</a:t>
            </a:r>
          </a:p>
        </p:txBody>
      </p:sp>
      <p:sp>
        <p:nvSpPr>
          <p:cNvPr id="10" name="TextBox 9"/>
          <p:cNvSpPr txBox="1"/>
          <p:nvPr/>
        </p:nvSpPr>
        <p:spPr>
          <a:xfrm>
            <a:off x="5212080" y="2971800"/>
            <a:ext cx="6400800" cy="685800"/>
          </a:xfrm>
          <a:prstGeom prst="rect">
            <a:avLst/>
          </a:prstGeom>
          <a:noFill/>
        </p:spPr>
        <p:txBody>
          <a:bodyPr wrap="square">
            <a:spAutoFit/>
          </a:bodyPr>
          <a:lstStyle/>
          <a:p>
            <a:pPr algn="l">
              <a:defRPr sz="1100" b="0">
                <a:solidFill>
                  <a:srgbClr val="444444"/>
                </a:solidFill>
                <a:latin typeface="Calibri"/>
              </a:defRPr>
            </a:pPr>
            <a:r>
              <a:t>Log aggregation, correlation, alerting</a:t>
            </a:r>
            <a:br/>
            <a:r>
              <a:t>Splunk, Elastic SIEM, Wazuh, Microsoft Sentinel</a:t>
            </a:r>
          </a:p>
        </p:txBody>
      </p:sp>
      <p:sp>
        <p:nvSpPr>
          <p:cNvPr id="11" name="Rounded Rectangle 10"/>
          <p:cNvSpPr/>
          <p:nvPr/>
        </p:nvSpPr>
        <p:spPr>
          <a:xfrm>
            <a:off x="457200" y="3840480"/>
            <a:ext cx="4572000" cy="7772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XDR / EDR</a:t>
            </a:r>
            <a:br/>
            <a:r>
              <a:t>(Extended/Endpoint Detection)</a:t>
            </a:r>
          </a:p>
        </p:txBody>
      </p:sp>
      <p:sp>
        <p:nvSpPr>
          <p:cNvPr id="12" name="TextBox 11"/>
          <p:cNvSpPr txBox="1"/>
          <p:nvPr/>
        </p:nvSpPr>
        <p:spPr>
          <a:xfrm>
            <a:off x="5212080" y="3886200"/>
            <a:ext cx="6400800" cy="685800"/>
          </a:xfrm>
          <a:prstGeom prst="rect">
            <a:avLst/>
          </a:prstGeom>
          <a:noFill/>
        </p:spPr>
        <p:txBody>
          <a:bodyPr wrap="square">
            <a:spAutoFit/>
          </a:bodyPr>
          <a:lstStyle/>
          <a:p>
            <a:pPr algn="l">
              <a:defRPr sz="1100" b="0">
                <a:solidFill>
                  <a:srgbClr val="444444"/>
                </a:solidFill>
                <a:latin typeface="Calibri"/>
              </a:defRPr>
            </a:pPr>
            <a:r>
              <a:t>Endpoint telemetry, behavioral analysis</a:t>
            </a:r>
            <a:br/>
            <a:r>
              <a:t>CrowdStrike, SentinelOne, Microsoft Defender XDR</a:t>
            </a:r>
          </a:p>
        </p:txBody>
      </p:sp>
      <p:sp>
        <p:nvSpPr>
          <p:cNvPr id="13" name="Rounded Rectangle 12"/>
          <p:cNvSpPr/>
          <p:nvPr/>
        </p:nvSpPr>
        <p:spPr>
          <a:xfrm>
            <a:off x="457200" y="4754880"/>
            <a:ext cx="4572000" cy="777240"/>
          </a:xfrm>
          <a:prstGeom prst="roundRect">
            <a:avLst/>
          </a:prstGeom>
          <a:solidFill>
            <a:srgbClr val="6C6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Data Sources</a:t>
            </a:r>
          </a:p>
        </p:txBody>
      </p:sp>
      <p:sp>
        <p:nvSpPr>
          <p:cNvPr id="14" name="TextBox 13"/>
          <p:cNvSpPr txBox="1"/>
          <p:nvPr/>
        </p:nvSpPr>
        <p:spPr>
          <a:xfrm>
            <a:off x="5212080" y="4800600"/>
            <a:ext cx="6400800" cy="685800"/>
          </a:xfrm>
          <a:prstGeom prst="rect">
            <a:avLst/>
          </a:prstGeom>
          <a:noFill/>
        </p:spPr>
        <p:txBody>
          <a:bodyPr wrap="square">
            <a:spAutoFit/>
          </a:bodyPr>
          <a:lstStyle/>
          <a:p>
            <a:pPr algn="l">
              <a:defRPr sz="1100" b="0">
                <a:solidFill>
                  <a:srgbClr val="444444"/>
                </a:solidFill>
                <a:latin typeface="Calibri"/>
              </a:defRPr>
            </a:pPr>
            <a:r>
              <a:t>Firewalls, IDS/IPS, DNS, Cloud logs, Identity logs</a:t>
            </a:r>
            <a:br/>
            <a:r>
              <a:t>Network flows, Endpoint agents, Application logs</a:t>
            </a:r>
          </a:p>
        </p:txBody>
      </p:sp>
      <p:sp>
        <p:nvSpPr>
          <p:cNvPr id="15" name="Rounded Rectangle 14"/>
          <p:cNvSpPr/>
          <p:nvPr/>
        </p:nvSpPr>
        <p:spPr>
          <a:xfrm>
            <a:off x="457200" y="5669280"/>
            <a:ext cx="10972800" cy="731520"/>
          </a:xfrm>
          <a:prstGeom prst="roundRect">
            <a:avLst/>
          </a:prstGeom>
          <a:solidFill>
            <a:srgbClr val="E8F4FD"/>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715000"/>
            <a:ext cx="10424160" cy="274320"/>
          </a:xfrm>
          <a:prstGeom prst="rect">
            <a:avLst/>
          </a:prstGeom>
          <a:noFill/>
        </p:spPr>
        <p:txBody>
          <a:bodyPr wrap="square">
            <a:spAutoFit/>
          </a:bodyPr>
          <a:lstStyle/>
          <a:p>
            <a:pPr algn="l">
              <a:defRPr sz="1400" b="1">
                <a:solidFill>
                  <a:srgbClr val="0076CE"/>
                </a:solidFill>
                <a:latin typeface="Calibri"/>
              </a:defRPr>
            </a:pPr>
            <a:r>
              <a:t>NEW: AI/ML in SOC Operations (2024-2025)</a:t>
            </a:r>
          </a:p>
        </p:txBody>
      </p:sp>
      <p:sp>
        <p:nvSpPr>
          <p:cNvPr id="17" name="TextBox 16"/>
          <p:cNvSpPr txBox="1"/>
          <p:nvPr/>
        </p:nvSpPr>
        <p:spPr>
          <a:xfrm>
            <a:off x="731520" y="5989320"/>
            <a:ext cx="10424160" cy="365760"/>
          </a:xfrm>
          <a:prstGeom prst="rect">
            <a:avLst/>
          </a:prstGeom>
          <a:noFill/>
        </p:spPr>
        <p:txBody>
          <a:bodyPr wrap="square">
            <a:spAutoFit/>
          </a:bodyPr>
          <a:lstStyle/>
          <a:p>
            <a:pPr algn="l">
              <a:defRPr sz="1100" b="0">
                <a:solidFill>
                  <a:srgbClr val="444444"/>
                </a:solidFill>
                <a:latin typeface="Calibri"/>
              </a:defRPr>
            </a:pPr>
            <a:r>
              <a:t>LLM-powered alert triage (Microsoft Copilot for Security, Google Gemini in Security Ops) | Behavioral analytics (UEBA) for insider threat detection | Automated threat hunting with AI agents | Reduces mean time to detect (MTTD) by 60%+</a:t>
            </a:r>
          </a:p>
        </p:txBody>
      </p:sp>
      <p:sp>
        <p:nvSpPr>
          <p:cNvPr id="18" name="Rectangle 17"/>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20" name="TextBox 19"/>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5: SOC &amp; THREAT INTELLIGENCE</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Threat Intelligence &amp; the MITRE ATT&amp;CK Framework</a:t>
            </a:r>
          </a:p>
        </p:txBody>
      </p:sp>
      <p:sp>
        <p:nvSpPr>
          <p:cNvPr id="6" name="TextBox 5"/>
          <p:cNvSpPr txBox="1"/>
          <p:nvPr/>
        </p:nvSpPr>
        <p:spPr>
          <a:xfrm>
            <a:off x="457200" y="1554480"/>
            <a:ext cx="10972800" cy="365760"/>
          </a:xfrm>
          <a:prstGeom prst="rect">
            <a:avLst/>
          </a:prstGeom>
          <a:noFill/>
        </p:spPr>
        <p:txBody>
          <a:bodyPr wrap="square">
            <a:spAutoFit/>
          </a:bodyPr>
          <a:lstStyle/>
          <a:p>
            <a:pPr algn="l">
              <a:defRPr sz="1600" b="1">
                <a:solidFill>
                  <a:srgbClr val="0076CE"/>
                </a:solidFill>
                <a:latin typeface="Calibri"/>
              </a:defRPr>
            </a:pPr>
            <a:r>
              <a:t>MITRE ATT&amp;CK Enterprise Tactics (Kill Chain)</a:t>
            </a:r>
          </a:p>
        </p:txBody>
      </p:sp>
      <p:sp>
        <p:nvSpPr>
          <p:cNvPr id="7" name="Rounded Rectangle 6"/>
          <p:cNvSpPr/>
          <p:nvPr/>
        </p:nvSpPr>
        <p:spPr>
          <a:xfrm>
            <a:off x="274320" y="2011680"/>
            <a:ext cx="777240" cy="822960"/>
          </a:xfrm>
          <a:prstGeom prst="roundRect">
            <a:avLst/>
          </a:prstGeom>
          <a:solidFill>
            <a:srgbClr val="E0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Recon</a:t>
            </a:r>
          </a:p>
        </p:txBody>
      </p:sp>
      <p:sp>
        <p:nvSpPr>
          <p:cNvPr id="8" name="Rounded Rectangle 7"/>
          <p:cNvSpPr/>
          <p:nvPr/>
        </p:nvSpPr>
        <p:spPr>
          <a:xfrm>
            <a:off x="1115568" y="2011680"/>
            <a:ext cx="777240" cy="822960"/>
          </a:xfrm>
          <a:prstGeom prst="roundRect">
            <a:avLst/>
          </a:prstGeom>
          <a:solidFill>
            <a:srgbClr val="E0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Resource</a:t>
            </a:r>
            <a:br/>
            <a:r>
              <a:t>Dev</a:t>
            </a:r>
          </a:p>
        </p:txBody>
      </p:sp>
      <p:sp>
        <p:nvSpPr>
          <p:cNvPr id="9" name="Rounded Rectangle 8"/>
          <p:cNvSpPr/>
          <p:nvPr/>
        </p:nvSpPr>
        <p:spPr>
          <a:xfrm>
            <a:off x="1956816" y="2011680"/>
            <a:ext cx="777240" cy="822960"/>
          </a:xfrm>
          <a:prstGeom prst="roundRect">
            <a:avLst/>
          </a:prstGeom>
          <a:solidFill>
            <a:srgbClr val="E0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Initial</a:t>
            </a:r>
            <a:br/>
            <a:r>
              <a:t>Access</a:t>
            </a:r>
          </a:p>
        </p:txBody>
      </p:sp>
      <p:sp>
        <p:nvSpPr>
          <p:cNvPr id="10" name="Rounded Rectangle 9"/>
          <p:cNvSpPr/>
          <p:nvPr/>
        </p:nvSpPr>
        <p:spPr>
          <a:xfrm>
            <a:off x="2798064" y="2011680"/>
            <a:ext cx="777240" cy="82296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Execution</a:t>
            </a:r>
          </a:p>
        </p:txBody>
      </p:sp>
      <p:sp>
        <p:nvSpPr>
          <p:cNvPr id="11" name="Rounded Rectangle 10"/>
          <p:cNvSpPr/>
          <p:nvPr/>
        </p:nvSpPr>
        <p:spPr>
          <a:xfrm>
            <a:off x="3639312" y="2011680"/>
            <a:ext cx="777240" cy="82296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Persistence</a:t>
            </a:r>
          </a:p>
        </p:txBody>
      </p:sp>
      <p:sp>
        <p:nvSpPr>
          <p:cNvPr id="12" name="Rounded Rectangle 11"/>
          <p:cNvSpPr/>
          <p:nvPr/>
        </p:nvSpPr>
        <p:spPr>
          <a:xfrm>
            <a:off x="4480560" y="2011680"/>
            <a:ext cx="777240" cy="82296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Priv</a:t>
            </a:r>
            <a:br/>
            <a:r>
              <a:t>Escalation</a:t>
            </a:r>
          </a:p>
        </p:txBody>
      </p:sp>
      <p:sp>
        <p:nvSpPr>
          <p:cNvPr id="13" name="Rounded Rectangle 12"/>
          <p:cNvSpPr/>
          <p:nvPr/>
        </p:nvSpPr>
        <p:spPr>
          <a:xfrm>
            <a:off x="5321808" y="2011680"/>
            <a:ext cx="777240" cy="82296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Defense</a:t>
            </a:r>
            <a:br/>
            <a:r>
              <a:t>Evasion</a:t>
            </a:r>
          </a:p>
        </p:txBody>
      </p:sp>
      <p:sp>
        <p:nvSpPr>
          <p:cNvPr id="14" name="Rounded Rectangle 13"/>
          <p:cNvSpPr/>
          <p:nvPr/>
        </p:nvSpPr>
        <p:spPr>
          <a:xfrm>
            <a:off x="6163056" y="2011680"/>
            <a:ext cx="777240" cy="82296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Credential</a:t>
            </a:r>
            <a:br/>
            <a:r>
              <a:t>Access</a:t>
            </a:r>
          </a:p>
        </p:txBody>
      </p:sp>
      <p:sp>
        <p:nvSpPr>
          <p:cNvPr id="15" name="Rounded Rectangle 14"/>
          <p:cNvSpPr/>
          <p:nvPr/>
        </p:nvSpPr>
        <p:spPr>
          <a:xfrm>
            <a:off x="7004304" y="2011680"/>
            <a:ext cx="777240" cy="82296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Discovery</a:t>
            </a:r>
          </a:p>
        </p:txBody>
      </p:sp>
      <p:sp>
        <p:nvSpPr>
          <p:cNvPr id="16" name="Rounded Rectangle 15"/>
          <p:cNvSpPr/>
          <p:nvPr/>
        </p:nvSpPr>
        <p:spPr>
          <a:xfrm>
            <a:off x="7845552" y="2011680"/>
            <a:ext cx="777240" cy="82296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Lateral</a:t>
            </a:r>
            <a:br/>
            <a:r>
              <a:t>Movement</a:t>
            </a:r>
          </a:p>
        </p:txBody>
      </p:sp>
      <p:sp>
        <p:nvSpPr>
          <p:cNvPr id="17" name="Rounded Rectangle 16"/>
          <p:cNvSpPr/>
          <p:nvPr/>
        </p:nvSpPr>
        <p:spPr>
          <a:xfrm>
            <a:off x="8686800" y="2011680"/>
            <a:ext cx="777240" cy="82296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Collection</a:t>
            </a:r>
          </a:p>
        </p:txBody>
      </p:sp>
      <p:sp>
        <p:nvSpPr>
          <p:cNvPr id="18" name="Rounded Rectangle 17"/>
          <p:cNvSpPr/>
          <p:nvPr/>
        </p:nvSpPr>
        <p:spPr>
          <a:xfrm>
            <a:off x="9528048" y="2011680"/>
            <a:ext cx="777240" cy="822960"/>
          </a:xfrm>
          <a:prstGeom prst="round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C2</a:t>
            </a:r>
          </a:p>
        </p:txBody>
      </p:sp>
      <p:sp>
        <p:nvSpPr>
          <p:cNvPr id="19" name="Rounded Rectangle 18"/>
          <p:cNvSpPr/>
          <p:nvPr/>
        </p:nvSpPr>
        <p:spPr>
          <a:xfrm>
            <a:off x="10369296" y="2011680"/>
            <a:ext cx="777240" cy="822960"/>
          </a:xfrm>
          <a:prstGeom prst="round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Exfiltration</a:t>
            </a:r>
          </a:p>
        </p:txBody>
      </p:sp>
      <p:sp>
        <p:nvSpPr>
          <p:cNvPr id="20" name="Rounded Rectangle 19"/>
          <p:cNvSpPr/>
          <p:nvPr/>
        </p:nvSpPr>
        <p:spPr>
          <a:xfrm>
            <a:off x="11210544" y="2011680"/>
            <a:ext cx="777240" cy="822960"/>
          </a:xfrm>
          <a:prstGeom prst="round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Impact</a:t>
            </a:r>
          </a:p>
        </p:txBody>
      </p:sp>
      <p:sp>
        <p:nvSpPr>
          <p:cNvPr id="21" name="TextBox 20"/>
          <p:cNvSpPr txBox="1"/>
          <p:nvPr/>
        </p:nvSpPr>
        <p:spPr>
          <a:xfrm>
            <a:off x="457200" y="3108960"/>
            <a:ext cx="10972800" cy="365760"/>
          </a:xfrm>
          <a:prstGeom prst="rect">
            <a:avLst/>
          </a:prstGeom>
          <a:noFill/>
        </p:spPr>
        <p:txBody>
          <a:bodyPr wrap="square">
            <a:spAutoFit/>
          </a:bodyPr>
          <a:lstStyle/>
          <a:p>
            <a:pPr algn="l">
              <a:defRPr sz="1600" b="1">
                <a:solidFill>
                  <a:srgbClr val="0076CE"/>
                </a:solidFill>
                <a:latin typeface="Calibri"/>
              </a:defRPr>
            </a:pPr>
            <a:r>
              <a:t>Threat Intelligence Pyramid of Pain</a:t>
            </a:r>
          </a:p>
        </p:txBody>
      </p:sp>
      <p:sp>
        <p:nvSpPr>
          <p:cNvPr id="22" name="Rounded Rectangle 21"/>
          <p:cNvSpPr/>
          <p:nvPr/>
        </p:nvSpPr>
        <p:spPr>
          <a:xfrm>
            <a:off x="4404207" y="3566160"/>
            <a:ext cx="3017520" cy="41148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TTPs (Tactics, Techniques, Procedures) - Most valuable, hardest to change</a:t>
            </a:r>
          </a:p>
        </p:txBody>
      </p:sp>
      <p:sp>
        <p:nvSpPr>
          <p:cNvPr id="23" name="Rounded Rectangle 22"/>
          <p:cNvSpPr/>
          <p:nvPr/>
        </p:nvSpPr>
        <p:spPr>
          <a:xfrm>
            <a:off x="4769967" y="4023360"/>
            <a:ext cx="2286000" cy="411480"/>
          </a:xfrm>
          <a:prstGeom prst="round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Tools - Malware families, exploit kits</a:t>
            </a:r>
          </a:p>
        </p:txBody>
      </p:sp>
      <p:sp>
        <p:nvSpPr>
          <p:cNvPr id="24" name="Rounded Rectangle 23"/>
          <p:cNvSpPr/>
          <p:nvPr/>
        </p:nvSpPr>
        <p:spPr>
          <a:xfrm>
            <a:off x="5090007" y="4480560"/>
            <a:ext cx="1645920" cy="41148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Network/Host Artifacts - Registry keys, C2 patterns, user-agents</a:t>
            </a:r>
          </a:p>
        </p:txBody>
      </p:sp>
      <p:sp>
        <p:nvSpPr>
          <p:cNvPr id="25" name="Rounded Rectangle 24"/>
          <p:cNvSpPr/>
          <p:nvPr/>
        </p:nvSpPr>
        <p:spPr>
          <a:xfrm>
            <a:off x="5364327" y="4937760"/>
            <a:ext cx="1097280" cy="4114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Domain Names - C2 domains, phishing domains</a:t>
            </a:r>
          </a:p>
        </p:txBody>
      </p:sp>
      <p:sp>
        <p:nvSpPr>
          <p:cNvPr id="26" name="Rounded Rectangle 25"/>
          <p:cNvSpPr/>
          <p:nvPr/>
        </p:nvSpPr>
        <p:spPr>
          <a:xfrm>
            <a:off x="5638647" y="5394960"/>
            <a:ext cx="548640" cy="411480"/>
          </a:xfrm>
          <a:prstGeom prst="roundRect">
            <a:avLst/>
          </a:prstGeom>
          <a:solidFill>
            <a:srgbClr val="E0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IP Addresses &amp; Hash Values - Easily changed by adversaries</a:t>
            </a:r>
          </a:p>
        </p:txBody>
      </p:sp>
      <p:sp>
        <p:nvSpPr>
          <p:cNvPr id="27" name="Rounded Rectangle 26"/>
          <p:cNvSpPr/>
          <p:nvPr/>
        </p:nvSpPr>
        <p:spPr>
          <a:xfrm>
            <a:off x="457200" y="5943600"/>
            <a:ext cx="10972800" cy="50292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989320"/>
            <a:ext cx="10424160" cy="365760"/>
          </a:xfrm>
          <a:prstGeom prst="rect">
            <a:avLst/>
          </a:prstGeom>
          <a:noFill/>
        </p:spPr>
        <p:txBody>
          <a:bodyPr wrap="square">
            <a:spAutoFit/>
          </a:bodyPr>
          <a:lstStyle/>
          <a:p>
            <a:pPr algn="l">
              <a:defRPr sz="1100" b="0">
                <a:solidFill>
                  <a:srgbClr val="444444"/>
                </a:solidFill>
                <a:latin typeface="Calibri"/>
              </a:defRPr>
            </a:pPr>
            <a:r>
              <a:t>Key Threat Intel Sources: MITRE ATT&amp;CK | AlienVault OTX | VirusTotal | Recorded Future | Mandiant Threat Intel | CISA KEV (Known Exploited Vulnerabilities) | STIX/TAXII standards</a:t>
            </a:r>
          </a:p>
        </p:txBody>
      </p:sp>
      <p:sp>
        <p:nvSpPr>
          <p:cNvPr id="29" name="Rectangle 28"/>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31" name="TextBox 30"/>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6: POST-QUANTUM CRYPTOGRAPHY</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Post-Quantum Cryptography: Preparing for Q-Day</a:t>
            </a:r>
          </a:p>
        </p:txBody>
      </p:sp>
      <p:sp>
        <p:nvSpPr>
          <p:cNvPr id="6" name="Rounded Rectangle 5"/>
          <p:cNvSpPr/>
          <p:nvPr/>
        </p:nvSpPr>
        <p:spPr>
          <a:xfrm>
            <a:off x="457200" y="1645920"/>
            <a:ext cx="5303520" cy="2103120"/>
          </a:xfrm>
          <a:prstGeom prst="roundRect">
            <a:avLst/>
          </a:prstGeom>
          <a:solidFill>
            <a:srgbClr val="FFF0F0"/>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4754880" cy="320040"/>
          </a:xfrm>
          <a:prstGeom prst="rect">
            <a:avLst/>
          </a:prstGeom>
          <a:noFill/>
        </p:spPr>
        <p:txBody>
          <a:bodyPr wrap="square">
            <a:spAutoFit/>
          </a:bodyPr>
          <a:lstStyle/>
          <a:p>
            <a:pPr algn="l">
              <a:defRPr sz="1600" b="1">
                <a:solidFill>
                  <a:srgbClr val="E03C31"/>
                </a:solidFill>
                <a:latin typeface="Calibri"/>
              </a:defRPr>
            </a:pPr>
            <a:r>
              <a:t>The Quantum Threat</a:t>
            </a:r>
          </a:p>
        </p:txBody>
      </p:sp>
      <p:sp>
        <p:nvSpPr>
          <p:cNvPr id="8" name="TextBox 7"/>
          <p:cNvSpPr txBox="1"/>
          <p:nvPr/>
        </p:nvSpPr>
        <p:spPr>
          <a:xfrm>
            <a:off x="731520" y="2103120"/>
            <a:ext cx="4754880" cy="1554480"/>
          </a:xfrm>
          <a:prstGeom prst="rect">
            <a:avLst/>
          </a:prstGeom>
          <a:noFill/>
        </p:spPr>
        <p:txBody>
          <a:bodyPr wrap="square">
            <a:spAutoFit/>
          </a:bodyPr>
          <a:lstStyle/>
          <a:p>
            <a:pPr>
              <a:spcAft>
                <a:spcPts val="400"/>
              </a:spcAft>
              <a:defRPr sz="1200">
                <a:solidFill>
                  <a:srgbClr val="444444"/>
                </a:solidFill>
                <a:latin typeface="Calibri"/>
              </a:defRPr>
            </a:pPr>
            <a:r>
              <a:t>⚠ Shor's Algorithm breaks RSA, ECC, DH (all current PKI)</a:t>
            </a:r>
          </a:p>
          <a:p>
            <a:pPr>
              <a:spcAft>
                <a:spcPts val="400"/>
              </a:spcAft>
              <a:defRPr sz="1200">
                <a:solidFill>
                  <a:srgbClr val="444444"/>
                </a:solidFill>
                <a:latin typeface="Calibri"/>
              </a:defRPr>
            </a:pPr>
            <a:r>
              <a:t>⚠ "Harvest Now, Decrypt Later" attacks already happening</a:t>
            </a:r>
          </a:p>
          <a:p>
            <a:pPr>
              <a:spcAft>
                <a:spcPts val="400"/>
              </a:spcAft>
              <a:defRPr sz="1200">
                <a:solidFill>
                  <a:srgbClr val="444444"/>
                </a:solidFill>
                <a:latin typeface="Calibri"/>
              </a:defRPr>
            </a:pPr>
            <a:r>
              <a:t>⚠ Q-Day estimate: 2030-2035 (some say sooner)</a:t>
            </a:r>
          </a:p>
          <a:p>
            <a:pPr>
              <a:spcAft>
                <a:spcPts val="400"/>
              </a:spcAft>
              <a:defRPr sz="1200">
                <a:solidFill>
                  <a:srgbClr val="444444"/>
                </a:solidFill>
                <a:latin typeface="Calibri"/>
              </a:defRPr>
            </a:pPr>
            <a:r>
              <a:t>⚠ All HTTPS, VPNs, digital signatures at risk</a:t>
            </a:r>
          </a:p>
          <a:p>
            <a:pPr>
              <a:spcAft>
                <a:spcPts val="400"/>
              </a:spcAft>
              <a:defRPr sz="1200">
                <a:solidFill>
                  <a:srgbClr val="444444"/>
                </a:solidFill>
                <a:latin typeface="Calibri"/>
              </a:defRPr>
            </a:pPr>
            <a:r>
              <a:t>⚠ Nation-states stockpiling encrypted traffic today</a:t>
            </a:r>
          </a:p>
        </p:txBody>
      </p:sp>
      <p:sp>
        <p:nvSpPr>
          <p:cNvPr id="9" name="Rounded Rectangle 8"/>
          <p:cNvSpPr/>
          <p:nvPr/>
        </p:nvSpPr>
        <p:spPr>
          <a:xfrm>
            <a:off x="6217920" y="1645920"/>
            <a:ext cx="5303520" cy="2103120"/>
          </a:xfrm>
          <a:prstGeom prst="roundRect">
            <a:avLst/>
          </a:prstGeom>
          <a:solidFill>
            <a:srgbClr val="F0FFF0"/>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91640"/>
            <a:ext cx="4754880" cy="320040"/>
          </a:xfrm>
          <a:prstGeom prst="rect">
            <a:avLst/>
          </a:prstGeom>
          <a:noFill/>
        </p:spPr>
        <p:txBody>
          <a:bodyPr wrap="square">
            <a:spAutoFit/>
          </a:bodyPr>
          <a:lstStyle/>
          <a:p>
            <a:pPr algn="l">
              <a:defRPr sz="1600" b="1">
                <a:solidFill>
                  <a:srgbClr val="2E8B57"/>
                </a:solidFill>
                <a:latin typeface="Calibri"/>
              </a:defRPr>
            </a:pPr>
            <a:r>
              <a:t>NIST PQC Standards (Finalized 2024)</a:t>
            </a:r>
          </a:p>
        </p:txBody>
      </p:sp>
      <p:sp>
        <p:nvSpPr>
          <p:cNvPr id="11" name="TextBox 10"/>
          <p:cNvSpPr txBox="1"/>
          <p:nvPr/>
        </p:nvSpPr>
        <p:spPr>
          <a:xfrm>
            <a:off x="6492240" y="2103120"/>
            <a:ext cx="4754880" cy="1554480"/>
          </a:xfrm>
          <a:prstGeom prst="rect">
            <a:avLst/>
          </a:prstGeom>
          <a:noFill/>
        </p:spPr>
        <p:txBody>
          <a:bodyPr wrap="square">
            <a:spAutoFit/>
          </a:bodyPr>
          <a:lstStyle/>
          <a:p>
            <a:pPr>
              <a:spcAft>
                <a:spcPts val="400"/>
              </a:spcAft>
              <a:defRPr sz="1200">
                <a:solidFill>
                  <a:srgbClr val="444444"/>
                </a:solidFill>
                <a:latin typeface="Calibri"/>
              </a:defRPr>
            </a:pPr>
            <a:r>
              <a:t>✔ ML-KEM (Kyber) - FIPS 203: Key encapsulation (replaces DH/ECDH)</a:t>
            </a:r>
          </a:p>
          <a:p>
            <a:pPr>
              <a:spcAft>
                <a:spcPts val="400"/>
              </a:spcAft>
              <a:defRPr sz="1200">
                <a:solidFill>
                  <a:srgbClr val="444444"/>
                </a:solidFill>
                <a:latin typeface="Calibri"/>
              </a:defRPr>
            </a:pPr>
            <a:r>
              <a:t>✔ ML-DSA (Dilithium) - FIPS 204: Digital signatures (replaces RSA/ECDSA)</a:t>
            </a:r>
          </a:p>
          <a:p>
            <a:pPr>
              <a:spcAft>
                <a:spcPts val="400"/>
              </a:spcAft>
              <a:defRPr sz="1200">
                <a:solidFill>
                  <a:srgbClr val="444444"/>
                </a:solidFill>
                <a:latin typeface="Calibri"/>
              </a:defRPr>
            </a:pPr>
            <a:r>
              <a:t>✔ SLH-DSA (SPHINCS+) - FIPS 205: Hash-based signatures (backup)</a:t>
            </a:r>
          </a:p>
          <a:p>
            <a:pPr>
              <a:spcAft>
                <a:spcPts val="400"/>
              </a:spcAft>
              <a:defRPr sz="1200">
                <a:solidFill>
                  <a:srgbClr val="444444"/>
                </a:solidFill>
                <a:latin typeface="Calibri"/>
              </a:defRPr>
            </a:pPr>
            <a:r>
              <a:t>✔ FN-DSA (Falcon) - FIPS 206: Compact signatures (draft 2025)</a:t>
            </a:r>
          </a:p>
          <a:p>
            <a:pPr>
              <a:spcAft>
                <a:spcPts val="400"/>
              </a:spcAft>
              <a:defRPr sz="1200">
                <a:solidFill>
                  <a:srgbClr val="444444"/>
                </a:solidFill>
                <a:latin typeface="Calibri"/>
              </a:defRPr>
            </a:pPr>
            <a:r>
              <a:t>✔ Based on lattice problems &amp; hash functions (quantum-resistant)</a:t>
            </a:r>
          </a:p>
        </p:txBody>
      </p:sp>
      <p:sp>
        <p:nvSpPr>
          <p:cNvPr id="12" name="TextBox 11"/>
          <p:cNvSpPr txBox="1"/>
          <p:nvPr/>
        </p:nvSpPr>
        <p:spPr>
          <a:xfrm>
            <a:off x="457200" y="4023360"/>
            <a:ext cx="10972800" cy="365760"/>
          </a:xfrm>
          <a:prstGeom prst="rect">
            <a:avLst/>
          </a:prstGeom>
          <a:noFill/>
        </p:spPr>
        <p:txBody>
          <a:bodyPr wrap="square">
            <a:spAutoFit/>
          </a:bodyPr>
          <a:lstStyle/>
          <a:p>
            <a:pPr algn="l">
              <a:defRPr sz="1600" b="1">
                <a:solidFill>
                  <a:srgbClr val="0076CE"/>
                </a:solidFill>
                <a:latin typeface="Calibri"/>
              </a:defRPr>
            </a:pPr>
            <a:r>
              <a:t>Industry PQC Migration Timeline</a:t>
            </a:r>
          </a:p>
        </p:txBody>
      </p:sp>
      <p:sp>
        <p:nvSpPr>
          <p:cNvPr id="13" name="Rounded Rectangle 12"/>
          <p:cNvSpPr/>
          <p:nvPr/>
        </p:nvSpPr>
        <p:spPr>
          <a:xfrm>
            <a:off x="457200" y="4480560"/>
            <a:ext cx="2651760" cy="1463040"/>
          </a:xfrm>
          <a:prstGeom prst="roundRect">
            <a:avLst/>
          </a:prstGeom>
          <a:solidFill>
            <a:srgbClr val="FFFF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526280"/>
            <a:ext cx="2468880" cy="274320"/>
          </a:xfrm>
          <a:prstGeom prst="rect">
            <a:avLst/>
          </a:prstGeom>
          <a:noFill/>
        </p:spPr>
        <p:txBody>
          <a:bodyPr wrap="square">
            <a:spAutoFit/>
          </a:bodyPr>
          <a:lstStyle/>
          <a:p>
            <a:pPr algn="ctr">
              <a:defRPr sz="1400" b="1">
                <a:solidFill>
                  <a:srgbClr val="0076CE"/>
                </a:solidFill>
                <a:latin typeface="Calibri"/>
              </a:defRPr>
            </a:pPr>
            <a:r>
              <a:t>2024</a:t>
            </a:r>
          </a:p>
        </p:txBody>
      </p:sp>
      <p:sp>
        <p:nvSpPr>
          <p:cNvPr id="15" name="TextBox 14"/>
          <p:cNvSpPr txBox="1"/>
          <p:nvPr/>
        </p:nvSpPr>
        <p:spPr>
          <a:xfrm>
            <a:off x="548640" y="4846320"/>
            <a:ext cx="2468880" cy="1005840"/>
          </a:xfrm>
          <a:prstGeom prst="rect">
            <a:avLst/>
          </a:prstGeom>
          <a:noFill/>
        </p:spPr>
        <p:txBody>
          <a:bodyPr wrap="square">
            <a:spAutoFit/>
          </a:bodyPr>
          <a:lstStyle/>
          <a:p>
            <a:pPr algn="ctr">
              <a:defRPr sz="1100" b="0">
                <a:solidFill>
                  <a:srgbClr val="444444"/>
                </a:solidFill>
                <a:latin typeface="Calibri"/>
              </a:defRPr>
            </a:pPr>
            <a:r>
              <a:t>NIST standards finalized</a:t>
            </a:r>
            <a:br/>
            <a:r>
              <a:t>Chrome/Firefox PQC hybrid</a:t>
            </a:r>
            <a:br/>
            <a:r>
              <a:t>Signal adopts PQXDH</a:t>
            </a:r>
          </a:p>
        </p:txBody>
      </p:sp>
      <p:sp>
        <p:nvSpPr>
          <p:cNvPr id="16" name="Rounded Rectangle 15"/>
          <p:cNvSpPr/>
          <p:nvPr/>
        </p:nvSpPr>
        <p:spPr>
          <a:xfrm>
            <a:off x="3337560" y="4480560"/>
            <a:ext cx="2651760" cy="1463040"/>
          </a:xfrm>
          <a:prstGeom prst="roundRect">
            <a:avLst/>
          </a:prstGeom>
          <a:solidFill>
            <a:srgbClr val="FFFFFF"/>
          </a:solidFill>
          <a:ln w="19050">
            <a:solidFill>
              <a:srgbClr val="00B2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9000" y="4526280"/>
            <a:ext cx="2468880" cy="274320"/>
          </a:xfrm>
          <a:prstGeom prst="rect">
            <a:avLst/>
          </a:prstGeom>
          <a:noFill/>
        </p:spPr>
        <p:txBody>
          <a:bodyPr wrap="square">
            <a:spAutoFit/>
          </a:bodyPr>
          <a:lstStyle/>
          <a:p>
            <a:pPr algn="ctr">
              <a:defRPr sz="1400" b="1">
                <a:solidFill>
                  <a:srgbClr val="00B2A9"/>
                </a:solidFill>
                <a:latin typeface="Calibri"/>
              </a:defRPr>
            </a:pPr>
            <a:r>
              <a:t>2025</a:t>
            </a:r>
          </a:p>
        </p:txBody>
      </p:sp>
      <p:sp>
        <p:nvSpPr>
          <p:cNvPr id="18" name="TextBox 17"/>
          <p:cNvSpPr txBox="1"/>
          <p:nvPr/>
        </p:nvSpPr>
        <p:spPr>
          <a:xfrm>
            <a:off x="3429000" y="4846320"/>
            <a:ext cx="2468880" cy="1005840"/>
          </a:xfrm>
          <a:prstGeom prst="rect">
            <a:avLst/>
          </a:prstGeom>
          <a:noFill/>
        </p:spPr>
        <p:txBody>
          <a:bodyPr wrap="square">
            <a:spAutoFit/>
          </a:bodyPr>
          <a:lstStyle/>
          <a:p>
            <a:pPr algn="ctr">
              <a:defRPr sz="1100" b="0">
                <a:solidFill>
                  <a:srgbClr val="444444"/>
                </a:solidFill>
                <a:latin typeface="Calibri"/>
              </a:defRPr>
            </a:pPr>
            <a:r>
              <a:t>Major cloud providers adopt</a:t>
            </a:r>
            <a:br/>
            <a:r>
              <a:t>PQC in TLS 1.3</a:t>
            </a:r>
            <a:br/>
            <a:r>
              <a:t>US Gov mandate begins</a:t>
            </a:r>
          </a:p>
        </p:txBody>
      </p:sp>
      <p:sp>
        <p:nvSpPr>
          <p:cNvPr id="19" name="Rounded Rectangle 18"/>
          <p:cNvSpPr/>
          <p:nvPr/>
        </p:nvSpPr>
        <p:spPr>
          <a:xfrm>
            <a:off x="6217920" y="4480560"/>
            <a:ext cx="2651760" cy="1463040"/>
          </a:xfrm>
          <a:prstGeom prst="roundRect">
            <a:avLst/>
          </a:prstGeom>
          <a:solidFill>
            <a:srgbClr val="FFFFFF"/>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526280"/>
            <a:ext cx="2468880" cy="274320"/>
          </a:xfrm>
          <a:prstGeom prst="rect">
            <a:avLst/>
          </a:prstGeom>
          <a:noFill/>
        </p:spPr>
        <p:txBody>
          <a:bodyPr wrap="square">
            <a:spAutoFit/>
          </a:bodyPr>
          <a:lstStyle/>
          <a:p>
            <a:pPr algn="ctr">
              <a:defRPr sz="1400" b="1">
                <a:solidFill>
                  <a:srgbClr val="FF8C00"/>
                </a:solidFill>
                <a:latin typeface="Calibri"/>
              </a:defRPr>
            </a:pPr>
            <a:r>
              <a:t>2026-2028</a:t>
            </a:r>
          </a:p>
        </p:txBody>
      </p:sp>
      <p:sp>
        <p:nvSpPr>
          <p:cNvPr id="21" name="TextBox 20"/>
          <p:cNvSpPr txBox="1"/>
          <p:nvPr/>
        </p:nvSpPr>
        <p:spPr>
          <a:xfrm>
            <a:off x="6309360" y="4846320"/>
            <a:ext cx="2468880" cy="1005840"/>
          </a:xfrm>
          <a:prstGeom prst="rect">
            <a:avLst/>
          </a:prstGeom>
          <a:noFill/>
        </p:spPr>
        <p:txBody>
          <a:bodyPr wrap="square">
            <a:spAutoFit/>
          </a:bodyPr>
          <a:lstStyle/>
          <a:p>
            <a:pPr algn="ctr">
              <a:defRPr sz="1100" b="0">
                <a:solidFill>
                  <a:srgbClr val="444444"/>
                </a:solidFill>
                <a:latin typeface="Calibri"/>
              </a:defRPr>
            </a:pPr>
            <a:r>
              <a:t>Enterprise migration</a:t>
            </a:r>
            <a:br/>
            <a:r>
              <a:t>PKI infrastructure upgrade</a:t>
            </a:r>
            <a:br/>
            <a:r>
              <a:t>Code signing transition</a:t>
            </a:r>
          </a:p>
        </p:txBody>
      </p:sp>
      <p:sp>
        <p:nvSpPr>
          <p:cNvPr id="22" name="Rounded Rectangle 21"/>
          <p:cNvSpPr/>
          <p:nvPr/>
        </p:nvSpPr>
        <p:spPr>
          <a:xfrm>
            <a:off x="9098280" y="4480560"/>
            <a:ext cx="2651760" cy="1463040"/>
          </a:xfrm>
          <a:prstGeom prst="roundRect">
            <a:avLst/>
          </a:prstGeom>
          <a:solidFill>
            <a:srgbClr val="FFFFFF"/>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9720" y="4526280"/>
            <a:ext cx="2468880" cy="274320"/>
          </a:xfrm>
          <a:prstGeom prst="rect">
            <a:avLst/>
          </a:prstGeom>
          <a:noFill/>
        </p:spPr>
        <p:txBody>
          <a:bodyPr wrap="square">
            <a:spAutoFit/>
          </a:bodyPr>
          <a:lstStyle/>
          <a:p>
            <a:pPr algn="ctr">
              <a:defRPr sz="1400" b="1">
                <a:solidFill>
                  <a:srgbClr val="E03C31"/>
                </a:solidFill>
                <a:latin typeface="Calibri"/>
              </a:defRPr>
            </a:pPr>
            <a:r>
              <a:t>2030+</a:t>
            </a:r>
          </a:p>
        </p:txBody>
      </p:sp>
      <p:sp>
        <p:nvSpPr>
          <p:cNvPr id="24" name="TextBox 23"/>
          <p:cNvSpPr txBox="1"/>
          <p:nvPr/>
        </p:nvSpPr>
        <p:spPr>
          <a:xfrm>
            <a:off x="9189720" y="4846320"/>
            <a:ext cx="2468880" cy="1005840"/>
          </a:xfrm>
          <a:prstGeom prst="rect">
            <a:avLst/>
          </a:prstGeom>
          <a:noFill/>
        </p:spPr>
        <p:txBody>
          <a:bodyPr wrap="square">
            <a:spAutoFit/>
          </a:bodyPr>
          <a:lstStyle/>
          <a:p>
            <a:pPr algn="ctr">
              <a:defRPr sz="1100" b="0">
                <a:solidFill>
                  <a:srgbClr val="444444"/>
                </a:solidFill>
                <a:latin typeface="Calibri"/>
              </a:defRPr>
            </a:pPr>
            <a:r>
              <a:t>Legacy crypto deprecated</a:t>
            </a:r>
            <a:br/>
            <a:r>
              <a:t>Full PQC adoption</a:t>
            </a:r>
            <a:br/>
            <a:r>
              <a:t>Quantum computers arrive?</a:t>
            </a:r>
          </a:p>
        </p:txBody>
      </p:sp>
      <p:sp>
        <p:nvSpPr>
          <p:cNvPr id="25" name="Rounded Rectangle 24"/>
          <p:cNvSpPr/>
          <p:nvPr/>
        </p:nvSpPr>
        <p:spPr>
          <a:xfrm>
            <a:off x="457200" y="6126480"/>
            <a:ext cx="10972800" cy="365760"/>
          </a:xfrm>
          <a:prstGeom prst="roundRect">
            <a:avLst/>
          </a:prstGeom>
          <a:solidFill>
            <a:srgbClr val="FDF2E9"/>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144768"/>
            <a:ext cx="10424160" cy="320040"/>
          </a:xfrm>
          <a:prstGeom prst="rect">
            <a:avLst/>
          </a:prstGeom>
          <a:noFill/>
        </p:spPr>
        <p:txBody>
          <a:bodyPr wrap="square">
            <a:spAutoFit/>
          </a:bodyPr>
          <a:lstStyle/>
          <a:p>
            <a:pPr algn="l">
              <a:defRPr sz="1200" b="1">
                <a:solidFill>
                  <a:srgbClr val="FF8C00"/>
                </a:solidFill>
                <a:latin typeface="Calibri"/>
              </a:defRPr>
            </a:pPr>
            <a:r>
              <a:t>NOW: Google Chrome (v124+) uses ML-KEM hybrid key exchange by default for all HTTPS connections (since Q3 2024)</a:t>
            </a:r>
          </a:p>
        </p:txBody>
      </p:sp>
      <p:sp>
        <p:nvSpPr>
          <p:cNvPr id="27" name="Rectangle 26"/>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29" name="TextBox 28"/>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SECTION 7: RED TEAM / BLUE TEAM</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Red Team / Blue Team: Adversarial Security Testing</a:t>
            </a:r>
          </a:p>
        </p:txBody>
      </p:sp>
      <p:sp>
        <p:nvSpPr>
          <p:cNvPr id="6" name="Rounded Rectangle 5"/>
          <p:cNvSpPr/>
          <p:nvPr/>
        </p:nvSpPr>
        <p:spPr>
          <a:xfrm>
            <a:off x="457200" y="1645920"/>
            <a:ext cx="3474720" cy="4114800"/>
          </a:xfrm>
          <a:prstGeom prst="roundRect">
            <a:avLst/>
          </a:prstGeom>
          <a:solidFill>
            <a:srgbClr val="FFF0F0"/>
          </a:solidFill>
          <a:ln w="19050">
            <a:solidFill>
              <a:srgbClr val="E03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2926080" cy="365760"/>
          </a:xfrm>
          <a:prstGeom prst="rect">
            <a:avLst/>
          </a:prstGeom>
          <a:noFill/>
        </p:spPr>
        <p:txBody>
          <a:bodyPr wrap="square">
            <a:spAutoFit/>
          </a:bodyPr>
          <a:lstStyle/>
          <a:p>
            <a:pPr algn="l">
              <a:defRPr sz="1800" b="1">
                <a:solidFill>
                  <a:srgbClr val="E03C31"/>
                </a:solidFill>
                <a:latin typeface="Calibri"/>
              </a:defRPr>
            </a:pPr>
            <a:r>
              <a:t>RED TEAM (Offense)</a:t>
            </a:r>
          </a:p>
        </p:txBody>
      </p:sp>
      <p:sp>
        <p:nvSpPr>
          <p:cNvPr id="8" name="TextBox 7"/>
          <p:cNvSpPr txBox="1"/>
          <p:nvPr/>
        </p:nvSpPr>
        <p:spPr>
          <a:xfrm>
            <a:off x="731520" y="2194560"/>
            <a:ext cx="2926080" cy="3474720"/>
          </a:xfrm>
          <a:prstGeom prst="rect">
            <a:avLst/>
          </a:prstGeom>
          <a:noFill/>
        </p:spPr>
        <p:txBody>
          <a:bodyPr wrap="square">
            <a:spAutoFit/>
          </a:bodyPr>
          <a:lstStyle/>
          <a:p>
            <a:pPr>
              <a:spcAft>
                <a:spcPts val="400"/>
              </a:spcAft>
              <a:defRPr sz="1200">
                <a:solidFill>
                  <a:srgbClr val="444444"/>
                </a:solidFill>
                <a:latin typeface="Calibri"/>
              </a:defRPr>
            </a:pPr>
            <a:r>
              <a:t>• Simulate real-world adversaries</a:t>
            </a:r>
          </a:p>
          <a:p>
            <a:pPr>
              <a:spcAft>
                <a:spcPts val="400"/>
              </a:spcAft>
              <a:defRPr sz="1200">
                <a:solidFill>
                  <a:srgbClr val="444444"/>
                </a:solidFill>
                <a:latin typeface="Calibri"/>
              </a:defRPr>
            </a:pPr>
            <a:r>
              <a:t>• Penetration testing &amp; exploitation</a:t>
            </a:r>
          </a:p>
          <a:p>
            <a:pPr>
              <a:spcAft>
                <a:spcPts val="400"/>
              </a:spcAft>
              <a:defRPr sz="1200">
                <a:solidFill>
                  <a:srgbClr val="444444"/>
                </a:solidFill>
                <a:latin typeface="Calibri"/>
              </a:defRPr>
            </a:pPr>
            <a:r>
              <a:t>• Social engineering attacks</a:t>
            </a:r>
          </a:p>
          <a:p>
            <a:pPr>
              <a:spcAft>
                <a:spcPts val="400"/>
              </a:spcAft>
              <a:defRPr sz="1200">
                <a:solidFill>
                  <a:srgbClr val="444444"/>
                </a:solidFill>
                <a:latin typeface="Calibri"/>
              </a:defRPr>
            </a:pPr>
            <a:r>
              <a:t>• Physical security testing</a:t>
            </a:r>
          </a:p>
          <a:p>
            <a:pPr>
              <a:spcAft>
                <a:spcPts val="400"/>
              </a:spcAft>
              <a:defRPr sz="1200">
                <a:solidFill>
                  <a:srgbClr val="444444"/>
                </a:solidFill>
                <a:latin typeface="Calibri"/>
              </a:defRPr>
            </a:pPr>
            <a:r>
              <a:t>• Tools: Metasploit, Cobalt Strike,</a:t>
            </a:r>
            <a:br/>
            <a:r>
              <a:t>  Burp Suite, BloodHound</a:t>
            </a:r>
          </a:p>
          <a:p>
            <a:pPr>
              <a:spcAft>
                <a:spcPts val="400"/>
              </a:spcAft>
              <a:defRPr sz="1200">
                <a:solidFill>
                  <a:srgbClr val="444444"/>
                </a:solidFill>
                <a:latin typeface="Calibri"/>
              </a:defRPr>
            </a:pPr>
            <a:r>
              <a:t>• MITRE ATT&amp;CK mapped TTPs</a:t>
            </a:r>
          </a:p>
          <a:p>
            <a:pPr>
              <a:spcAft>
                <a:spcPts val="400"/>
              </a:spcAft>
              <a:defRPr sz="1200">
                <a:solidFill>
                  <a:srgbClr val="444444"/>
                </a:solidFill>
                <a:latin typeface="Calibri"/>
              </a:defRPr>
            </a:pPr>
            <a:r>
              <a:t>• Goal: Find weaknesses before</a:t>
            </a:r>
            <a:br/>
            <a:r>
              <a:t>  real attackers do</a:t>
            </a:r>
          </a:p>
        </p:txBody>
      </p:sp>
      <p:sp>
        <p:nvSpPr>
          <p:cNvPr id="9" name="Rounded Rectangle 8"/>
          <p:cNvSpPr/>
          <p:nvPr/>
        </p:nvSpPr>
        <p:spPr>
          <a:xfrm>
            <a:off x="4297680" y="1645920"/>
            <a:ext cx="3474720" cy="411480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91640"/>
            <a:ext cx="2926080" cy="365760"/>
          </a:xfrm>
          <a:prstGeom prst="rect">
            <a:avLst/>
          </a:prstGeom>
          <a:noFill/>
        </p:spPr>
        <p:txBody>
          <a:bodyPr wrap="square">
            <a:spAutoFit/>
          </a:bodyPr>
          <a:lstStyle/>
          <a:p>
            <a:pPr algn="l">
              <a:defRPr sz="1800" b="1">
                <a:solidFill>
                  <a:srgbClr val="0076CE"/>
                </a:solidFill>
                <a:latin typeface="Calibri"/>
              </a:defRPr>
            </a:pPr>
            <a:r>
              <a:t>BLUE TEAM (Defense)</a:t>
            </a:r>
          </a:p>
        </p:txBody>
      </p:sp>
      <p:sp>
        <p:nvSpPr>
          <p:cNvPr id="11" name="TextBox 10"/>
          <p:cNvSpPr txBox="1"/>
          <p:nvPr/>
        </p:nvSpPr>
        <p:spPr>
          <a:xfrm>
            <a:off x="4572000" y="2194560"/>
            <a:ext cx="2926080" cy="3474720"/>
          </a:xfrm>
          <a:prstGeom prst="rect">
            <a:avLst/>
          </a:prstGeom>
          <a:noFill/>
        </p:spPr>
        <p:txBody>
          <a:bodyPr wrap="square">
            <a:spAutoFit/>
          </a:bodyPr>
          <a:lstStyle/>
          <a:p>
            <a:pPr>
              <a:spcAft>
                <a:spcPts val="400"/>
              </a:spcAft>
              <a:defRPr sz="1200">
                <a:solidFill>
                  <a:srgbClr val="444444"/>
                </a:solidFill>
                <a:latin typeface="Calibri"/>
              </a:defRPr>
            </a:pPr>
            <a:r>
              <a:t>• Monitor, detect, and respond</a:t>
            </a:r>
          </a:p>
          <a:p>
            <a:pPr>
              <a:spcAft>
                <a:spcPts val="400"/>
              </a:spcAft>
              <a:defRPr sz="1200">
                <a:solidFill>
                  <a:srgbClr val="444444"/>
                </a:solidFill>
                <a:latin typeface="Calibri"/>
              </a:defRPr>
            </a:pPr>
            <a:r>
              <a:t>• SIEM analysis &amp; alert triage</a:t>
            </a:r>
          </a:p>
          <a:p>
            <a:pPr>
              <a:spcAft>
                <a:spcPts val="400"/>
              </a:spcAft>
              <a:defRPr sz="1200">
                <a:solidFill>
                  <a:srgbClr val="444444"/>
                </a:solidFill>
                <a:latin typeface="Calibri"/>
              </a:defRPr>
            </a:pPr>
            <a:r>
              <a:t>• Incident response procedures</a:t>
            </a:r>
          </a:p>
          <a:p>
            <a:pPr>
              <a:spcAft>
                <a:spcPts val="400"/>
              </a:spcAft>
              <a:defRPr sz="1200">
                <a:solidFill>
                  <a:srgbClr val="444444"/>
                </a:solidFill>
                <a:latin typeface="Calibri"/>
              </a:defRPr>
            </a:pPr>
            <a:r>
              <a:t>• Threat hunting (proactive)</a:t>
            </a:r>
          </a:p>
          <a:p>
            <a:pPr>
              <a:spcAft>
                <a:spcPts val="400"/>
              </a:spcAft>
              <a:defRPr sz="1200">
                <a:solidFill>
                  <a:srgbClr val="444444"/>
                </a:solidFill>
                <a:latin typeface="Calibri"/>
              </a:defRPr>
            </a:pPr>
            <a:r>
              <a:t>• Tools: Wazuh, Splunk, Wireshark,</a:t>
            </a:r>
            <a:br/>
            <a:r>
              <a:t>  YARA rules, Sigma rules</a:t>
            </a:r>
          </a:p>
          <a:p>
            <a:pPr>
              <a:spcAft>
                <a:spcPts val="400"/>
              </a:spcAft>
              <a:defRPr sz="1200">
                <a:solidFill>
                  <a:srgbClr val="444444"/>
                </a:solidFill>
                <a:latin typeface="Calibri"/>
              </a:defRPr>
            </a:pPr>
            <a:r>
              <a:t>• Forensics &amp; evidence collection</a:t>
            </a:r>
          </a:p>
          <a:p>
            <a:pPr>
              <a:spcAft>
                <a:spcPts val="400"/>
              </a:spcAft>
              <a:defRPr sz="1200">
                <a:solidFill>
                  <a:srgbClr val="444444"/>
                </a:solidFill>
                <a:latin typeface="Calibri"/>
              </a:defRPr>
            </a:pPr>
            <a:r>
              <a:t>• Goal: Detect &amp; contain attacks</a:t>
            </a:r>
            <a:br/>
            <a:r>
              <a:t>  as fast as possible</a:t>
            </a:r>
          </a:p>
        </p:txBody>
      </p:sp>
      <p:sp>
        <p:nvSpPr>
          <p:cNvPr id="12" name="Rounded Rectangle 11"/>
          <p:cNvSpPr/>
          <p:nvPr/>
        </p:nvSpPr>
        <p:spPr>
          <a:xfrm>
            <a:off x="8138160" y="1645920"/>
            <a:ext cx="3474720" cy="4114800"/>
          </a:xfrm>
          <a:prstGeom prst="roundRect">
            <a:avLst/>
          </a:prstGeom>
          <a:solidFill>
            <a:srgbClr val="F0E8FF"/>
          </a:solidFill>
          <a:ln w="19050">
            <a:solidFill>
              <a:srgbClr val="800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691640"/>
            <a:ext cx="2926080" cy="365760"/>
          </a:xfrm>
          <a:prstGeom prst="rect">
            <a:avLst/>
          </a:prstGeom>
          <a:noFill/>
        </p:spPr>
        <p:txBody>
          <a:bodyPr wrap="square">
            <a:spAutoFit/>
          </a:bodyPr>
          <a:lstStyle/>
          <a:p>
            <a:pPr algn="l">
              <a:defRPr sz="1800" b="1">
                <a:solidFill>
                  <a:srgbClr val="800080"/>
                </a:solidFill>
                <a:latin typeface="Calibri"/>
              </a:defRPr>
            </a:pPr>
            <a:r>
              <a:t>PURPLE TEAM (Collaboration)</a:t>
            </a:r>
          </a:p>
        </p:txBody>
      </p:sp>
      <p:sp>
        <p:nvSpPr>
          <p:cNvPr id="14" name="TextBox 13"/>
          <p:cNvSpPr txBox="1"/>
          <p:nvPr/>
        </p:nvSpPr>
        <p:spPr>
          <a:xfrm>
            <a:off x="8412480" y="2194560"/>
            <a:ext cx="2926080" cy="3474720"/>
          </a:xfrm>
          <a:prstGeom prst="rect">
            <a:avLst/>
          </a:prstGeom>
          <a:noFill/>
        </p:spPr>
        <p:txBody>
          <a:bodyPr wrap="square">
            <a:spAutoFit/>
          </a:bodyPr>
          <a:lstStyle/>
          <a:p>
            <a:pPr>
              <a:spcAft>
                <a:spcPts val="400"/>
              </a:spcAft>
              <a:defRPr sz="1200">
                <a:solidFill>
                  <a:srgbClr val="444444"/>
                </a:solidFill>
                <a:latin typeface="Calibri"/>
              </a:defRPr>
            </a:pPr>
            <a:r>
              <a:t>• Red + Blue working together</a:t>
            </a:r>
          </a:p>
          <a:p>
            <a:pPr>
              <a:spcAft>
                <a:spcPts val="400"/>
              </a:spcAft>
              <a:defRPr sz="1200">
                <a:solidFill>
                  <a:srgbClr val="444444"/>
                </a:solidFill>
                <a:latin typeface="Calibri"/>
              </a:defRPr>
            </a:pPr>
            <a:r>
              <a:t>• Continuous improvement cycle</a:t>
            </a:r>
          </a:p>
          <a:p>
            <a:pPr>
              <a:spcAft>
                <a:spcPts val="400"/>
              </a:spcAft>
              <a:defRPr sz="1200">
                <a:solidFill>
                  <a:srgbClr val="444444"/>
                </a:solidFill>
                <a:latin typeface="Calibri"/>
              </a:defRPr>
            </a:pPr>
            <a:r>
              <a:t>• Shared threat intelligence</a:t>
            </a:r>
          </a:p>
          <a:p>
            <a:pPr>
              <a:spcAft>
                <a:spcPts val="400"/>
              </a:spcAft>
              <a:defRPr sz="1200">
                <a:solidFill>
                  <a:srgbClr val="444444"/>
                </a:solidFill>
                <a:latin typeface="Calibri"/>
              </a:defRPr>
            </a:pPr>
            <a:r>
              <a:t>• Joint tabletop exercises</a:t>
            </a:r>
          </a:p>
          <a:p>
            <a:pPr>
              <a:spcAft>
                <a:spcPts val="400"/>
              </a:spcAft>
              <a:defRPr sz="1200">
                <a:solidFill>
                  <a:srgbClr val="444444"/>
                </a:solidFill>
                <a:latin typeface="Calibri"/>
              </a:defRPr>
            </a:pPr>
            <a:r>
              <a:t>• Attack simulation platforms:</a:t>
            </a:r>
            <a:br/>
            <a:r>
              <a:t>  AttackIQ, SafeBreach, Atomic</a:t>
            </a:r>
            <a:br/>
            <a:r>
              <a:t>  Red Team (open-source)</a:t>
            </a:r>
          </a:p>
          <a:p>
            <a:pPr>
              <a:spcAft>
                <a:spcPts val="400"/>
              </a:spcAft>
              <a:defRPr sz="1200">
                <a:solidFill>
                  <a:srgbClr val="444444"/>
                </a:solidFill>
                <a:latin typeface="Calibri"/>
              </a:defRPr>
            </a:pPr>
            <a:r>
              <a:t>• Measure detection coverage</a:t>
            </a:r>
            <a:br/>
            <a:r>
              <a:t>  against MITRE ATT&amp;CK</a:t>
            </a:r>
          </a:p>
          <a:p>
            <a:pPr>
              <a:spcAft>
                <a:spcPts val="400"/>
              </a:spcAft>
              <a:defRPr sz="1200">
                <a:solidFill>
                  <a:srgbClr val="444444"/>
                </a:solidFill>
                <a:latin typeface="Calibri"/>
              </a:defRPr>
            </a:pPr>
            <a:r>
              <a:t>• Goal: Maximize security posture</a:t>
            </a:r>
            <a:br/>
            <a:r>
              <a:t>  through collaboration</a:t>
            </a:r>
          </a:p>
        </p:txBody>
      </p:sp>
      <p:sp>
        <p:nvSpPr>
          <p:cNvPr id="15" name="Rounded Rectangle 14"/>
          <p:cNvSpPr/>
          <p:nvPr/>
        </p:nvSpPr>
        <p:spPr>
          <a:xfrm>
            <a:off x="457200" y="5943600"/>
            <a:ext cx="10972800" cy="50292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989320"/>
            <a:ext cx="10424160" cy="365760"/>
          </a:xfrm>
          <a:prstGeom prst="rect">
            <a:avLst/>
          </a:prstGeom>
          <a:noFill/>
        </p:spPr>
        <p:txBody>
          <a:bodyPr wrap="square">
            <a:spAutoFit/>
          </a:bodyPr>
          <a:lstStyle/>
          <a:p>
            <a:pPr algn="l">
              <a:defRPr sz="1100" b="0">
                <a:solidFill>
                  <a:srgbClr val="444444"/>
                </a:solidFill>
                <a:latin typeface="Calibri"/>
              </a:defRPr>
            </a:pPr>
            <a:r>
              <a:t>Industry: Major tech companies run continuous red team ops. Microsoft's red team found 20,000+ vulnerabilities in 2024. Google's Project Zero publicly discloses bugs after 90 days, pushing the entire industry to patch faster.</a:t>
            </a:r>
          </a:p>
        </p:txBody>
      </p:sp>
      <p:sp>
        <p:nvSpPr>
          <p:cNvPr id="17" name="Rectangle 16"/>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19" name="TextBox 18"/>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INDUSTRY CASE STUDIES</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Real-World Zero Trust Implementations</a:t>
            </a:r>
          </a:p>
        </p:txBody>
      </p:sp>
      <p:sp>
        <p:nvSpPr>
          <p:cNvPr id="6" name="Rounded Rectangle 5"/>
          <p:cNvSpPr/>
          <p:nvPr/>
        </p:nvSpPr>
        <p:spPr>
          <a:xfrm>
            <a:off x="457200" y="1645920"/>
            <a:ext cx="2651760" cy="3657600"/>
          </a:xfrm>
          <a:prstGeom prst="roundRect">
            <a:avLst/>
          </a:prstGeom>
          <a:solidFill>
            <a:srgbClr val="FFFF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2651760" cy="457200"/>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Google BeyondCorp</a:t>
            </a:r>
          </a:p>
        </p:txBody>
      </p:sp>
      <p:sp>
        <p:nvSpPr>
          <p:cNvPr id="8" name="TextBox 7"/>
          <p:cNvSpPr txBox="1"/>
          <p:nvPr/>
        </p:nvSpPr>
        <p:spPr>
          <a:xfrm>
            <a:off x="594360" y="2240280"/>
            <a:ext cx="2377440" cy="2926080"/>
          </a:xfrm>
          <a:prstGeom prst="rect">
            <a:avLst/>
          </a:prstGeom>
          <a:noFill/>
        </p:spPr>
        <p:txBody>
          <a:bodyPr wrap="square">
            <a:spAutoFit/>
          </a:bodyPr>
          <a:lstStyle/>
          <a:p>
            <a:pPr algn="l">
              <a:defRPr sz="1100" b="0">
                <a:solidFill>
                  <a:srgbClr val="444444"/>
                </a:solidFill>
                <a:latin typeface="Calibri"/>
              </a:defRPr>
            </a:pPr>
            <a:r>
              <a:t>Pioneered Zero Trust (2011-2019)</a:t>
            </a:r>
            <a:br/>
            <a:r>
              <a:t>All employees access via identity proxy</a:t>
            </a:r>
            <a:br/>
            <a:r>
              <a:t>No VPN - same experience office/remote</a:t>
            </a:r>
            <a:br/>
            <a:r>
              <a:t>Device trust levels (fully managed, corp-managed, unmanaged)</a:t>
            </a:r>
            <a:br/>
            <a:r>
              <a:t>Open-sourced as BeyondCorp Enterprise</a:t>
            </a:r>
          </a:p>
        </p:txBody>
      </p:sp>
      <p:sp>
        <p:nvSpPr>
          <p:cNvPr id="9" name="Rounded Rectangle 8"/>
          <p:cNvSpPr/>
          <p:nvPr/>
        </p:nvSpPr>
        <p:spPr>
          <a:xfrm>
            <a:off x="3337560" y="1645920"/>
            <a:ext cx="2651760" cy="3657600"/>
          </a:xfrm>
          <a:prstGeom prst="roundRect">
            <a:avLst/>
          </a:prstGeom>
          <a:solidFill>
            <a:srgbClr val="FFFFFF"/>
          </a:solidFill>
          <a:ln w="19050">
            <a:solidFill>
              <a:srgbClr val="00B2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645920"/>
            <a:ext cx="2651760" cy="457200"/>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Microsoft Zero Trust</a:t>
            </a:r>
          </a:p>
        </p:txBody>
      </p:sp>
      <p:sp>
        <p:nvSpPr>
          <p:cNvPr id="11" name="TextBox 10"/>
          <p:cNvSpPr txBox="1"/>
          <p:nvPr/>
        </p:nvSpPr>
        <p:spPr>
          <a:xfrm>
            <a:off x="3474720" y="2240280"/>
            <a:ext cx="2377440" cy="2926080"/>
          </a:xfrm>
          <a:prstGeom prst="rect">
            <a:avLst/>
          </a:prstGeom>
          <a:noFill/>
        </p:spPr>
        <p:txBody>
          <a:bodyPr wrap="square">
            <a:spAutoFit/>
          </a:bodyPr>
          <a:lstStyle/>
          <a:p>
            <a:pPr algn="l">
              <a:defRPr sz="1100" b="0">
                <a:solidFill>
                  <a:srgbClr val="444444"/>
                </a:solidFill>
                <a:latin typeface="Calibri"/>
              </a:defRPr>
            </a:pPr>
            <a:r>
              <a:t>Azure Conditional Access as policy engine</a:t>
            </a:r>
            <a:br/>
            <a:r>
              <a:t>Passkeys for 1B+ accounts (2024)</a:t>
            </a:r>
            <a:br/>
            <a:r>
              <a:t>Copilot for Security (AI-powered SOC)</a:t>
            </a:r>
            <a:br/>
            <a:r>
              <a:t>Mandatory MFA for all Azure admins (2024)</a:t>
            </a:r>
            <a:br/>
            <a:r>
              <a:t>Zero Trust deployed across 400K employees</a:t>
            </a:r>
          </a:p>
        </p:txBody>
      </p:sp>
      <p:sp>
        <p:nvSpPr>
          <p:cNvPr id="12" name="Rounded Rectangle 11"/>
          <p:cNvSpPr/>
          <p:nvPr/>
        </p:nvSpPr>
        <p:spPr>
          <a:xfrm>
            <a:off x="6217920" y="1645920"/>
            <a:ext cx="2651760" cy="365760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45920"/>
            <a:ext cx="2651760" cy="45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Netflix (Micro-segmentation)</a:t>
            </a:r>
          </a:p>
        </p:txBody>
      </p:sp>
      <p:sp>
        <p:nvSpPr>
          <p:cNvPr id="14" name="TextBox 13"/>
          <p:cNvSpPr txBox="1"/>
          <p:nvPr/>
        </p:nvSpPr>
        <p:spPr>
          <a:xfrm>
            <a:off x="6355080" y="2240280"/>
            <a:ext cx="2377440" cy="2926080"/>
          </a:xfrm>
          <a:prstGeom prst="rect">
            <a:avLst/>
          </a:prstGeom>
          <a:noFill/>
        </p:spPr>
        <p:txBody>
          <a:bodyPr wrap="square">
            <a:spAutoFit/>
          </a:bodyPr>
          <a:lstStyle/>
          <a:p>
            <a:pPr algn="l">
              <a:defRPr sz="1100" b="0">
                <a:solidFill>
                  <a:srgbClr val="444444"/>
                </a:solidFill>
                <a:latin typeface="Calibri"/>
              </a:defRPr>
            </a:pPr>
            <a:r>
              <a:t>Cilium eBPF for container networking</a:t>
            </a:r>
            <a:br/>
            <a:r>
              <a:t>SPIFFE/SPIRE for workload identity</a:t>
            </a:r>
            <a:br/>
            <a:r>
              <a:t>mTLS between ALL microservices</a:t>
            </a:r>
            <a:br/>
            <a:r>
              <a:t>Chaos engineering + security chaos</a:t>
            </a:r>
            <a:br/>
            <a:r>
              <a:t>Zero trust across 1000+ microservices</a:t>
            </a:r>
          </a:p>
        </p:txBody>
      </p:sp>
      <p:sp>
        <p:nvSpPr>
          <p:cNvPr id="15" name="Rounded Rectangle 14"/>
          <p:cNvSpPr/>
          <p:nvPr/>
        </p:nvSpPr>
        <p:spPr>
          <a:xfrm>
            <a:off x="9098280" y="1645920"/>
            <a:ext cx="2651760" cy="3657600"/>
          </a:xfrm>
          <a:prstGeom prst="roundRect">
            <a:avLst/>
          </a:prstGeom>
          <a:solidFill>
            <a:srgbClr val="FFFFFF"/>
          </a:solidFill>
          <a:ln w="19050">
            <a:solidFill>
              <a:srgbClr val="003B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98280" y="1645920"/>
            <a:ext cx="2651760" cy="45720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US Federal Government</a:t>
            </a:r>
          </a:p>
        </p:txBody>
      </p:sp>
      <p:sp>
        <p:nvSpPr>
          <p:cNvPr id="17" name="TextBox 16"/>
          <p:cNvSpPr txBox="1"/>
          <p:nvPr/>
        </p:nvSpPr>
        <p:spPr>
          <a:xfrm>
            <a:off x="9235440" y="2240280"/>
            <a:ext cx="2377440" cy="2926080"/>
          </a:xfrm>
          <a:prstGeom prst="rect">
            <a:avLst/>
          </a:prstGeom>
          <a:noFill/>
        </p:spPr>
        <p:txBody>
          <a:bodyPr wrap="square">
            <a:spAutoFit/>
          </a:bodyPr>
          <a:lstStyle/>
          <a:p>
            <a:pPr algn="l">
              <a:defRPr sz="1100" b="0">
                <a:solidFill>
                  <a:srgbClr val="444444"/>
                </a:solidFill>
                <a:latin typeface="Calibri"/>
              </a:defRPr>
            </a:pPr>
            <a:r>
              <a:t>Executive Order 14028 (May 2021)</a:t>
            </a:r>
            <a:br/>
            <a:r>
              <a:t>OMB M-22-09 Zero Trust Strategy</a:t>
            </a:r>
            <a:br/>
            <a:r>
              <a:t>CISA Zero Trust Maturity Model</a:t>
            </a:r>
            <a:br/>
            <a:r>
              <a:t>All agencies must reach Advanced by 2025</a:t>
            </a:r>
            <a:br/>
            <a:r>
              <a:t>NSA Zero Trust guidance for DoD</a:t>
            </a:r>
          </a:p>
        </p:txBody>
      </p:sp>
      <p:sp>
        <p:nvSpPr>
          <p:cNvPr id="18" name="Rounded Rectangle 17"/>
          <p:cNvSpPr/>
          <p:nvPr/>
        </p:nvSpPr>
        <p:spPr>
          <a:xfrm>
            <a:off x="457200" y="5486400"/>
            <a:ext cx="10972800" cy="91440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532120"/>
            <a:ext cx="10424160" cy="274320"/>
          </a:xfrm>
          <a:prstGeom prst="rect">
            <a:avLst/>
          </a:prstGeom>
          <a:noFill/>
        </p:spPr>
        <p:txBody>
          <a:bodyPr wrap="square">
            <a:spAutoFit/>
          </a:bodyPr>
          <a:lstStyle/>
          <a:p>
            <a:pPr algn="l">
              <a:defRPr sz="1400" b="1">
                <a:solidFill>
                  <a:srgbClr val="0076CE"/>
                </a:solidFill>
                <a:latin typeface="Calibri"/>
              </a:defRPr>
            </a:pPr>
            <a:r>
              <a:t>Industry Connect Insight for Faculty:</a:t>
            </a:r>
          </a:p>
        </p:txBody>
      </p:sp>
      <p:sp>
        <p:nvSpPr>
          <p:cNvPr id="20" name="TextBox 19"/>
          <p:cNvSpPr txBox="1"/>
          <p:nvPr/>
        </p:nvSpPr>
        <p:spPr>
          <a:xfrm>
            <a:off x="731520" y="5806440"/>
            <a:ext cx="10424160" cy="548640"/>
          </a:xfrm>
          <a:prstGeom prst="rect">
            <a:avLst/>
          </a:prstGeom>
          <a:noFill/>
        </p:spPr>
        <p:txBody>
          <a:bodyPr wrap="square">
            <a:spAutoFit/>
          </a:bodyPr>
          <a:lstStyle/>
          <a:p>
            <a:pPr algn="l">
              <a:defRPr sz="1100" b="0">
                <a:solidFill>
                  <a:srgbClr val="444444"/>
                </a:solidFill>
                <a:latin typeface="Calibri"/>
              </a:defRPr>
            </a:pPr>
            <a:r>
              <a:t>These companies hire cybersecurity graduates. Skills they look for: IAM (OIDC/OAuth), Kubernetes security, SIEM operations, cloud security (AWS/Azure/GCP), Python scripting for automation, understanding of MITRE ATT&amp;CK. Entry-level SOC analyst: $65-85K | Security engineer: $120-180K | CISO: $250-400K (US market 2025)</a:t>
            </a:r>
          </a:p>
        </p:txBody>
      </p:sp>
      <p:sp>
        <p:nvSpPr>
          <p:cNvPr id="21" name="Rectangle 20"/>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23" name="TextBox 22"/>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WHAT'S NEW &amp; CURRENT</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Cutting-Edge: What's New in 2024-2025</a:t>
            </a:r>
          </a:p>
        </p:txBody>
      </p:sp>
      <p:sp>
        <p:nvSpPr>
          <p:cNvPr id="6" name="Rounded Rectangle 5"/>
          <p:cNvSpPr/>
          <p:nvPr/>
        </p:nvSpPr>
        <p:spPr>
          <a:xfrm>
            <a:off x="457200" y="1645920"/>
            <a:ext cx="2651760" cy="3200400"/>
          </a:xfrm>
          <a:prstGeom prst="roundRect">
            <a:avLst/>
          </a:prstGeom>
          <a:solidFill>
            <a:srgbClr val="FFFF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2651760" cy="548640"/>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AI-Powered Security</a:t>
            </a:r>
            <a:br/>
            <a:r>
              <a:t>(SecAI)</a:t>
            </a:r>
          </a:p>
        </p:txBody>
      </p:sp>
      <p:sp>
        <p:nvSpPr>
          <p:cNvPr id="8" name="TextBox 7"/>
          <p:cNvSpPr txBox="1"/>
          <p:nvPr/>
        </p:nvSpPr>
        <p:spPr>
          <a:xfrm>
            <a:off x="594360" y="2331720"/>
            <a:ext cx="2377440" cy="2468880"/>
          </a:xfrm>
          <a:prstGeom prst="rect">
            <a:avLst/>
          </a:prstGeom>
          <a:noFill/>
        </p:spPr>
        <p:txBody>
          <a:bodyPr wrap="square">
            <a:spAutoFit/>
          </a:bodyPr>
          <a:lstStyle/>
          <a:p>
            <a:pPr algn="l">
              <a:defRPr sz="1050" b="0">
                <a:solidFill>
                  <a:srgbClr val="444444"/>
                </a:solidFill>
                <a:latin typeface="Calibri"/>
              </a:defRPr>
            </a:pPr>
            <a:r>
              <a:t>Microsoft Copilot for Security (GA Apr 2024)</a:t>
            </a:r>
            <a:br/>
            <a:r>
              <a:t>Google Gemini in Security Ops</a:t>
            </a:r>
            <a:br/>
            <a:r>
              <a:t>AI agents for automated threat hunting</a:t>
            </a:r>
            <a:br/>
            <a:r>
              <a:t>LLM-powered vulnerability detection</a:t>
            </a:r>
            <a:br/>
            <a:r>
              <a:t>AI-generated phishing (new threat!)</a:t>
            </a:r>
          </a:p>
        </p:txBody>
      </p:sp>
      <p:sp>
        <p:nvSpPr>
          <p:cNvPr id="9" name="Rounded Rectangle 8"/>
          <p:cNvSpPr/>
          <p:nvPr/>
        </p:nvSpPr>
        <p:spPr>
          <a:xfrm>
            <a:off x="3337560" y="1645920"/>
            <a:ext cx="2651760" cy="3200400"/>
          </a:xfrm>
          <a:prstGeom prst="roundRect">
            <a:avLst/>
          </a:prstGeom>
          <a:solidFill>
            <a:srgbClr val="FFFFFF"/>
          </a:solidFill>
          <a:ln w="19050">
            <a:solidFill>
              <a:srgbClr val="00B2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645920"/>
            <a:ext cx="2651760" cy="548640"/>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Post-Quantum</a:t>
            </a:r>
            <a:br/>
            <a:r>
              <a:t>Crypto (Live!)</a:t>
            </a:r>
          </a:p>
        </p:txBody>
      </p:sp>
      <p:sp>
        <p:nvSpPr>
          <p:cNvPr id="11" name="TextBox 10"/>
          <p:cNvSpPr txBox="1"/>
          <p:nvPr/>
        </p:nvSpPr>
        <p:spPr>
          <a:xfrm>
            <a:off x="3474720" y="2331720"/>
            <a:ext cx="2377440" cy="2468880"/>
          </a:xfrm>
          <a:prstGeom prst="rect">
            <a:avLst/>
          </a:prstGeom>
          <a:noFill/>
        </p:spPr>
        <p:txBody>
          <a:bodyPr wrap="square">
            <a:spAutoFit/>
          </a:bodyPr>
          <a:lstStyle/>
          <a:p>
            <a:pPr algn="l">
              <a:defRPr sz="1050" b="0">
                <a:solidFill>
                  <a:srgbClr val="444444"/>
                </a:solidFill>
                <a:latin typeface="Calibri"/>
              </a:defRPr>
            </a:pPr>
            <a:r>
              <a:t>NIST FIPS 203/204/205 finalized Aug 2024</a:t>
            </a:r>
            <a:br/>
            <a:r>
              <a:t>Chrome uses ML-KEM by default</a:t>
            </a:r>
            <a:br/>
            <a:r>
              <a:t>Signal, Apple iMessage PQC-ready</a:t>
            </a:r>
            <a:br/>
            <a:r>
              <a:t>NSA CNSA 2.0 mandates PQC by 2030</a:t>
            </a:r>
            <a:br/>
            <a:r>
              <a:t>Hybrid classical+PQC transition</a:t>
            </a:r>
          </a:p>
        </p:txBody>
      </p:sp>
      <p:sp>
        <p:nvSpPr>
          <p:cNvPr id="12" name="Rounded Rectangle 11"/>
          <p:cNvSpPr/>
          <p:nvPr/>
        </p:nvSpPr>
        <p:spPr>
          <a:xfrm>
            <a:off x="6217920" y="1645920"/>
            <a:ext cx="2651760" cy="320040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45920"/>
            <a:ext cx="2651760" cy="5486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SASE &amp; SSE</a:t>
            </a:r>
            <a:br/>
            <a:r>
              <a:t>Convergence</a:t>
            </a:r>
          </a:p>
        </p:txBody>
      </p:sp>
      <p:sp>
        <p:nvSpPr>
          <p:cNvPr id="14" name="TextBox 13"/>
          <p:cNvSpPr txBox="1"/>
          <p:nvPr/>
        </p:nvSpPr>
        <p:spPr>
          <a:xfrm>
            <a:off x="6355080" y="2331720"/>
            <a:ext cx="2377440" cy="2468880"/>
          </a:xfrm>
          <a:prstGeom prst="rect">
            <a:avLst/>
          </a:prstGeom>
          <a:noFill/>
        </p:spPr>
        <p:txBody>
          <a:bodyPr wrap="square">
            <a:spAutoFit/>
          </a:bodyPr>
          <a:lstStyle/>
          <a:p>
            <a:pPr algn="l">
              <a:defRPr sz="1050" b="0">
                <a:solidFill>
                  <a:srgbClr val="444444"/>
                </a:solidFill>
                <a:latin typeface="Calibri"/>
              </a:defRPr>
            </a:pPr>
            <a:r>
              <a:t>Secure Access Service Edge (SASE)</a:t>
            </a:r>
            <a:br/>
            <a:r>
              <a:t>Zscaler, Netskope, Palo Alto Prisma</a:t>
            </a:r>
            <a:br/>
            <a:r>
              <a:t>Replace VPN with Zero Trust Network Access</a:t>
            </a:r>
            <a:br/>
            <a:r>
              <a:t>Cloud-delivered security</a:t>
            </a:r>
            <a:br/>
            <a:r>
              <a:t>Gartner: 80% adoption by 2026</a:t>
            </a:r>
          </a:p>
        </p:txBody>
      </p:sp>
      <p:sp>
        <p:nvSpPr>
          <p:cNvPr id="15" name="Rounded Rectangle 14"/>
          <p:cNvSpPr/>
          <p:nvPr/>
        </p:nvSpPr>
        <p:spPr>
          <a:xfrm>
            <a:off x="9098280" y="1645920"/>
            <a:ext cx="2651760" cy="3200400"/>
          </a:xfrm>
          <a:prstGeom prst="roundRect">
            <a:avLst/>
          </a:prstGeom>
          <a:solidFill>
            <a:srgbClr val="FFFFFF"/>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98280" y="1645920"/>
            <a:ext cx="2651760" cy="5486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Identity Threat</a:t>
            </a:r>
            <a:br/>
            <a:r>
              <a:t>Detection (ITDR)</a:t>
            </a:r>
          </a:p>
        </p:txBody>
      </p:sp>
      <p:sp>
        <p:nvSpPr>
          <p:cNvPr id="17" name="TextBox 16"/>
          <p:cNvSpPr txBox="1"/>
          <p:nvPr/>
        </p:nvSpPr>
        <p:spPr>
          <a:xfrm>
            <a:off x="9235440" y="2331720"/>
            <a:ext cx="2377440" cy="2468880"/>
          </a:xfrm>
          <a:prstGeom prst="rect">
            <a:avLst/>
          </a:prstGeom>
          <a:noFill/>
        </p:spPr>
        <p:txBody>
          <a:bodyPr wrap="square">
            <a:spAutoFit/>
          </a:bodyPr>
          <a:lstStyle/>
          <a:p>
            <a:pPr algn="l">
              <a:defRPr sz="1050" b="0">
                <a:solidFill>
                  <a:srgbClr val="444444"/>
                </a:solidFill>
                <a:latin typeface="Calibri"/>
              </a:defRPr>
            </a:pPr>
            <a:r>
              <a:t>NEW category (Gartner 2023-2024)</a:t>
            </a:r>
            <a:br/>
            <a:r>
              <a:t>Detects identity-based attacks</a:t>
            </a:r>
            <a:br/>
            <a:r>
              <a:t>Okta, CrowdStrike, Microsoft ITDR</a:t>
            </a:r>
            <a:br/>
            <a:r>
              <a:t>Targets: MFA bombing, token theft</a:t>
            </a:r>
            <a:br/>
            <a:r>
              <a:t>Fastest-growing security segment</a:t>
            </a:r>
          </a:p>
        </p:txBody>
      </p:sp>
      <p:sp>
        <p:nvSpPr>
          <p:cNvPr id="18" name="TextBox 17"/>
          <p:cNvSpPr txBox="1"/>
          <p:nvPr/>
        </p:nvSpPr>
        <p:spPr>
          <a:xfrm>
            <a:off x="457200" y="5029200"/>
            <a:ext cx="10972800" cy="365760"/>
          </a:xfrm>
          <a:prstGeom prst="rect">
            <a:avLst/>
          </a:prstGeom>
          <a:noFill/>
        </p:spPr>
        <p:txBody>
          <a:bodyPr wrap="square">
            <a:spAutoFit/>
          </a:bodyPr>
          <a:lstStyle/>
          <a:p>
            <a:pPr algn="l">
              <a:defRPr sz="1400" b="1">
                <a:solidFill>
                  <a:srgbClr val="003B64"/>
                </a:solidFill>
                <a:latin typeface="Calibri"/>
              </a:defRPr>
            </a:pPr>
            <a:r>
              <a:t>More Emerging Trends Faculty Should Know:</a:t>
            </a:r>
          </a:p>
        </p:txBody>
      </p:sp>
      <p:sp>
        <p:nvSpPr>
          <p:cNvPr id="19" name="TextBox 18"/>
          <p:cNvSpPr txBox="1"/>
          <p:nvPr/>
        </p:nvSpPr>
        <p:spPr>
          <a:xfrm>
            <a:off x="457200" y="5394960"/>
            <a:ext cx="10972800" cy="1097280"/>
          </a:xfrm>
          <a:prstGeom prst="rect">
            <a:avLst/>
          </a:prstGeom>
          <a:noFill/>
        </p:spPr>
        <p:txBody>
          <a:bodyPr wrap="square">
            <a:spAutoFit/>
          </a:bodyPr>
          <a:lstStyle/>
          <a:p>
            <a:pPr>
              <a:spcAft>
                <a:spcPts val="300"/>
              </a:spcAft>
              <a:defRPr sz="1100">
                <a:solidFill>
                  <a:srgbClr val="444444"/>
                </a:solidFill>
                <a:latin typeface="Calibri"/>
              </a:defRPr>
            </a:pPr>
            <a:r>
              <a:t>⭐ eBPF Revolution: Cilium, Falco, Tetragon - kernel-level security observability without kernel modules (Linux Foundation/CNCF)</a:t>
            </a:r>
          </a:p>
          <a:p>
            <a:pPr>
              <a:spcAft>
                <a:spcPts val="300"/>
              </a:spcAft>
              <a:defRPr sz="1100">
                <a:solidFill>
                  <a:srgbClr val="444444"/>
                </a:solidFill>
                <a:latin typeface="Calibri"/>
              </a:defRPr>
            </a:pPr>
            <a:r>
              <a:t>⭐ SBOM Mandate: Software Bill of Materials now required by US EO 14028 - CycloneDX, SPDX standards for supply chain security</a:t>
            </a:r>
          </a:p>
          <a:p>
            <a:pPr>
              <a:spcAft>
                <a:spcPts val="300"/>
              </a:spcAft>
              <a:defRPr sz="1100">
                <a:solidFill>
                  <a:srgbClr val="444444"/>
                </a:solidFill>
                <a:latin typeface="Calibri"/>
              </a:defRPr>
            </a:pPr>
            <a:r>
              <a:t>⭐ Passkeys Everywhere: Apple, Google, Microsoft all-in on FIDO2 passkeys - passwords becoming obsolete for consumers</a:t>
            </a:r>
          </a:p>
          <a:p>
            <a:pPr>
              <a:spcAft>
                <a:spcPts val="300"/>
              </a:spcAft>
              <a:defRPr sz="1100">
                <a:solidFill>
                  <a:srgbClr val="444444"/>
                </a:solidFill>
                <a:latin typeface="Calibri"/>
              </a:defRPr>
            </a:pPr>
            <a:r>
              <a:t>⭐ DevSecOps + AI: AI-powered SAST/DAST (Snyk, Semgrep, GitHub Copilot Autofix) - shift-left security with AI assistance</a:t>
            </a:r>
          </a:p>
        </p:txBody>
      </p:sp>
      <p:sp>
        <p:nvSpPr>
          <p:cNvPr id="20" name="Rectangle 19"/>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22" name="TextBox 21"/>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HANDS-ON LAB</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Hands-On Lab: Building a Zero Trust Environment</a:t>
            </a:r>
          </a:p>
        </p:txBody>
      </p:sp>
      <p:sp>
        <p:nvSpPr>
          <p:cNvPr id="6" name="TextBox 5"/>
          <p:cNvSpPr txBox="1"/>
          <p:nvPr/>
        </p:nvSpPr>
        <p:spPr>
          <a:xfrm>
            <a:off x="457200" y="1554480"/>
            <a:ext cx="10972800" cy="365760"/>
          </a:xfrm>
          <a:prstGeom prst="rect">
            <a:avLst/>
          </a:prstGeom>
          <a:noFill/>
        </p:spPr>
        <p:txBody>
          <a:bodyPr wrap="square">
            <a:spAutoFit/>
          </a:bodyPr>
          <a:lstStyle/>
          <a:p>
            <a:pPr algn="l">
              <a:defRPr sz="1800" b="1">
                <a:solidFill>
                  <a:srgbClr val="0076CE"/>
                </a:solidFill>
                <a:latin typeface="Calibri"/>
              </a:defRPr>
            </a:pPr>
            <a:r>
              <a:t>Lab Architecture Overview</a:t>
            </a:r>
          </a:p>
        </p:txBody>
      </p:sp>
      <p:sp>
        <p:nvSpPr>
          <p:cNvPr id="7" name="Rounded Rectangle 6"/>
          <p:cNvSpPr/>
          <p:nvPr/>
        </p:nvSpPr>
        <p:spPr>
          <a:xfrm>
            <a:off x="457200" y="2103120"/>
            <a:ext cx="2377440" cy="1828800"/>
          </a:xfrm>
          <a:prstGeom prst="roundRect">
            <a:avLst/>
          </a:prstGeom>
          <a:solidFill>
            <a:srgbClr val="FFFF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103120"/>
            <a:ext cx="2377440" cy="548640"/>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Keycloak</a:t>
            </a:r>
            <a:br/>
            <a:r>
              <a:t>(Identity Provider)</a:t>
            </a:r>
          </a:p>
        </p:txBody>
      </p:sp>
      <p:sp>
        <p:nvSpPr>
          <p:cNvPr id="9" name="TextBox 8"/>
          <p:cNvSpPr txBox="1"/>
          <p:nvPr/>
        </p:nvSpPr>
        <p:spPr>
          <a:xfrm>
            <a:off x="548640" y="2743200"/>
            <a:ext cx="2194560" cy="1097280"/>
          </a:xfrm>
          <a:prstGeom prst="rect">
            <a:avLst/>
          </a:prstGeom>
          <a:noFill/>
        </p:spPr>
        <p:txBody>
          <a:bodyPr wrap="square">
            <a:spAutoFit/>
          </a:bodyPr>
          <a:lstStyle/>
          <a:p>
            <a:pPr algn="ctr">
              <a:defRPr sz="1000" b="0">
                <a:solidFill>
                  <a:srgbClr val="444444"/>
                </a:solidFill>
                <a:latin typeface="Calibri"/>
              </a:defRPr>
            </a:pPr>
            <a:r>
              <a:t>OIDC/OAuth2 authentication</a:t>
            </a:r>
            <a:br/>
            <a:r>
              <a:t>MFA, User Federation</a:t>
            </a:r>
            <a:br/>
            <a:r>
              <a:t>Role &amp; Group management</a:t>
            </a:r>
          </a:p>
        </p:txBody>
      </p:sp>
      <p:sp>
        <p:nvSpPr>
          <p:cNvPr id="10" name="Rounded Rectangle 9"/>
          <p:cNvSpPr/>
          <p:nvPr/>
        </p:nvSpPr>
        <p:spPr>
          <a:xfrm>
            <a:off x="3108960" y="2103120"/>
            <a:ext cx="2377440" cy="1828800"/>
          </a:xfrm>
          <a:prstGeom prst="roundRect">
            <a:avLst/>
          </a:prstGeom>
          <a:solidFill>
            <a:srgbClr val="FFFFFF"/>
          </a:solidFill>
          <a:ln w="19050">
            <a:solidFill>
              <a:srgbClr val="00B2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2103120"/>
            <a:ext cx="2377440" cy="548640"/>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OPA / Rego</a:t>
            </a:r>
            <a:br/>
            <a:r>
              <a:t>(Policy Engine)</a:t>
            </a:r>
          </a:p>
        </p:txBody>
      </p:sp>
      <p:sp>
        <p:nvSpPr>
          <p:cNvPr id="12" name="TextBox 11"/>
          <p:cNvSpPr txBox="1"/>
          <p:nvPr/>
        </p:nvSpPr>
        <p:spPr>
          <a:xfrm>
            <a:off x="3200400" y="2743200"/>
            <a:ext cx="2194560" cy="1097280"/>
          </a:xfrm>
          <a:prstGeom prst="rect">
            <a:avLst/>
          </a:prstGeom>
          <a:noFill/>
        </p:spPr>
        <p:txBody>
          <a:bodyPr wrap="square">
            <a:spAutoFit/>
          </a:bodyPr>
          <a:lstStyle/>
          <a:p>
            <a:pPr algn="ctr">
              <a:defRPr sz="1000" b="0">
                <a:solidFill>
                  <a:srgbClr val="444444"/>
                </a:solidFill>
                <a:latin typeface="Calibri"/>
              </a:defRPr>
            </a:pPr>
            <a:r>
              <a:t>Attribute-based policies</a:t>
            </a:r>
            <a:br/>
            <a:r>
              <a:t>Real-time access decisions</a:t>
            </a:r>
            <a:br/>
            <a:r>
              <a:t>Policy as code</a:t>
            </a:r>
          </a:p>
        </p:txBody>
      </p:sp>
      <p:sp>
        <p:nvSpPr>
          <p:cNvPr id="13" name="Rounded Rectangle 12"/>
          <p:cNvSpPr/>
          <p:nvPr/>
        </p:nvSpPr>
        <p:spPr>
          <a:xfrm>
            <a:off x="5760720" y="2103120"/>
            <a:ext cx="2377440" cy="1828800"/>
          </a:xfrm>
          <a:prstGeom prst="roundRect">
            <a:avLst/>
          </a:prstGeom>
          <a:solidFill>
            <a:srgbClr val="FFFFFF"/>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60720" y="2103120"/>
            <a:ext cx="2377440" cy="54864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Docker Networks</a:t>
            </a:r>
            <a:br/>
            <a:r>
              <a:t>(Micro-segmentation)</a:t>
            </a:r>
          </a:p>
        </p:txBody>
      </p:sp>
      <p:sp>
        <p:nvSpPr>
          <p:cNvPr id="15" name="TextBox 14"/>
          <p:cNvSpPr txBox="1"/>
          <p:nvPr/>
        </p:nvSpPr>
        <p:spPr>
          <a:xfrm>
            <a:off x="5852160" y="2743200"/>
            <a:ext cx="2194560" cy="1097280"/>
          </a:xfrm>
          <a:prstGeom prst="rect">
            <a:avLst/>
          </a:prstGeom>
          <a:noFill/>
        </p:spPr>
        <p:txBody>
          <a:bodyPr wrap="square">
            <a:spAutoFit/>
          </a:bodyPr>
          <a:lstStyle/>
          <a:p>
            <a:pPr algn="ctr">
              <a:defRPr sz="1000" b="0">
                <a:solidFill>
                  <a:srgbClr val="444444"/>
                </a:solidFill>
                <a:latin typeface="Calibri"/>
              </a:defRPr>
            </a:pPr>
            <a:r>
              <a:t>Isolated network segments</a:t>
            </a:r>
            <a:br/>
            <a:r>
              <a:t>Inter-service firewall rules</a:t>
            </a:r>
            <a:br/>
            <a:r>
              <a:t>Traffic monitoring</a:t>
            </a:r>
          </a:p>
        </p:txBody>
      </p:sp>
      <p:sp>
        <p:nvSpPr>
          <p:cNvPr id="16" name="Rounded Rectangle 15"/>
          <p:cNvSpPr/>
          <p:nvPr/>
        </p:nvSpPr>
        <p:spPr>
          <a:xfrm>
            <a:off x="8412480" y="2103120"/>
            <a:ext cx="2377440" cy="1828800"/>
          </a:xfrm>
          <a:prstGeom prst="roundRect">
            <a:avLst/>
          </a:prstGeom>
          <a:solidFill>
            <a:srgbClr val="FFFFFF"/>
          </a:solidFill>
          <a:ln w="19050">
            <a:solidFill>
              <a:srgbClr val="003B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0" y="2103120"/>
            <a:ext cx="2377440" cy="5486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Wazuh SIEM</a:t>
            </a:r>
            <a:br/>
            <a:r>
              <a:t>(Security Monitoring)</a:t>
            </a:r>
          </a:p>
        </p:txBody>
      </p:sp>
      <p:sp>
        <p:nvSpPr>
          <p:cNvPr id="18" name="TextBox 17"/>
          <p:cNvSpPr txBox="1"/>
          <p:nvPr/>
        </p:nvSpPr>
        <p:spPr>
          <a:xfrm>
            <a:off x="8503920" y="2743200"/>
            <a:ext cx="2194560" cy="1097280"/>
          </a:xfrm>
          <a:prstGeom prst="rect">
            <a:avLst/>
          </a:prstGeom>
          <a:noFill/>
        </p:spPr>
        <p:txBody>
          <a:bodyPr wrap="square">
            <a:spAutoFit/>
          </a:bodyPr>
          <a:lstStyle/>
          <a:p>
            <a:pPr algn="ctr">
              <a:defRPr sz="1000" b="0">
                <a:solidFill>
                  <a:srgbClr val="444444"/>
                </a:solidFill>
                <a:latin typeface="Calibri"/>
              </a:defRPr>
            </a:pPr>
            <a:r>
              <a:t>Log collection &amp; analysis</a:t>
            </a:r>
            <a:br/>
            <a:r>
              <a:t>Intrusion detection</a:t>
            </a:r>
            <a:br/>
            <a:r>
              <a:t>Compliance monitoring</a:t>
            </a:r>
          </a:p>
        </p:txBody>
      </p:sp>
      <p:sp>
        <p:nvSpPr>
          <p:cNvPr id="19" name="TextBox 18"/>
          <p:cNvSpPr txBox="1"/>
          <p:nvPr/>
        </p:nvSpPr>
        <p:spPr>
          <a:xfrm>
            <a:off x="457200" y="4114800"/>
            <a:ext cx="10972800" cy="365760"/>
          </a:xfrm>
          <a:prstGeom prst="rect">
            <a:avLst/>
          </a:prstGeom>
          <a:noFill/>
        </p:spPr>
        <p:txBody>
          <a:bodyPr wrap="square">
            <a:spAutoFit/>
          </a:bodyPr>
          <a:lstStyle/>
          <a:p>
            <a:pPr algn="l">
              <a:defRPr sz="1600" b="1">
                <a:solidFill>
                  <a:srgbClr val="0076CE"/>
                </a:solidFill>
                <a:latin typeface="Calibri"/>
              </a:defRPr>
            </a:pPr>
            <a:r>
              <a:t>Lab Exercises (120 Minutes Total)</a:t>
            </a:r>
          </a:p>
        </p:txBody>
      </p:sp>
      <p:sp>
        <p:nvSpPr>
          <p:cNvPr id="20" name="Rounded Rectangle 19"/>
          <p:cNvSpPr/>
          <p:nvPr/>
        </p:nvSpPr>
        <p:spPr>
          <a:xfrm>
            <a:off x="274320" y="4572000"/>
            <a:ext cx="2194560" cy="164592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617720"/>
            <a:ext cx="2011680" cy="274320"/>
          </a:xfrm>
          <a:prstGeom prst="rect">
            <a:avLst/>
          </a:prstGeom>
          <a:noFill/>
        </p:spPr>
        <p:txBody>
          <a:bodyPr wrap="square">
            <a:spAutoFit/>
          </a:bodyPr>
          <a:lstStyle/>
          <a:p>
            <a:pPr algn="ctr">
              <a:defRPr sz="1000" b="1">
                <a:solidFill>
                  <a:srgbClr val="0076CE"/>
                </a:solidFill>
                <a:latin typeface="Calibri"/>
              </a:defRPr>
            </a:pPr>
            <a:r>
              <a:t>Lab 1 (20 min)</a:t>
            </a:r>
          </a:p>
        </p:txBody>
      </p:sp>
      <p:sp>
        <p:nvSpPr>
          <p:cNvPr id="22" name="TextBox 21"/>
          <p:cNvSpPr txBox="1"/>
          <p:nvPr/>
        </p:nvSpPr>
        <p:spPr>
          <a:xfrm>
            <a:off x="365760" y="4846320"/>
            <a:ext cx="2011680" cy="274320"/>
          </a:xfrm>
          <a:prstGeom prst="rect">
            <a:avLst/>
          </a:prstGeom>
          <a:noFill/>
        </p:spPr>
        <p:txBody>
          <a:bodyPr wrap="square">
            <a:spAutoFit/>
          </a:bodyPr>
          <a:lstStyle/>
          <a:p>
            <a:pPr algn="ctr">
              <a:defRPr sz="1300" b="1">
                <a:solidFill>
                  <a:srgbClr val="003B64"/>
                </a:solidFill>
                <a:latin typeface="Calibri"/>
              </a:defRPr>
            </a:pPr>
            <a:r>
              <a:t>OIDC Setup</a:t>
            </a:r>
          </a:p>
        </p:txBody>
      </p:sp>
      <p:sp>
        <p:nvSpPr>
          <p:cNvPr id="23" name="TextBox 22"/>
          <p:cNvSpPr txBox="1"/>
          <p:nvPr/>
        </p:nvSpPr>
        <p:spPr>
          <a:xfrm>
            <a:off x="365760" y="5166360"/>
            <a:ext cx="2011680" cy="914400"/>
          </a:xfrm>
          <a:prstGeom prst="rect">
            <a:avLst/>
          </a:prstGeom>
          <a:noFill/>
        </p:spPr>
        <p:txBody>
          <a:bodyPr wrap="square">
            <a:spAutoFit/>
          </a:bodyPr>
          <a:lstStyle/>
          <a:p>
            <a:pPr algn="ctr">
              <a:defRPr sz="1000" b="0">
                <a:solidFill>
                  <a:srgbClr val="444444"/>
                </a:solidFill>
                <a:latin typeface="Calibri"/>
              </a:defRPr>
            </a:pPr>
            <a:r>
              <a:t>Configure Keycloak IdP</a:t>
            </a:r>
            <a:br/>
            <a:r>
              <a:t>Create realm, clients</a:t>
            </a:r>
            <a:br/>
            <a:r>
              <a:t>Test OIDC flow</a:t>
            </a:r>
          </a:p>
        </p:txBody>
      </p:sp>
      <p:sp>
        <p:nvSpPr>
          <p:cNvPr id="24" name="Rounded Rectangle 23"/>
          <p:cNvSpPr/>
          <p:nvPr/>
        </p:nvSpPr>
        <p:spPr>
          <a:xfrm>
            <a:off x="2606040" y="4572000"/>
            <a:ext cx="2194560" cy="164592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97480" y="4617720"/>
            <a:ext cx="2011680" cy="274320"/>
          </a:xfrm>
          <a:prstGeom prst="rect">
            <a:avLst/>
          </a:prstGeom>
          <a:noFill/>
        </p:spPr>
        <p:txBody>
          <a:bodyPr wrap="square">
            <a:spAutoFit/>
          </a:bodyPr>
          <a:lstStyle/>
          <a:p>
            <a:pPr algn="ctr">
              <a:defRPr sz="1000" b="1">
                <a:solidFill>
                  <a:srgbClr val="0076CE"/>
                </a:solidFill>
                <a:latin typeface="Calibri"/>
              </a:defRPr>
            </a:pPr>
            <a:r>
              <a:t>Lab 2 (20 min)</a:t>
            </a:r>
          </a:p>
        </p:txBody>
      </p:sp>
      <p:sp>
        <p:nvSpPr>
          <p:cNvPr id="26" name="TextBox 25"/>
          <p:cNvSpPr txBox="1"/>
          <p:nvPr/>
        </p:nvSpPr>
        <p:spPr>
          <a:xfrm>
            <a:off x="2697480" y="4846320"/>
            <a:ext cx="2011680" cy="274320"/>
          </a:xfrm>
          <a:prstGeom prst="rect">
            <a:avLst/>
          </a:prstGeom>
          <a:noFill/>
        </p:spPr>
        <p:txBody>
          <a:bodyPr wrap="square">
            <a:spAutoFit/>
          </a:bodyPr>
          <a:lstStyle/>
          <a:p>
            <a:pPr algn="ctr">
              <a:defRPr sz="1300" b="1">
                <a:solidFill>
                  <a:srgbClr val="003B64"/>
                </a:solidFill>
                <a:latin typeface="Calibri"/>
              </a:defRPr>
            </a:pPr>
            <a:r>
              <a:t>Policy Engine</a:t>
            </a:r>
          </a:p>
        </p:txBody>
      </p:sp>
      <p:sp>
        <p:nvSpPr>
          <p:cNvPr id="27" name="TextBox 26"/>
          <p:cNvSpPr txBox="1"/>
          <p:nvPr/>
        </p:nvSpPr>
        <p:spPr>
          <a:xfrm>
            <a:off x="2697480" y="5166360"/>
            <a:ext cx="2011680" cy="914400"/>
          </a:xfrm>
          <a:prstGeom prst="rect">
            <a:avLst/>
          </a:prstGeom>
          <a:noFill/>
        </p:spPr>
        <p:txBody>
          <a:bodyPr wrap="square">
            <a:spAutoFit/>
          </a:bodyPr>
          <a:lstStyle/>
          <a:p>
            <a:pPr algn="ctr">
              <a:defRPr sz="1000" b="0">
                <a:solidFill>
                  <a:srgbClr val="444444"/>
                </a:solidFill>
                <a:latin typeface="Calibri"/>
              </a:defRPr>
            </a:pPr>
            <a:r>
              <a:t>Write OPA/Rego policies</a:t>
            </a:r>
            <a:br/>
            <a:r>
              <a:t>ABAC implementation</a:t>
            </a:r>
            <a:br/>
            <a:r>
              <a:t>Policy testing</a:t>
            </a:r>
          </a:p>
        </p:txBody>
      </p:sp>
      <p:sp>
        <p:nvSpPr>
          <p:cNvPr id="28" name="Rounded Rectangle 27"/>
          <p:cNvSpPr/>
          <p:nvPr/>
        </p:nvSpPr>
        <p:spPr>
          <a:xfrm>
            <a:off x="4937760" y="4572000"/>
            <a:ext cx="2194560" cy="164592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0" y="4617720"/>
            <a:ext cx="2011680" cy="274320"/>
          </a:xfrm>
          <a:prstGeom prst="rect">
            <a:avLst/>
          </a:prstGeom>
          <a:noFill/>
        </p:spPr>
        <p:txBody>
          <a:bodyPr wrap="square">
            <a:spAutoFit/>
          </a:bodyPr>
          <a:lstStyle/>
          <a:p>
            <a:pPr algn="ctr">
              <a:defRPr sz="1000" b="1">
                <a:solidFill>
                  <a:srgbClr val="0076CE"/>
                </a:solidFill>
                <a:latin typeface="Calibri"/>
              </a:defRPr>
            </a:pPr>
            <a:r>
              <a:t>Lab 3 (20 min)</a:t>
            </a:r>
          </a:p>
        </p:txBody>
      </p:sp>
      <p:sp>
        <p:nvSpPr>
          <p:cNvPr id="30" name="TextBox 29"/>
          <p:cNvSpPr txBox="1"/>
          <p:nvPr/>
        </p:nvSpPr>
        <p:spPr>
          <a:xfrm>
            <a:off x="5029200" y="4846320"/>
            <a:ext cx="2011680" cy="274320"/>
          </a:xfrm>
          <a:prstGeom prst="rect">
            <a:avLst/>
          </a:prstGeom>
          <a:noFill/>
        </p:spPr>
        <p:txBody>
          <a:bodyPr wrap="square">
            <a:spAutoFit/>
          </a:bodyPr>
          <a:lstStyle/>
          <a:p>
            <a:pPr algn="ctr">
              <a:defRPr sz="1300" b="1">
                <a:solidFill>
                  <a:srgbClr val="003B64"/>
                </a:solidFill>
                <a:latin typeface="Calibri"/>
              </a:defRPr>
            </a:pPr>
            <a:r>
              <a:t>Segmentation</a:t>
            </a:r>
          </a:p>
        </p:txBody>
      </p:sp>
      <p:sp>
        <p:nvSpPr>
          <p:cNvPr id="31" name="TextBox 30"/>
          <p:cNvSpPr txBox="1"/>
          <p:nvPr/>
        </p:nvSpPr>
        <p:spPr>
          <a:xfrm>
            <a:off x="5029200" y="5166360"/>
            <a:ext cx="2011680" cy="914400"/>
          </a:xfrm>
          <a:prstGeom prst="rect">
            <a:avLst/>
          </a:prstGeom>
          <a:noFill/>
        </p:spPr>
        <p:txBody>
          <a:bodyPr wrap="square">
            <a:spAutoFit/>
          </a:bodyPr>
          <a:lstStyle/>
          <a:p>
            <a:pPr algn="ctr">
              <a:defRPr sz="1000" b="0">
                <a:solidFill>
                  <a:srgbClr val="444444"/>
                </a:solidFill>
                <a:latin typeface="Calibri"/>
              </a:defRPr>
            </a:pPr>
            <a:r>
              <a:t>Docker network isolation</a:t>
            </a:r>
            <a:br/>
            <a:r>
              <a:t>Firewall rules</a:t>
            </a:r>
            <a:br/>
            <a:r>
              <a:t>Traffic verification</a:t>
            </a:r>
          </a:p>
        </p:txBody>
      </p:sp>
      <p:sp>
        <p:nvSpPr>
          <p:cNvPr id="32" name="Rounded Rectangle 31"/>
          <p:cNvSpPr/>
          <p:nvPr/>
        </p:nvSpPr>
        <p:spPr>
          <a:xfrm>
            <a:off x="7269480" y="4572000"/>
            <a:ext cx="2194560" cy="164592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60920" y="4617720"/>
            <a:ext cx="2011680" cy="274320"/>
          </a:xfrm>
          <a:prstGeom prst="rect">
            <a:avLst/>
          </a:prstGeom>
          <a:noFill/>
        </p:spPr>
        <p:txBody>
          <a:bodyPr wrap="square">
            <a:spAutoFit/>
          </a:bodyPr>
          <a:lstStyle/>
          <a:p>
            <a:pPr algn="ctr">
              <a:defRPr sz="1000" b="1">
                <a:solidFill>
                  <a:srgbClr val="0076CE"/>
                </a:solidFill>
                <a:latin typeface="Calibri"/>
              </a:defRPr>
            </a:pPr>
            <a:r>
              <a:t>Lab 4 (20 min)</a:t>
            </a:r>
          </a:p>
        </p:txBody>
      </p:sp>
      <p:sp>
        <p:nvSpPr>
          <p:cNvPr id="34" name="TextBox 33"/>
          <p:cNvSpPr txBox="1"/>
          <p:nvPr/>
        </p:nvSpPr>
        <p:spPr>
          <a:xfrm>
            <a:off x="7360920" y="4846320"/>
            <a:ext cx="2011680" cy="274320"/>
          </a:xfrm>
          <a:prstGeom prst="rect">
            <a:avLst/>
          </a:prstGeom>
          <a:noFill/>
        </p:spPr>
        <p:txBody>
          <a:bodyPr wrap="square">
            <a:spAutoFit/>
          </a:bodyPr>
          <a:lstStyle/>
          <a:p>
            <a:pPr algn="ctr">
              <a:defRPr sz="1300" b="1">
                <a:solidFill>
                  <a:srgbClr val="003B64"/>
                </a:solidFill>
                <a:latin typeface="Calibri"/>
              </a:defRPr>
            </a:pPr>
            <a:r>
              <a:t>SIEM Setup</a:t>
            </a:r>
          </a:p>
        </p:txBody>
      </p:sp>
      <p:sp>
        <p:nvSpPr>
          <p:cNvPr id="35" name="TextBox 34"/>
          <p:cNvSpPr txBox="1"/>
          <p:nvPr/>
        </p:nvSpPr>
        <p:spPr>
          <a:xfrm>
            <a:off x="7360920" y="5166360"/>
            <a:ext cx="2011680" cy="914400"/>
          </a:xfrm>
          <a:prstGeom prst="rect">
            <a:avLst/>
          </a:prstGeom>
          <a:noFill/>
        </p:spPr>
        <p:txBody>
          <a:bodyPr wrap="square">
            <a:spAutoFit/>
          </a:bodyPr>
          <a:lstStyle/>
          <a:p>
            <a:pPr algn="ctr">
              <a:defRPr sz="1000" b="0">
                <a:solidFill>
                  <a:srgbClr val="444444"/>
                </a:solidFill>
                <a:latin typeface="Calibri"/>
              </a:defRPr>
            </a:pPr>
            <a:r>
              <a:t>Deploy Wazuh SIEM</a:t>
            </a:r>
            <a:br/>
            <a:r>
              <a:t>Create detection rules</a:t>
            </a:r>
            <a:br/>
            <a:r>
              <a:t>Alert configuration</a:t>
            </a:r>
          </a:p>
        </p:txBody>
      </p:sp>
      <p:sp>
        <p:nvSpPr>
          <p:cNvPr id="36" name="Rounded Rectangle 35"/>
          <p:cNvSpPr/>
          <p:nvPr/>
        </p:nvSpPr>
        <p:spPr>
          <a:xfrm>
            <a:off x="9601200" y="4572000"/>
            <a:ext cx="2194560" cy="164592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92640" y="4617720"/>
            <a:ext cx="2011680" cy="274320"/>
          </a:xfrm>
          <a:prstGeom prst="rect">
            <a:avLst/>
          </a:prstGeom>
          <a:noFill/>
        </p:spPr>
        <p:txBody>
          <a:bodyPr wrap="square">
            <a:spAutoFit/>
          </a:bodyPr>
          <a:lstStyle/>
          <a:p>
            <a:pPr algn="ctr">
              <a:defRPr sz="1000" b="1">
                <a:solidFill>
                  <a:srgbClr val="0076CE"/>
                </a:solidFill>
                <a:latin typeface="Calibri"/>
              </a:defRPr>
            </a:pPr>
            <a:r>
              <a:t>Lab 5 (20 min)</a:t>
            </a:r>
          </a:p>
        </p:txBody>
      </p:sp>
      <p:sp>
        <p:nvSpPr>
          <p:cNvPr id="38" name="TextBox 37"/>
          <p:cNvSpPr txBox="1"/>
          <p:nvPr/>
        </p:nvSpPr>
        <p:spPr>
          <a:xfrm>
            <a:off x="9692640" y="4846320"/>
            <a:ext cx="2011680" cy="274320"/>
          </a:xfrm>
          <a:prstGeom prst="rect">
            <a:avLst/>
          </a:prstGeom>
          <a:noFill/>
        </p:spPr>
        <p:txBody>
          <a:bodyPr wrap="square">
            <a:spAutoFit/>
          </a:bodyPr>
          <a:lstStyle/>
          <a:p>
            <a:pPr algn="ctr">
              <a:defRPr sz="1300" b="1">
                <a:solidFill>
                  <a:srgbClr val="003B64"/>
                </a:solidFill>
                <a:latin typeface="Calibri"/>
              </a:defRPr>
            </a:pPr>
            <a:r>
              <a:t>Red/Blue Team</a:t>
            </a:r>
          </a:p>
        </p:txBody>
      </p:sp>
      <p:sp>
        <p:nvSpPr>
          <p:cNvPr id="39" name="TextBox 38"/>
          <p:cNvSpPr txBox="1"/>
          <p:nvPr/>
        </p:nvSpPr>
        <p:spPr>
          <a:xfrm>
            <a:off x="9692640" y="5166360"/>
            <a:ext cx="2011680" cy="914400"/>
          </a:xfrm>
          <a:prstGeom prst="rect">
            <a:avLst/>
          </a:prstGeom>
          <a:noFill/>
        </p:spPr>
        <p:txBody>
          <a:bodyPr wrap="square">
            <a:spAutoFit/>
          </a:bodyPr>
          <a:lstStyle/>
          <a:p>
            <a:pPr algn="ctr">
              <a:defRPr sz="1000" b="0">
                <a:solidFill>
                  <a:srgbClr val="444444"/>
                </a:solidFill>
                <a:latin typeface="Calibri"/>
              </a:defRPr>
            </a:pPr>
            <a:r>
              <a:t>Attack simulation</a:t>
            </a:r>
            <a:br/>
            <a:r>
              <a:t>Detection &amp; response</a:t>
            </a:r>
            <a:br/>
            <a:r>
              <a:t>Incident analysis</a:t>
            </a:r>
          </a:p>
        </p:txBody>
      </p:sp>
      <p:sp>
        <p:nvSpPr>
          <p:cNvPr id="40" name="Rectangle 39"/>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42" name="TextBox 41"/>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7432"/>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743200" cy="320040"/>
          </a:xfrm>
          <a:prstGeom prst="round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SUMMARY</a:t>
            </a:r>
          </a:p>
        </p:txBody>
      </p:sp>
      <p:sp>
        <p:nvSpPr>
          <p:cNvPr id="5" name="TextBox 4"/>
          <p:cNvSpPr txBox="1"/>
          <p:nvPr/>
        </p:nvSpPr>
        <p:spPr>
          <a:xfrm>
            <a:off x="457200" y="822960"/>
            <a:ext cx="10972800" cy="640080"/>
          </a:xfrm>
          <a:prstGeom prst="rect">
            <a:avLst/>
          </a:prstGeom>
          <a:noFill/>
        </p:spPr>
        <p:txBody>
          <a:bodyPr wrap="square">
            <a:spAutoFit/>
          </a:bodyPr>
          <a:lstStyle/>
          <a:p>
            <a:pPr algn="l">
              <a:defRPr sz="2800" b="1">
                <a:solidFill>
                  <a:srgbClr val="003B64"/>
                </a:solidFill>
                <a:latin typeface="Calibri"/>
              </a:defRPr>
            </a:pPr>
            <a:r>
              <a:t>Key Takeaways for Your Curriculum</a:t>
            </a:r>
          </a:p>
        </p:txBody>
      </p:sp>
      <p:sp>
        <p:nvSpPr>
          <p:cNvPr id="6" name="Oval 5"/>
          <p:cNvSpPr/>
          <p:nvPr/>
        </p:nvSpPr>
        <p:spPr>
          <a:xfrm>
            <a:off x="457200" y="1737360"/>
            <a:ext cx="548640" cy="548640"/>
          </a:xfrm>
          <a:prstGeom prst="ellipse">
            <a:avLst/>
          </a:prstGeom>
          <a:solidFill>
            <a:srgbClr val="007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1</a:t>
            </a:r>
          </a:p>
        </p:txBody>
      </p:sp>
      <p:sp>
        <p:nvSpPr>
          <p:cNvPr id="7" name="TextBox 6"/>
          <p:cNvSpPr txBox="1"/>
          <p:nvPr/>
        </p:nvSpPr>
        <p:spPr>
          <a:xfrm>
            <a:off x="1188720" y="1645920"/>
            <a:ext cx="3200400" cy="731520"/>
          </a:xfrm>
          <a:prstGeom prst="rect">
            <a:avLst/>
          </a:prstGeom>
          <a:noFill/>
        </p:spPr>
        <p:txBody>
          <a:bodyPr wrap="square">
            <a:spAutoFit/>
          </a:bodyPr>
          <a:lstStyle/>
          <a:p>
            <a:pPr algn="l">
              <a:defRPr sz="1500" b="1">
                <a:solidFill>
                  <a:srgbClr val="0076CE"/>
                </a:solidFill>
                <a:latin typeface="Calibri"/>
              </a:defRPr>
            </a:pPr>
            <a:r>
              <a:t>Teach Zero Trust as the</a:t>
            </a:r>
            <a:br/>
            <a:r>
              <a:t>New Security Baseline</a:t>
            </a:r>
          </a:p>
        </p:txBody>
      </p:sp>
      <p:sp>
        <p:nvSpPr>
          <p:cNvPr id="8" name="TextBox 7"/>
          <p:cNvSpPr txBox="1"/>
          <p:nvPr/>
        </p:nvSpPr>
        <p:spPr>
          <a:xfrm>
            <a:off x="4572000" y="1691640"/>
            <a:ext cx="7132320" cy="731520"/>
          </a:xfrm>
          <a:prstGeom prst="rect">
            <a:avLst/>
          </a:prstGeom>
          <a:noFill/>
        </p:spPr>
        <p:txBody>
          <a:bodyPr wrap="square">
            <a:spAutoFit/>
          </a:bodyPr>
          <a:lstStyle/>
          <a:p>
            <a:pPr algn="l">
              <a:defRPr sz="1200" b="0">
                <a:solidFill>
                  <a:srgbClr val="444444"/>
                </a:solidFill>
                <a:latin typeface="Calibri"/>
              </a:defRPr>
            </a:pPr>
            <a:r>
              <a:t>Replace perimeter-based thinking in your courses. NIST 800-207 is the</a:t>
            </a:r>
            <a:br/>
            <a:r>
              <a:t>standard. Include identity-centric security, least privilege, assume breach.</a:t>
            </a:r>
          </a:p>
        </p:txBody>
      </p:sp>
      <p:sp>
        <p:nvSpPr>
          <p:cNvPr id="9" name="Oval 8"/>
          <p:cNvSpPr/>
          <p:nvPr/>
        </p:nvSpPr>
        <p:spPr>
          <a:xfrm>
            <a:off x="457200" y="2971800"/>
            <a:ext cx="548640" cy="548640"/>
          </a:xfrm>
          <a:prstGeom prst="ellipse">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2</a:t>
            </a:r>
          </a:p>
        </p:txBody>
      </p:sp>
      <p:sp>
        <p:nvSpPr>
          <p:cNvPr id="10" name="TextBox 9"/>
          <p:cNvSpPr txBox="1"/>
          <p:nvPr/>
        </p:nvSpPr>
        <p:spPr>
          <a:xfrm>
            <a:off x="1188720" y="2880360"/>
            <a:ext cx="3200400" cy="731520"/>
          </a:xfrm>
          <a:prstGeom prst="rect">
            <a:avLst/>
          </a:prstGeom>
          <a:noFill/>
        </p:spPr>
        <p:txBody>
          <a:bodyPr wrap="square">
            <a:spAutoFit/>
          </a:bodyPr>
          <a:lstStyle/>
          <a:p>
            <a:pPr algn="l">
              <a:defRPr sz="1500" b="1">
                <a:solidFill>
                  <a:srgbClr val="00B2A9"/>
                </a:solidFill>
                <a:latin typeface="Calibri"/>
              </a:defRPr>
            </a:pPr>
            <a:r>
              <a:t>Update Cryptography Courses</a:t>
            </a:r>
            <a:br/>
            <a:r>
              <a:t>for Post-Quantum Era</a:t>
            </a:r>
          </a:p>
        </p:txBody>
      </p:sp>
      <p:sp>
        <p:nvSpPr>
          <p:cNvPr id="11" name="TextBox 10"/>
          <p:cNvSpPr txBox="1"/>
          <p:nvPr/>
        </p:nvSpPr>
        <p:spPr>
          <a:xfrm>
            <a:off x="4572000" y="2926080"/>
            <a:ext cx="7132320" cy="731520"/>
          </a:xfrm>
          <a:prstGeom prst="rect">
            <a:avLst/>
          </a:prstGeom>
          <a:noFill/>
        </p:spPr>
        <p:txBody>
          <a:bodyPr wrap="square">
            <a:spAutoFit/>
          </a:bodyPr>
          <a:lstStyle/>
          <a:p>
            <a:pPr algn="l">
              <a:defRPr sz="1200" b="0">
                <a:solidFill>
                  <a:srgbClr val="444444"/>
                </a:solidFill>
                <a:latin typeface="Calibri"/>
              </a:defRPr>
            </a:pPr>
            <a:r>
              <a:t>NIST PQC standards (ML-KEM, ML-DSA) are finalized. Chrome already uses PQC.</a:t>
            </a:r>
            <a:br/>
            <a:r>
              <a:t>Students should understand lattice-based crypto and migration strategies.</a:t>
            </a:r>
          </a:p>
        </p:txBody>
      </p:sp>
      <p:sp>
        <p:nvSpPr>
          <p:cNvPr id="12" name="Oval 11"/>
          <p:cNvSpPr/>
          <p:nvPr/>
        </p:nvSpPr>
        <p:spPr>
          <a:xfrm>
            <a:off x="457200" y="4206240"/>
            <a:ext cx="548640" cy="548640"/>
          </a:xfrm>
          <a:prstGeom prst="ellipse">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3</a:t>
            </a:r>
          </a:p>
        </p:txBody>
      </p:sp>
      <p:sp>
        <p:nvSpPr>
          <p:cNvPr id="13" name="TextBox 12"/>
          <p:cNvSpPr txBox="1"/>
          <p:nvPr/>
        </p:nvSpPr>
        <p:spPr>
          <a:xfrm>
            <a:off x="1188720" y="4114800"/>
            <a:ext cx="3200400" cy="731520"/>
          </a:xfrm>
          <a:prstGeom prst="rect">
            <a:avLst/>
          </a:prstGeom>
          <a:noFill/>
        </p:spPr>
        <p:txBody>
          <a:bodyPr wrap="square">
            <a:spAutoFit/>
          </a:bodyPr>
          <a:lstStyle/>
          <a:p>
            <a:pPr algn="l">
              <a:defRPr sz="1500" b="1">
                <a:solidFill>
                  <a:srgbClr val="2E8B57"/>
                </a:solidFill>
                <a:latin typeface="Calibri"/>
              </a:defRPr>
            </a:pPr>
            <a:r>
              <a:t>Integrate Hands-On</a:t>
            </a:r>
            <a:br/>
            <a:r>
              <a:t>Security Labs</a:t>
            </a:r>
          </a:p>
        </p:txBody>
      </p:sp>
      <p:sp>
        <p:nvSpPr>
          <p:cNvPr id="14" name="TextBox 13"/>
          <p:cNvSpPr txBox="1"/>
          <p:nvPr/>
        </p:nvSpPr>
        <p:spPr>
          <a:xfrm>
            <a:off x="4572000" y="4160520"/>
            <a:ext cx="7132320" cy="731520"/>
          </a:xfrm>
          <a:prstGeom prst="rect">
            <a:avLst/>
          </a:prstGeom>
          <a:noFill/>
        </p:spPr>
        <p:txBody>
          <a:bodyPr wrap="square">
            <a:spAutoFit/>
          </a:bodyPr>
          <a:lstStyle/>
          <a:p>
            <a:pPr algn="l">
              <a:defRPr sz="1200" b="0">
                <a:solidFill>
                  <a:srgbClr val="444444"/>
                </a:solidFill>
                <a:latin typeface="Calibri"/>
              </a:defRPr>
            </a:pPr>
            <a:r>
              <a:t>Use open-source tools: Keycloak, OPA, Wazuh, Cilium. Students learn best</a:t>
            </a:r>
            <a:br/>
            <a:r>
              <a:t>by building. Docker makes it easy to create isolated lab environments.</a:t>
            </a:r>
          </a:p>
        </p:txBody>
      </p:sp>
      <p:sp>
        <p:nvSpPr>
          <p:cNvPr id="15" name="Oval 14"/>
          <p:cNvSpPr/>
          <p:nvPr/>
        </p:nvSpPr>
        <p:spPr>
          <a:xfrm>
            <a:off x="457200" y="5440680"/>
            <a:ext cx="548640" cy="548640"/>
          </a:xfrm>
          <a:prstGeom prst="ellipse">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4</a:t>
            </a:r>
          </a:p>
        </p:txBody>
      </p:sp>
      <p:sp>
        <p:nvSpPr>
          <p:cNvPr id="16" name="TextBox 15"/>
          <p:cNvSpPr txBox="1"/>
          <p:nvPr/>
        </p:nvSpPr>
        <p:spPr>
          <a:xfrm>
            <a:off x="1188720" y="5349240"/>
            <a:ext cx="3200400" cy="731520"/>
          </a:xfrm>
          <a:prstGeom prst="rect">
            <a:avLst/>
          </a:prstGeom>
          <a:noFill/>
        </p:spPr>
        <p:txBody>
          <a:bodyPr wrap="square">
            <a:spAutoFit/>
          </a:bodyPr>
          <a:lstStyle/>
          <a:p>
            <a:pPr algn="l">
              <a:defRPr sz="1500" b="1">
                <a:solidFill>
                  <a:srgbClr val="003B64"/>
                </a:solidFill>
                <a:latin typeface="Calibri"/>
              </a:defRPr>
            </a:pPr>
            <a:r>
              <a:t>Bridge Theory and</a:t>
            </a:r>
            <a:br/>
            <a:r>
              <a:t>Industry Practice</a:t>
            </a:r>
          </a:p>
        </p:txBody>
      </p:sp>
      <p:sp>
        <p:nvSpPr>
          <p:cNvPr id="17" name="TextBox 16"/>
          <p:cNvSpPr txBox="1"/>
          <p:nvPr/>
        </p:nvSpPr>
        <p:spPr>
          <a:xfrm>
            <a:off x="4572000" y="5394960"/>
            <a:ext cx="7132320" cy="731520"/>
          </a:xfrm>
          <a:prstGeom prst="rect">
            <a:avLst/>
          </a:prstGeom>
          <a:noFill/>
        </p:spPr>
        <p:txBody>
          <a:bodyPr wrap="square">
            <a:spAutoFit/>
          </a:bodyPr>
          <a:lstStyle/>
          <a:p>
            <a:pPr algn="l">
              <a:defRPr sz="1200" b="0">
                <a:solidFill>
                  <a:srgbClr val="444444"/>
                </a:solidFill>
                <a:latin typeface="Calibri"/>
              </a:defRPr>
            </a:pPr>
            <a:r>
              <a:t>Use MITRE ATT&amp;CK in courses. Include red/blue team exercises.</a:t>
            </a:r>
            <a:br/>
            <a:r>
              <a:t>Teach industry tools and frameworks. Connect to career paths.</a:t>
            </a:r>
          </a:p>
        </p:txBody>
      </p:sp>
      <p:sp>
        <p:nvSpPr>
          <p:cNvPr id="18" name="Rounded Rectangle 17"/>
          <p:cNvSpPr/>
          <p:nvPr/>
        </p:nvSpPr>
        <p:spPr>
          <a:xfrm>
            <a:off x="457200" y="5760720"/>
            <a:ext cx="10972800" cy="640080"/>
          </a:xfrm>
          <a:prstGeom prst="roundRect">
            <a:avLst/>
          </a:prstGeom>
          <a:solidFill>
            <a:srgbClr val="E0F0FF"/>
          </a:solidFill>
          <a:ln w="19050">
            <a:solidFill>
              <a:srgbClr val="0076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06440"/>
            <a:ext cx="10424160" cy="548640"/>
          </a:xfrm>
          <a:prstGeom prst="rect">
            <a:avLst/>
          </a:prstGeom>
          <a:noFill/>
        </p:spPr>
        <p:txBody>
          <a:bodyPr wrap="square">
            <a:spAutoFit/>
          </a:bodyPr>
          <a:lstStyle/>
          <a:p>
            <a:pPr algn="l">
              <a:defRPr sz="1100" b="0">
                <a:solidFill>
                  <a:srgbClr val="444444"/>
                </a:solidFill>
                <a:latin typeface="Calibri"/>
              </a:defRPr>
            </a:pPr>
            <a:r>
              <a:t>Essential Resources: NIST SP 800-207 (ZTA) | NIST FIPS 203/204/205 (PQC) | MITRE ATT&amp;CK (attack framework) | CISA Zero Trust Maturity Model | OWASP Top 10 (2025) | CIS Controls v8.1</a:t>
            </a:r>
          </a:p>
        </p:txBody>
      </p:sp>
      <p:sp>
        <p:nvSpPr>
          <p:cNvPr id="20" name="Rectangle 19"/>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22" name="TextBox 21"/>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54864"/>
          </a:xfrm>
          <a:prstGeom prst="rect">
            <a:avLst/>
          </a:prstGeom>
          <a:solidFill>
            <a:srgbClr val="00B2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91440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5" name="TextBox 4"/>
          <p:cNvSpPr txBox="1"/>
          <p:nvPr/>
        </p:nvSpPr>
        <p:spPr>
          <a:xfrm>
            <a:off x="914400" y="2011680"/>
            <a:ext cx="10058400" cy="548640"/>
          </a:xfrm>
          <a:prstGeom prst="rect">
            <a:avLst/>
          </a:prstGeom>
          <a:noFill/>
        </p:spPr>
        <p:txBody>
          <a:bodyPr wrap="square">
            <a:spAutoFit/>
          </a:bodyPr>
          <a:lstStyle/>
          <a:p>
            <a:pPr algn="ctr">
              <a:defRPr sz="2000" b="0">
                <a:solidFill>
                  <a:srgbClr val="B0D0F0"/>
                </a:solidFill>
                <a:latin typeface="Calibri"/>
              </a:defRPr>
            </a:pPr>
            <a:r>
              <a:t>"Security is not a product, but a process." - Bruce Schneier</a:t>
            </a:r>
          </a:p>
        </p:txBody>
      </p:sp>
      <p:sp>
        <p:nvSpPr>
          <p:cNvPr id="6" name="TextBox 5"/>
          <p:cNvSpPr txBox="1"/>
          <p:nvPr/>
        </p:nvSpPr>
        <p:spPr>
          <a:xfrm>
            <a:off x="914400" y="2926080"/>
            <a:ext cx="10058400" cy="548640"/>
          </a:xfrm>
          <a:prstGeom prst="rect">
            <a:avLst/>
          </a:prstGeom>
          <a:noFill/>
        </p:spPr>
        <p:txBody>
          <a:bodyPr wrap="square">
            <a:spAutoFit/>
          </a:bodyPr>
          <a:lstStyle/>
          <a:p>
            <a:pPr algn="ctr">
              <a:defRPr sz="1800" b="0">
                <a:solidFill>
                  <a:srgbClr val="90B8E0"/>
                </a:solidFill>
                <a:latin typeface="Calibri"/>
              </a:defRPr>
            </a:pPr>
            <a:r>
              <a:t>Let's build a Zero Trust environment together!</a:t>
            </a:r>
          </a:p>
        </p:txBody>
      </p:sp>
      <p:sp>
        <p:nvSpPr>
          <p:cNvPr id="7" name="TextBox 6"/>
          <p:cNvSpPr txBox="1"/>
          <p:nvPr/>
        </p:nvSpPr>
        <p:spPr>
          <a:xfrm>
            <a:off x="914400" y="4572000"/>
            <a:ext cx="10058400" cy="548640"/>
          </a:xfrm>
          <a:prstGeom prst="rect">
            <a:avLst/>
          </a:prstGeom>
          <a:noFill/>
        </p:spPr>
        <p:txBody>
          <a:bodyPr wrap="square">
            <a:spAutoFit/>
          </a:bodyPr>
          <a:lstStyle/>
          <a:p>
            <a:pPr algn="ctr">
              <a:defRPr sz="2800" b="1">
                <a:solidFill>
                  <a:srgbClr val="003B64"/>
                </a:solidFill>
                <a:latin typeface="Calibri"/>
              </a:defRPr>
            </a:pPr>
            <a:r>
              <a:t>Questions &amp; Discussion</a:t>
            </a:r>
          </a:p>
        </p:txBody>
      </p:sp>
      <p:sp>
        <p:nvSpPr>
          <p:cNvPr id="8" name="TextBox 7"/>
          <p:cNvSpPr txBox="1"/>
          <p:nvPr/>
        </p:nvSpPr>
        <p:spPr>
          <a:xfrm>
            <a:off x="914400" y="5303520"/>
            <a:ext cx="10058400" cy="914400"/>
          </a:xfrm>
          <a:prstGeom prst="rect">
            <a:avLst/>
          </a:prstGeom>
          <a:noFill/>
        </p:spPr>
        <p:txBody>
          <a:bodyPr wrap="square">
            <a:spAutoFit/>
          </a:bodyPr>
          <a:lstStyle/>
          <a:p>
            <a:pPr algn="ctr">
              <a:defRPr sz="1400" b="0">
                <a:solidFill>
                  <a:srgbClr val="6C6C6C"/>
                </a:solidFill>
                <a:latin typeface="Calibri"/>
              </a:defRPr>
            </a:pPr>
            <a:r>
              <a:t>Resources provided: Lab instructions, Docker configurations, attack/defense scripts</a:t>
            </a:r>
            <a:br/>
            <a:r>
              <a:t>All materials are open-source and can be used in your courses</a:t>
            </a:r>
          </a:p>
        </p:txBody>
      </p:sp>
      <p:sp>
        <p:nvSpPr>
          <p:cNvPr id="9" name="Rectangle 8"/>
          <p:cNvSpPr/>
          <p:nvPr/>
        </p:nvSpPr>
        <p:spPr>
          <a:xfrm>
            <a:off x="0" y="6537960"/>
            <a:ext cx="12191695" cy="320040"/>
          </a:xfrm>
          <a:prstGeom prst="rect">
            <a:avLst/>
          </a:prstGeom>
          <a:solidFill>
            <a:srgbClr val="003B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56248"/>
            <a:ext cx="5486400" cy="274320"/>
          </a:xfrm>
          <a:prstGeom prst="rect">
            <a:avLst/>
          </a:prstGeom>
          <a:noFill/>
        </p:spPr>
        <p:txBody>
          <a:bodyPr wrap="square">
            <a:spAutoFit/>
          </a:bodyPr>
          <a:lstStyle/>
          <a:p>
            <a:pPr algn="l">
              <a:defRPr sz="900" b="0">
                <a:solidFill>
                  <a:srgbClr val="FFFFFF"/>
                </a:solidFill>
                <a:latin typeface="Calibri"/>
              </a:defRPr>
            </a:pPr>
            <a:r>
              <a:t>Cybersecurity &amp; Zero Trust Architecture | Industry Connect Program</a:t>
            </a:r>
          </a:p>
        </p:txBody>
      </p:sp>
      <p:sp>
        <p:nvSpPr>
          <p:cNvPr id="11" name="TextBox 10"/>
          <p:cNvSpPr txBox="1"/>
          <p:nvPr/>
        </p:nvSpPr>
        <p:spPr>
          <a:xfrm>
            <a:off x="10515600" y="6556248"/>
            <a:ext cx="1371600" cy="274320"/>
          </a:xfrm>
          <a:prstGeom prst="rect">
            <a:avLst/>
          </a:prstGeom>
          <a:noFill/>
        </p:spPr>
        <p:txBody>
          <a:bodyPr wrap="square">
            <a:spAutoFit/>
          </a:bodyPr>
          <a:lstStyle/>
          <a:p>
            <a:pPr algn="r">
              <a:defRPr sz="900" b="0">
                <a:solidFill>
                  <a:srgbClr val="FFFFFF"/>
                </a:solidFill>
                <a:latin typeface="Calibri"/>
              </a:defRPr>
            </a:pPr>
            <a:r>
              <a:t>19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